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Sifonn" charset="1" panose="000000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  <p:embeddedFont>
      <p:font typeface="Calibri (MS) Bold" charset="1" panose="020F0702030404030204"/>
      <p:regular r:id="rId28"/>
    </p:embeddedFont>
    <p:embeddedFont>
      <p:font typeface="Calibri (MS)" charset="1" panose="020F0502020204030204"/>
      <p:regular r:id="rId29"/>
    </p:embeddedFont>
    <p:embeddedFont>
      <p:font typeface="Calibri (MS) Italics" charset="1" panose="020F05020202040A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T9cD6dDw.mp4" Type="http://schemas.microsoft.com/office/2007/relationships/media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jpeg" Type="http://schemas.openxmlformats.org/officeDocument/2006/relationships/image"/><Relationship Id="rId9" Target="../media/VAHT9cD6dDw.mp4" Type="http://schemas.openxmlformats.org/officeDocument/2006/relationships/video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jpeg" Type="http://schemas.openxmlformats.org/officeDocument/2006/relationships/image"/><Relationship Id="rId6" Target="../media/VAHT9Nayui8.mp4" Type="http://schemas.openxmlformats.org/officeDocument/2006/relationships/video"/><Relationship Id="rId7" Target="../media/VAHT9Nayui8.mp4" Type="http://schemas.microsoft.com/office/2007/relationships/media"/><Relationship Id="rId8" Target="https://github.com/sararalopes/quantitativo-velocidade-media-cttu.git" TargetMode="External" Type="http://schemas.openxmlformats.org/officeDocument/2006/relationships/hyperlink"/><Relationship Id="rId9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0781" y="2869018"/>
            <a:ext cx="13377419" cy="33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3"/>
              </a:lnSpc>
            </a:pPr>
            <a:r>
              <a:rPr lang="en-US" sz="9151" spc="-27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ANÁLISE DE VELOCIDADE DAS </a:t>
            </a:r>
          </a:p>
          <a:p>
            <a:pPr algn="l">
              <a:lnSpc>
                <a:spcPts val="8693"/>
              </a:lnSpc>
            </a:pPr>
            <a:r>
              <a:rPr lang="en-US" sz="9151" spc="-27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VIAS DO RECIFE</a:t>
            </a:r>
          </a:p>
        </p:txBody>
      </p:sp>
      <p:sp>
        <p:nvSpPr>
          <p:cNvPr name="AutoShape 4" id="4"/>
          <p:cNvSpPr/>
          <p:nvPr/>
        </p:nvSpPr>
        <p:spPr>
          <a:xfrm>
            <a:off x="2534841" y="2989655"/>
            <a:ext cx="0" cy="2916314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835540" y="6922664"/>
            <a:ext cx="3944790" cy="669015"/>
            <a:chOff x="0" y="0"/>
            <a:chExt cx="1038957" cy="176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57" cy="176201"/>
            </a:xfrm>
            <a:custGeom>
              <a:avLst/>
              <a:gdLst/>
              <a:ahLst/>
              <a:cxnLst/>
              <a:rect r="r" b="b" t="t" l="l"/>
              <a:pathLst>
                <a:path h="176201" w="1038957">
                  <a:moveTo>
                    <a:pt x="0" y="0"/>
                  </a:moveTo>
                  <a:lnTo>
                    <a:pt x="1038957" y="0"/>
                  </a:lnTo>
                  <a:lnTo>
                    <a:pt x="1038957" y="176201"/>
                  </a:lnTo>
                  <a:lnTo>
                    <a:pt x="0" y="176201"/>
                  </a:lnTo>
                  <a:close/>
                </a:path>
              </a:pathLst>
            </a:custGeom>
            <a:solidFill>
              <a:srgbClr val="884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57" cy="21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93924" y="7629778"/>
            <a:ext cx="4998274" cy="49982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44514" y="-1844291"/>
            <a:ext cx="4019574" cy="401957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82534" y="1447423"/>
            <a:ext cx="1866704" cy="186670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19740" y="-3749735"/>
            <a:ext cx="8832912" cy="9071027"/>
          </a:xfrm>
          <a:custGeom>
            <a:avLst/>
            <a:gdLst/>
            <a:ahLst/>
            <a:cxnLst/>
            <a:rect r="r" b="b" t="t" l="l"/>
            <a:pathLst>
              <a:path h="9071027" w="8832912">
                <a:moveTo>
                  <a:pt x="0" y="0"/>
                </a:moveTo>
                <a:lnTo>
                  <a:pt x="8832913" y="0"/>
                </a:lnTo>
                <a:lnTo>
                  <a:pt x="8832913" y="9071027"/>
                </a:lnTo>
                <a:lnTo>
                  <a:pt x="0" y="9071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60738" y="3692818"/>
            <a:ext cx="5652892" cy="5888430"/>
          </a:xfrm>
          <a:custGeom>
            <a:avLst/>
            <a:gdLst/>
            <a:ahLst/>
            <a:cxnLst/>
            <a:rect r="r" b="b" t="t" l="l"/>
            <a:pathLst>
              <a:path h="5888430" w="5652892">
                <a:moveTo>
                  <a:pt x="0" y="0"/>
                </a:moveTo>
                <a:lnTo>
                  <a:pt x="5652893" y="0"/>
                </a:lnTo>
                <a:lnTo>
                  <a:pt x="5652893" y="5888430"/>
                </a:lnTo>
                <a:lnTo>
                  <a:pt x="0" y="5888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723952">
            <a:off x="13774055" y="8499132"/>
            <a:ext cx="312300" cy="316386"/>
          </a:xfrm>
          <a:custGeom>
            <a:avLst/>
            <a:gdLst/>
            <a:ahLst/>
            <a:cxnLst/>
            <a:rect r="r" b="b" t="t" l="l"/>
            <a:pathLst>
              <a:path h="316386" w="312300">
                <a:moveTo>
                  <a:pt x="0" y="0"/>
                </a:moveTo>
                <a:lnTo>
                  <a:pt x="312300" y="0"/>
                </a:lnTo>
                <a:lnTo>
                  <a:pt x="312300" y="316386"/>
                </a:lnTo>
                <a:lnTo>
                  <a:pt x="0" y="316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292" t="-3091" r="-15079" b="-3151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35540" y="5990411"/>
            <a:ext cx="110946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Uma aplicação</a:t>
            </a: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 dados com Python, Elasticsearch, Kibana, Docker e Flask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23296" y="7072167"/>
            <a:ext cx="1737025" cy="30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Apresentando: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40131" y="7030426"/>
            <a:ext cx="2436914" cy="37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224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 Lopes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35540" y="6364498"/>
            <a:ext cx="64369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 análise de dados à modelagem preditiva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03" y="1842135"/>
            <a:ext cx="8042910" cy="6671310"/>
            <a:chOff x="0" y="0"/>
            <a:chExt cx="10723880" cy="889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38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72388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10467086" y="0"/>
                  </a:lnTo>
                  <a:cubicBezTo>
                    <a:pt x="10608945" y="0"/>
                    <a:pt x="10723880" y="114935"/>
                    <a:pt x="10723880" y="256794"/>
                  </a:cubicBezTo>
                  <a:lnTo>
                    <a:pt x="10723880" y="8638286"/>
                  </a:lnTo>
                  <a:cubicBezTo>
                    <a:pt x="10723880" y="8780145"/>
                    <a:pt x="10608945" y="8895080"/>
                    <a:pt x="10467086" y="8895080"/>
                  </a:cubicBezTo>
                  <a:lnTo>
                    <a:pt x="256794" y="8895080"/>
                  </a:lnTo>
                  <a:cubicBezTo>
                    <a:pt x="114935" y="8895080"/>
                    <a:pt x="0" y="8780145"/>
                    <a:pt x="0" y="86382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2235708"/>
            <a:ext cx="3291840" cy="411480"/>
            <a:chOff x="0" y="0"/>
            <a:chExt cx="438912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3891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PONTO DE PARTIDA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2784348"/>
            <a:ext cx="6309360" cy="1217833"/>
            <a:chOff x="0" y="0"/>
            <a:chExt cx="8412480" cy="16237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12480" cy="1623777"/>
            </a:xfrm>
            <a:custGeom>
              <a:avLst/>
              <a:gdLst/>
              <a:ahLst/>
              <a:cxnLst/>
              <a:rect r="r" b="b" t="t" l="l"/>
              <a:pathLst>
                <a:path h="1623777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623777"/>
                  </a:lnTo>
                  <a:lnTo>
                    <a:pt x="0" y="1623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76" r="0" b="-3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412480" cy="169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Dados de velocidade das vias de Recife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3730752"/>
            <a:ext cx="6377940" cy="1371600"/>
            <a:chOff x="0" y="0"/>
            <a:chExt cx="850392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0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503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primeira etapa estruturou o projeto como uma aplicação de dados: tratamento dos CSVs, armazenamento, consultas, dashboards e API.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6335" y="5545455"/>
            <a:ext cx="2007870" cy="471678"/>
            <a:chOff x="0" y="0"/>
            <a:chExt cx="2677160" cy="6289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77160" cy="628904"/>
            </a:xfrm>
            <a:custGeom>
              <a:avLst/>
              <a:gdLst/>
              <a:ahLst/>
              <a:cxnLst/>
              <a:rect r="r" b="b" t="t" l="l"/>
              <a:pathLst>
                <a:path h="628904" w="267716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2372233" y="0"/>
                  </a:lnTo>
                  <a:cubicBezTo>
                    <a:pt x="2540635" y="0"/>
                    <a:pt x="2677160" y="136525"/>
                    <a:pt x="2677160" y="304927"/>
                  </a:cubicBezTo>
                  <a:lnTo>
                    <a:pt x="2677160" y="323977"/>
                  </a:lnTo>
                  <a:cubicBezTo>
                    <a:pt x="2677160" y="492379"/>
                    <a:pt x="2540635" y="628904"/>
                    <a:pt x="237223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93495" y="5596128"/>
            <a:ext cx="1714500" cy="370332"/>
            <a:chOff x="0" y="0"/>
            <a:chExt cx="2286000" cy="4937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0" cy="493776"/>
            </a:xfrm>
            <a:custGeom>
              <a:avLst/>
              <a:gdLst/>
              <a:ahLst/>
              <a:cxnLst/>
              <a:rect r="r" b="b" t="t" l="l"/>
              <a:pathLst>
                <a:path h="493776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8600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+ Pandas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82315" y="5545455"/>
            <a:ext cx="1870710" cy="471678"/>
            <a:chOff x="0" y="0"/>
            <a:chExt cx="2494280" cy="6289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4280" cy="628904"/>
            </a:xfrm>
            <a:custGeom>
              <a:avLst/>
              <a:gdLst/>
              <a:ahLst/>
              <a:cxnLst/>
              <a:rect r="r" b="b" t="t" l="l"/>
              <a:pathLst>
                <a:path h="628904" w="249428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2189353" y="0"/>
                  </a:lnTo>
                  <a:cubicBezTo>
                    <a:pt x="2357755" y="0"/>
                    <a:pt x="2494280" y="136525"/>
                    <a:pt x="2494280" y="304927"/>
                  </a:cubicBezTo>
                  <a:lnTo>
                    <a:pt x="2494280" y="323977"/>
                  </a:lnTo>
                  <a:cubicBezTo>
                    <a:pt x="2494280" y="492379"/>
                    <a:pt x="2357755" y="628904"/>
                    <a:pt x="218935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429000" y="5596128"/>
            <a:ext cx="1577340" cy="370332"/>
            <a:chOff x="0" y="0"/>
            <a:chExt cx="2103120" cy="4937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" cy="493776"/>
            </a:xfrm>
            <a:custGeom>
              <a:avLst/>
              <a:gdLst/>
              <a:ahLst/>
              <a:cxnLst/>
              <a:rect r="r" b="b" t="t" l="l"/>
              <a:pathLst>
                <a:path h="49377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1" r="0" b="-329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10312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Elasticsearch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43703" y="5545455"/>
            <a:ext cx="1322070" cy="471678"/>
            <a:chOff x="0" y="0"/>
            <a:chExt cx="1762760" cy="6289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62760" cy="628904"/>
            </a:xfrm>
            <a:custGeom>
              <a:avLst/>
              <a:gdLst/>
              <a:ahLst/>
              <a:cxnLst/>
              <a:rect r="r" b="b" t="t" l="l"/>
              <a:pathLst>
                <a:path h="628904" w="176276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457833" y="0"/>
                  </a:lnTo>
                  <a:cubicBezTo>
                    <a:pt x="1626235" y="0"/>
                    <a:pt x="1762760" y="136525"/>
                    <a:pt x="1762760" y="304927"/>
                  </a:cubicBezTo>
                  <a:lnTo>
                    <a:pt x="1762760" y="323977"/>
                  </a:lnTo>
                  <a:cubicBezTo>
                    <a:pt x="1762760" y="492379"/>
                    <a:pt x="1626235" y="628904"/>
                    <a:pt x="145783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90388" y="5596128"/>
            <a:ext cx="1028700" cy="370332"/>
            <a:chOff x="0" y="0"/>
            <a:chExt cx="1371600" cy="4937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" cy="493776"/>
            </a:xfrm>
            <a:custGeom>
              <a:avLst/>
              <a:gdLst/>
              <a:ahLst/>
              <a:cxnLst/>
              <a:rect r="r" b="b" t="t" l="l"/>
              <a:pathLst>
                <a:path h="49377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7160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Kibana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56451" y="5545455"/>
            <a:ext cx="1157478" cy="471678"/>
            <a:chOff x="0" y="0"/>
            <a:chExt cx="1543304" cy="6289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3304" cy="628904"/>
            </a:xfrm>
            <a:custGeom>
              <a:avLst/>
              <a:gdLst/>
              <a:ahLst/>
              <a:cxnLst/>
              <a:rect r="r" b="b" t="t" l="l"/>
              <a:pathLst>
                <a:path h="628904" w="1543304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238377" y="0"/>
                  </a:lnTo>
                  <a:cubicBezTo>
                    <a:pt x="1406779" y="0"/>
                    <a:pt x="1543304" y="136525"/>
                    <a:pt x="1543304" y="304927"/>
                  </a:cubicBezTo>
                  <a:lnTo>
                    <a:pt x="1543304" y="323977"/>
                  </a:lnTo>
                  <a:cubicBezTo>
                    <a:pt x="1543304" y="492379"/>
                    <a:pt x="1406779" y="628904"/>
                    <a:pt x="1238377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03136" y="5596128"/>
            <a:ext cx="864108" cy="370332"/>
            <a:chOff x="0" y="0"/>
            <a:chExt cx="1152144" cy="4937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2144" cy="493776"/>
            </a:xfrm>
            <a:custGeom>
              <a:avLst/>
              <a:gdLst/>
              <a:ahLst/>
              <a:cxnLst/>
              <a:rect r="r" b="b" t="t" l="l"/>
              <a:pathLst>
                <a:path h="493776" w="1152144">
                  <a:moveTo>
                    <a:pt x="0" y="0"/>
                  </a:moveTo>
                  <a:lnTo>
                    <a:pt x="1152144" y="0"/>
                  </a:lnTo>
                  <a:lnTo>
                    <a:pt x="11521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15214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5860" y="6473952"/>
            <a:ext cx="1508760" cy="342900"/>
            <a:chOff x="0" y="0"/>
            <a:chExt cx="201168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1680" cy="457200"/>
            </a:xfrm>
            <a:custGeom>
              <a:avLst/>
              <a:gdLst/>
              <a:ahLst/>
              <a:cxnLst/>
              <a:rect r="r" b="b" t="t" l="l"/>
              <a:pathLst>
                <a:path h="45720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01168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65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NOVA ETAPA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5860" y="6885432"/>
            <a:ext cx="6652260" cy="918972"/>
            <a:chOff x="0" y="0"/>
            <a:chExt cx="8869680" cy="1225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69680" cy="1225296"/>
            </a:xfrm>
            <a:custGeom>
              <a:avLst/>
              <a:gdLst/>
              <a:ahLst/>
              <a:cxnLst/>
              <a:rect r="r" b="b" t="t" l="l"/>
              <a:pathLst>
                <a:path h="12252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225296"/>
                  </a:lnTo>
                  <a:lnTo>
                    <a:pt x="0" y="1225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48" r="0" b="-910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8869680" cy="1282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 os dados históricos para descobrir padrões, prever volume e classificar o fluxo.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68028" y="2235708"/>
            <a:ext cx="4114800" cy="411480"/>
            <a:chOff x="0" y="0"/>
            <a:chExt cx="5486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EVOLUÇÃO DO PROJETO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9358503" y="2774823"/>
            <a:ext cx="7631430" cy="814578"/>
            <a:chOff x="0" y="0"/>
            <a:chExt cx="10175240" cy="10861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6F3FB"/>
            </a:solidFill>
            <a:ln w="19050" cap="sq">
              <a:solidFill>
                <a:srgbClr val="E4DDF1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697212" y="3031236"/>
            <a:ext cx="2811780" cy="355439"/>
            <a:chOff x="0" y="0"/>
            <a:chExt cx="3749040" cy="4739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49040" cy="473918"/>
            </a:xfrm>
            <a:custGeom>
              <a:avLst/>
              <a:gdLst/>
              <a:ahLst/>
              <a:cxnLst/>
              <a:rect r="r" b="b" t="t" l="l"/>
              <a:pathLst>
                <a:path h="47391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0" b="-9272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74904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873802" y="3031236"/>
            <a:ext cx="760913" cy="355439"/>
            <a:chOff x="0" y="0"/>
            <a:chExt cx="1014551" cy="47391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4551" cy="473918"/>
            </a:xfrm>
            <a:custGeom>
              <a:avLst/>
              <a:gdLst/>
              <a:ahLst/>
              <a:cxnLst/>
              <a:rect r="r" b="b" t="t" l="l"/>
              <a:pathLst>
                <a:path h="473918" w="1014551">
                  <a:moveTo>
                    <a:pt x="0" y="0"/>
                  </a:moveTo>
                  <a:lnTo>
                    <a:pt x="1014551" y="0"/>
                  </a:lnTo>
                  <a:lnTo>
                    <a:pt x="1014551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404719" b="-1491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4551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CTTU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H="true">
            <a:off x="13174218" y="3565589"/>
            <a:ext cx="7424" cy="265366"/>
          </a:xfrm>
          <a:prstGeom prst="line">
            <a:avLst/>
          </a:prstGeom>
          <a:ln cap="rnd" w="19050">
            <a:solidFill>
              <a:srgbClr val="6D2CF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9358503" y="3830955"/>
            <a:ext cx="7631430" cy="814578"/>
            <a:chOff x="0" y="0"/>
            <a:chExt cx="10175240" cy="10861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6F3FB"/>
            </a:solidFill>
            <a:ln w="19050" cap="sq">
              <a:solidFill>
                <a:srgbClr val="E4DDF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97212" y="4060525"/>
            <a:ext cx="701949" cy="355439"/>
            <a:chOff x="0" y="0"/>
            <a:chExt cx="935932" cy="47391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5932" cy="473918"/>
            </a:xfrm>
            <a:custGeom>
              <a:avLst/>
              <a:gdLst/>
              <a:ahLst/>
              <a:cxnLst/>
              <a:rect r="r" b="b" t="t" l="l"/>
              <a:pathLst>
                <a:path h="473918" w="935932">
                  <a:moveTo>
                    <a:pt x="0" y="0"/>
                  </a:moveTo>
                  <a:lnTo>
                    <a:pt x="935932" y="0"/>
                  </a:lnTo>
                  <a:lnTo>
                    <a:pt x="935932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-300567" b="-927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35932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873802" y="4061113"/>
            <a:ext cx="760913" cy="355439"/>
            <a:chOff x="0" y="0"/>
            <a:chExt cx="1014551" cy="4739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4551" cy="473918"/>
            </a:xfrm>
            <a:custGeom>
              <a:avLst/>
              <a:gdLst/>
              <a:ahLst/>
              <a:cxnLst/>
              <a:rect r="r" b="b" t="t" l="l"/>
              <a:pathLst>
                <a:path h="473918" w="1014551">
                  <a:moveTo>
                    <a:pt x="0" y="0"/>
                  </a:moveTo>
                  <a:lnTo>
                    <a:pt x="1014551" y="0"/>
                  </a:lnTo>
                  <a:lnTo>
                    <a:pt x="1014551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404719" b="-14912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14551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>
            <a:off x="13174218" y="4645533"/>
            <a:ext cx="0" cy="218869"/>
          </a:xfrm>
          <a:prstGeom prst="line">
            <a:avLst/>
          </a:prstGeom>
          <a:ln cap="rnd" w="19050">
            <a:solidFill>
              <a:srgbClr val="6D2CF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9358503" y="4887087"/>
            <a:ext cx="7631430" cy="814578"/>
            <a:chOff x="0" y="0"/>
            <a:chExt cx="10175240" cy="10861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6F3FB"/>
            </a:solidFill>
            <a:ln w="19050" cap="sq">
              <a:solidFill>
                <a:srgbClr val="E4DDF1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697212" y="5143500"/>
            <a:ext cx="2811780" cy="355439"/>
            <a:chOff x="0" y="0"/>
            <a:chExt cx="3749040" cy="47391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49040" cy="473918"/>
            </a:xfrm>
            <a:custGeom>
              <a:avLst/>
              <a:gdLst/>
              <a:ahLst/>
              <a:cxnLst/>
              <a:rect r="r" b="b" t="t" l="l"/>
              <a:pathLst>
                <a:path h="47391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0" b="-927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74904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ARMAZENAMENTO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166156" y="5143500"/>
            <a:ext cx="1468558" cy="355439"/>
            <a:chOff x="0" y="0"/>
            <a:chExt cx="1958078" cy="47391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58078" cy="473918"/>
            </a:xfrm>
            <a:custGeom>
              <a:avLst/>
              <a:gdLst/>
              <a:ahLst/>
              <a:cxnLst/>
              <a:rect r="r" b="b" t="t" l="l"/>
              <a:pathLst>
                <a:path h="473918" w="1958078">
                  <a:moveTo>
                    <a:pt x="0" y="0"/>
                  </a:moveTo>
                  <a:lnTo>
                    <a:pt x="1958078" y="0"/>
                  </a:lnTo>
                  <a:lnTo>
                    <a:pt x="1958078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161513" b="-14912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958078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Elasticsearch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>
            <a:off x="13174218" y="5701665"/>
            <a:ext cx="0" cy="237363"/>
          </a:xfrm>
          <a:prstGeom prst="line">
            <a:avLst/>
          </a:prstGeom>
          <a:ln cap="rnd" w="19050">
            <a:solidFill>
              <a:srgbClr val="6D2CF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0" id="70"/>
          <p:cNvGrpSpPr/>
          <p:nvPr/>
        </p:nvGrpSpPr>
        <p:grpSpPr>
          <a:xfrm rot="0">
            <a:off x="9358503" y="5943219"/>
            <a:ext cx="7631430" cy="814578"/>
            <a:chOff x="0" y="0"/>
            <a:chExt cx="10175240" cy="10861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6F3FB"/>
            </a:solidFill>
            <a:ln w="19050" cap="sq">
              <a:solidFill>
                <a:srgbClr val="E4DDF1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697212" y="6168390"/>
            <a:ext cx="2811780" cy="355439"/>
            <a:chOff x="0" y="0"/>
            <a:chExt cx="3749040" cy="47391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49040" cy="473918"/>
            </a:xfrm>
            <a:custGeom>
              <a:avLst/>
              <a:gdLst/>
              <a:ahLst/>
              <a:cxnLst/>
              <a:rect r="r" b="b" t="t" l="l"/>
              <a:pathLst>
                <a:path h="47391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0" b="-9272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74904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451399" y="6168390"/>
            <a:ext cx="1183316" cy="355439"/>
            <a:chOff x="0" y="0"/>
            <a:chExt cx="1577754" cy="47391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77754" cy="473918"/>
            </a:xfrm>
            <a:custGeom>
              <a:avLst/>
              <a:gdLst/>
              <a:ahLst/>
              <a:cxnLst/>
              <a:rect r="r" b="b" t="t" l="l"/>
              <a:pathLst>
                <a:path h="473918" w="1577754">
                  <a:moveTo>
                    <a:pt x="0" y="0"/>
                  </a:moveTo>
                  <a:lnTo>
                    <a:pt x="1577754" y="0"/>
                  </a:lnTo>
                  <a:lnTo>
                    <a:pt x="1577754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224552" b="-14912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577754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Kibana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>
            <a:off x="13174218" y="6757797"/>
            <a:ext cx="7424" cy="241554"/>
          </a:xfrm>
          <a:prstGeom prst="line">
            <a:avLst/>
          </a:prstGeom>
          <a:ln cap="rnd" w="19050">
            <a:solidFill>
              <a:srgbClr val="6D2CF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9358503" y="6999351"/>
            <a:ext cx="7631430" cy="814578"/>
            <a:chOff x="0" y="0"/>
            <a:chExt cx="10175240" cy="108610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6F3FB"/>
            </a:solidFill>
            <a:ln w="19050" cap="sq">
              <a:solidFill>
                <a:srgbClr val="E4DDF1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697212" y="7224522"/>
            <a:ext cx="2811780" cy="355439"/>
            <a:chOff x="0" y="0"/>
            <a:chExt cx="3749040" cy="47391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49040" cy="473918"/>
            </a:xfrm>
            <a:custGeom>
              <a:avLst/>
              <a:gdLst/>
              <a:ahLst/>
              <a:cxnLst/>
              <a:rect r="r" b="b" t="t" l="l"/>
              <a:pathLst>
                <a:path h="47391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0" b="-9272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74904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APLICAÇÃO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956484" y="7224522"/>
            <a:ext cx="1678231" cy="355439"/>
            <a:chOff x="0" y="0"/>
            <a:chExt cx="2237641" cy="47391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37641" cy="473918"/>
            </a:xfrm>
            <a:custGeom>
              <a:avLst/>
              <a:gdLst/>
              <a:ahLst/>
              <a:cxnLst/>
              <a:rect r="r" b="b" t="t" l="l"/>
              <a:pathLst>
                <a:path h="473918" w="2237641">
                  <a:moveTo>
                    <a:pt x="0" y="0"/>
                  </a:moveTo>
                  <a:lnTo>
                    <a:pt x="2237641" y="0"/>
                  </a:lnTo>
                  <a:lnTo>
                    <a:pt x="2237641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128840" b="-14912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237641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</a:t>
              </a:r>
            </a:p>
          </p:txBody>
        </p:sp>
      </p:grpSp>
      <p:sp>
        <p:nvSpPr>
          <p:cNvPr name="AutoShape 87" id="87"/>
          <p:cNvSpPr/>
          <p:nvPr/>
        </p:nvSpPr>
        <p:spPr>
          <a:xfrm>
            <a:off x="13174218" y="7813929"/>
            <a:ext cx="0" cy="241554"/>
          </a:xfrm>
          <a:prstGeom prst="line">
            <a:avLst/>
          </a:prstGeom>
          <a:ln cap="rnd" w="19050">
            <a:solidFill>
              <a:srgbClr val="6D2CF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8" id="88"/>
          <p:cNvGrpSpPr/>
          <p:nvPr/>
        </p:nvGrpSpPr>
        <p:grpSpPr>
          <a:xfrm rot="0">
            <a:off x="9358503" y="8055483"/>
            <a:ext cx="7631430" cy="814578"/>
            <a:chOff x="0" y="0"/>
            <a:chExt cx="10175240" cy="108610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1752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17524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9913112" y="0"/>
                  </a:lnTo>
                  <a:cubicBezTo>
                    <a:pt x="10057892" y="0"/>
                    <a:pt x="10175240" y="117348"/>
                    <a:pt x="10175240" y="262128"/>
                  </a:cubicBezTo>
                  <a:lnTo>
                    <a:pt x="10175240" y="823976"/>
                  </a:lnTo>
                  <a:cubicBezTo>
                    <a:pt x="10175240" y="968756"/>
                    <a:pt x="10057892" y="1086104"/>
                    <a:pt x="991311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EEE6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697212" y="8280654"/>
            <a:ext cx="2811780" cy="355439"/>
            <a:chOff x="0" y="0"/>
            <a:chExt cx="3749040" cy="47391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749040" cy="473918"/>
            </a:xfrm>
            <a:custGeom>
              <a:avLst/>
              <a:gdLst/>
              <a:ahLst/>
              <a:cxnLst/>
              <a:rect r="r" b="b" t="t" l="l"/>
              <a:pathLst>
                <a:path h="47391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51" r="0" b="-9272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74904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086566" y="8280654"/>
            <a:ext cx="1548149" cy="355439"/>
            <a:chOff x="0" y="0"/>
            <a:chExt cx="2064198" cy="47391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64198" cy="473918"/>
            </a:xfrm>
            <a:custGeom>
              <a:avLst/>
              <a:gdLst/>
              <a:ahLst/>
              <a:cxnLst/>
              <a:rect r="r" b="b" t="t" l="l"/>
              <a:pathLst>
                <a:path h="473918" w="2064198">
                  <a:moveTo>
                    <a:pt x="0" y="0"/>
                  </a:moveTo>
                  <a:lnTo>
                    <a:pt x="2064198" y="0"/>
                  </a:lnTo>
                  <a:lnTo>
                    <a:pt x="2064198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44" r="-148069" b="-14912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064198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 • RF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754380" y="592593"/>
            <a:ext cx="2674620" cy="782817"/>
            <a:chOff x="0" y="0"/>
            <a:chExt cx="3566160" cy="10437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566160" cy="1043756"/>
            </a:xfrm>
            <a:custGeom>
              <a:avLst/>
              <a:gdLst/>
              <a:ahLst/>
              <a:cxnLst/>
              <a:rect r="r" b="b" t="t" l="l"/>
              <a:pathLst>
                <a:path h="104375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043756"/>
                  </a:lnTo>
                  <a:lnTo>
                    <a:pt x="0" y="10437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01" r="-484615" b="-32949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76200"/>
              <a:ext cx="3566160" cy="1119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PROJETO</a:t>
              </a:r>
            </a:p>
          </p:txBody>
        </p:sp>
      </p:grpSp>
      <p:sp>
        <p:nvSpPr>
          <p:cNvPr name="AutoShape 100" id="100"/>
          <p:cNvSpPr/>
          <p:nvPr/>
        </p:nvSpPr>
        <p:spPr>
          <a:xfrm>
            <a:off x="617009" y="1157125"/>
            <a:ext cx="2547196" cy="0"/>
          </a:xfrm>
          <a:prstGeom prst="line">
            <a:avLst/>
          </a:prstGeom>
          <a:ln cap="flat" w="38100">
            <a:solidFill>
              <a:srgbClr val="6D2CF2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380" y="592455"/>
            <a:ext cx="4309110" cy="782817"/>
            <a:chOff x="0" y="0"/>
            <a:chExt cx="5745480" cy="1043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45480" cy="1043756"/>
            </a:xfrm>
            <a:custGeom>
              <a:avLst/>
              <a:gdLst/>
              <a:ahLst/>
              <a:cxnLst/>
              <a:rect r="r" b="b" t="t" l="l"/>
              <a:pathLst>
                <a:path h="1043756" w="5745480">
                  <a:moveTo>
                    <a:pt x="0" y="0"/>
                  </a:moveTo>
                  <a:lnTo>
                    <a:pt x="5745480" y="0"/>
                  </a:lnTo>
                  <a:lnTo>
                    <a:pt x="5745480" y="1043756"/>
                  </a:lnTo>
                  <a:lnTo>
                    <a:pt x="0" y="1043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901" r="-262864" b="-32949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745480" cy="1119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BASE DE DADOS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6860" y="1979295"/>
            <a:ext cx="3516630" cy="2007870"/>
            <a:chOff x="0" y="0"/>
            <a:chExt cx="4688840" cy="2677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888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688840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4430395" y="0"/>
                  </a:lnTo>
                  <a:cubicBezTo>
                    <a:pt x="4573143" y="0"/>
                    <a:pt x="4688840" y="115697"/>
                    <a:pt x="4688840" y="258445"/>
                  </a:cubicBezTo>
                  <a:lnTo>
                    <a:pt x="4688840" y="2418715"/>
                  </a:lnTo>
                  <a:cubicBezTo>
                    <a:pt x="4688840" y="2561463"/>
                    <a:pt x="4573143" y="2677160"/>
                    <a:pt x="4430395" y="2677160"/>
                  </a:cubicBezTo>
                  <a:lnTo>
                    <a:pt x="258445" y="2677160"/>
                  </a:lnTo>
                  <a:cubicBezTo>
                    <a:pt x="115697" y="2677160"/>
                    <a:pt x="0" y="2561463"/>
                    <a:pt x="0" y="24187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30705" y="2208276"/>
            <a:ext cx="3017520" cy="576072"/>
            <a:chOff x="0" y="0"/>
            <a:chExt cx="402336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402336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30705" y="2894076"/>
            <a:ext cx="3017520" cy="493776"/>
            <a:chOff x="0" y="0"/>
            <a:chExt cx="4023360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658368"/>
            </a:xfrm>
            <a:custGeom>
              <a:avLst/>
              <a:gdLst/>
              <a:ahLst/>
              <a:cxnLst/>
              <a:rect r="r" b="b" t="t" l="l"/>
              <a:pathLst>
                <a:path h="65836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0233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eses monitorados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01056" y="1979295"/>
            <a:ext cx="3516630" cy="2007870"/>
            <a:chOff x="0" y="0"/>
            <a:chExt cx="4688840" cy="2677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888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688840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4430395" y="0"/>
                  </a:lnTo>
                  <a:cubicBezTo>
                    <a:pt x="4573143" y="0"/>
                    <a:pt x="4688840" y="115697"/>
                    <a:pt x="4688840" y="258445"/>
                  </a:cubicBezTo>
                  <a:lnTo>
                    <a:pt x="4688840" y="2418715"/>
                  </a:lnTo>
                  <a:cubicBezTo>
                    <a:pt x="4688840" y="2561463"/>
                    <a:pt x="4573143" y="2677160"/>
                    <a:pt x="4430395" y="2677160"/>
                  </a:cubicBezTo>
                  <a:lnTo>
                    <a:pt x="258445" y="2677160"/>
                  </a:lnTo>
                  <a:cubicBezTo>
                    <a:pt x="115697" y="2677160"/>
                    <a:pt x="0" y="2561463"/>
                    <a:pt x="0" y="24187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684901" y="2208276"/>
            <a:ext cx="3017520" cy="576072"/>
            <a:chOff x="0" y="0"/>
            <a:chExt cx="402336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02336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2,15 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84901" y="2894076"/>
            <a:ext cx="3017520" cy="493776"/>
            <a:chOff x="0" y="0"/>
            <a:chExt cx="4023360" cy="658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3360" cy="658368"/>
            </a:xfrm>
            <a:custGeom>
              <a:avLst/>
              <a:gdLst/>
              <a:ahLst/>
              <a:cxnLst/>
              <a:rect r="r" b="b" t="t" l="l"/>
              <a:pathLst>
                <a:path h="65836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0233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egistros originais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55252" y="1979295"/>
            <a:ext cx="3516630" cy="2007870"/>
            <a:chOff x="0" y="0"/>
            <a:chExt cx="4688840" cy="2677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888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688840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4430395" y="0"/>
                  </a:lnTo>
                  <a:cubicBezTo>
                    <a:pt x="4573143" y="0"/>
                    <a:pt x="4688840" y="115697"/>
                    <a:pt x="4688840" y="258445"/>
                  </a:cubicBezTo>
                  <a:lnTo>
                    <a:pt x="4688840" y="2418715"/>
                  </a:lnTo>
                  <a:cubicBezTo>
                    <a:pt x="4688840" y="2561463"/>
                    <a:pt x="4573143" y="2677160"/>
                    <a:pt x="4430395" y="2677160"/>
                  </a:cubicBezTo>
                  <a:lnTo>
                    <a:pt x="258445" y="2677160"/>
                  </a:lnTo>
                  <a:cubicBezTo>
                    <a:pt x="115697" y="2677160"/>
                    <a:pt x="0" y="2561463"/>
                    <a:pt x="0" y="24187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255252" y="1979295"/>
            <a:ext cx="101346" cy="2007870"/>
            <a:chOff x="0" y="0"/>
            <a:chExt cx="135128" cy="2677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5128" cy="2677160"/>
            </a:xfrm>
            <a:custGeom>
              <a:avLst/>
              <a:gdLst/>
              <a:ahLst/>
              <a:cxnLst/>
              <a:rect r="r" b="b" t="t" l="l"/>
              <a:pathLst>
                <a:path h="26771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39097" y="2208276"/>
            <a:ext cx="3017520" cy="576072"/>
            <a:chOff x="0" y="0"/>
            <a:chExt cx="402336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02336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39097" y="2894076"/>
            <a:ext cx="3017520" cy="493776"/>
            <a:chOff x="0" y="0"/>
            <a:chExt cx="402336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658368"/>
            </a:xfrm>
            <a:custGeom>
              <a:avLst/>
              <a:gdLst/>
              <a:ahLst/>
              <a:cxnLst/>
              <a:rect r="r" b="b" t="t" l="l"/>
              <a:pathLst>
                <a:path h="65836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0233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quipamentos CTTU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09448" y="1979295"/>
            <a:ext cx="3516630" cy="2007870"/>
            <a:chOff x="0" y="0"/>
            <a:chExt cx="4688840" cy="2677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8884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688840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4430395" y="0"/>
                  </a:lnTo>
                  <a:cubicBezTo>
                    <a:pt x="4573143" y="0"/>
                    <a:pt x="4688840" y="115697"/>
                    <a:pt x="4688840" y="258445"/>
                  </a:cubicBezTo>
                  <a:lnTo>
                    <a:pt x="4688840" y="2418715"/>
                  </a:lnTo>
                  <a:cubicBezTo>
                    <a:pt x="4688840" y="2561463"/>
                    <a:pt x="4573143" y="2677160"/>
                    <a:pt x="4430395" y="2677160"/>
                  </a:cubicBezTo>
                  <a:lnTo>
                    <a:pt x="258445" y="2677160"/>
                  </a:lnTo>
                  <a:cubicBezTo>
                    <a:pt x="115697" y="2677160"/>
                    <a:pt x="0" y="2561463"/>
                    <a:pt x="0" y="24187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109448" y="1979295"/>
            <a:ext cx="101346" cy="2007870"/>
            <a:chOff x="0" y="0"/>
            <a:chExt cx="135128" cy="2677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128" cy="2677160"/>
            </a:xfrm>
            <a:custGeom>
              <a:avLst/>
              <a:gdLst/>
              <a:ahLst/>
              <a:cxnLst/>
              <a:rect r="r" b="b" t="t" l="l"/>
              <a:pathLst>
                <a:path h="26771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93293" y="2208276"/>
            <a:ext cx="3017520" cy="576072"/>
            <a:chOff x="0" y="0"/>
            <a:chExt cx="4023360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402336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393293" y="2894076"/>
            <a:ext cx="3017520" cy="493776"/>
            <a:chOff x="0" y="0"/>
            <a:chExt cx="4023360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23360" cy="658368"/>
            </a:xfrm>
            <a:custGeom>
              <a:avLst/>
              <a:gdLst/>
              <a:ahLst/>
              <a:cxnLst/>
              <a:rect r="r" b="b" t="t" l="l"/>
              <a:pathLst>
                <a:path h="65836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0233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aixas de velocidade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8700" y="4644771"/>
            <a:ext cx="16230600" cy="3516630"/>
            <a:chOff x="0" y="0"/>
            <a:chExt cx="21640800" cy="4688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640800" cy="4688840"/>
            </a:xfrm>
            <a:custGeom>
              <a:avLst/>
              <a:gdLst/>
              <a:ahLst/>
              <a:cxnLst/>
              <a:rect r="r" b="b" t="t" l="l"/>
              <a:pathLst>
                <a:path h="4688840" w="21640800">
                  <a:moveTo>
                    <a:pt x="0" y="257429"/>
                  </a:moveTo>
                  <a:cubicBezTo>
                    <a:pt x="0" y="115189"/>
                    <a:pt x="123759" y="0"/>
                    <a:pt x="276582" y="0"/>
                  </a:cubicBezTo>
                  <a:lnTo>
                    <a:pt x="21364218" y="0"/>
                  </a:lnTo>
                  <a:cubicBezTo>
                    <a:pt x="21517042" y="0"/>
                    <a:pt x="21640800" y="115189"/>
                    <a:pt x="21640800" y="257429"/>
                  </a:cubicBezTo>
                  <a:lnTo>
                    <a:pt x="21640800" y="4431411"/>
                  </a:lnTo>
                  <a:cubicBezTo>
                    <a:pt x="21640800" y="4573524"/>
                    <a:pt x="21517042" y="4688840"/>
                    <a:pt x="21364218" y="4688840"/>
                  </a:cubicBezTo>
                  <a:lnTo>
                    <a:pt x="276582" y="4688840"/>
                  </a:lnTo>
                  <a:cubicBezTo>
                    <a:pt x="123759" y="4688840"/>
                    <a:pt x="0" y="4573651"/>
                    <a:pt x="0" y="44314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ED7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528953" y="4949190"/>
            <a:ext cx="3634740" cy="370332"/>
            <a:chOff x="0" y="0"/>
            <a:chExt cx="4846320" cy="4937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46320" cy="493776"/>
            </a:xfrm>
            <a:custGeom>
              <a:avLst/>
              <a:gdLst/>
              <a:ahLst/>
              <a:cxnLst/>
              <a:rect r="r" b="b" t="t" l="l"/>
              <a:pathLst>
                <a:path h="493776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242" r="0" b="-1412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84632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COMO O DADO É LIDO: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19428" y="5570601"/>
            <a:ext cx="2625090" cy="1664970"/>
            <a:chOff x="0" y="0"/>
            <a:chExt cx="3500120" cy="2219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001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50012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3241167" y="0"/>
                  </a:lnTo>
                  <a:cubicBezTo>
                    <a:pt x="3384169" y="0"/>
                    <a:pt x="3500120" y="115951"/>
                    <a:pt x="3500120" y="258953"/>
                  </a:cubicBezTo>
                  <a:lnTo>
                    <a:pt x="3500120" y="1961007"/>
                  </a:lnTo>
                  <a:cubicBezTo>
                    <a:pt x="3500120" y="2104009"/>
                    <a:pt x="3384169" y="2219960"/>
                    <a:pt x="324116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693545" y="5785866"/>
            <a:ext cx="2221992" cy="356616"/>
            <a:chOff x="0" y="0"/>
            <a:chExt cx="2962656" cy="4754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62656" cy="475488"/>
            </a:xfrm>
            <a:custGeom>
              <a:avLst/>
              <a:gdLst/>
              <a:ahLst/>
              <a:cxnLst/>
              <a:rect r="r" b="b" t="t" l="l"/>
              <a:pathLst>
                <a:path h="475488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406" r="0" b="-7140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962656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Equipamento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93545" y="6252210"/>
            <a:ext cx="2221992" cy="548640"/>
            <a:chOff x="0" y="0"/>
            <a:chExt cx="2962656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9626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 ponto monitora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89857" y="6156198"/>
            <a:ext cx="438912" cy="411480"/>
            <a:chOff x="0" y="0"/>
            <a:chExt cx="585216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216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8521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46676" y="5570601"/>
            <a:ext cx="2625090" cy="1664970"/>
            <a:chOff x="0" y="0"/>
            <a:chExt cx="3500120" cy="22199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001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50012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3241167" y="0"/>
                  </a:lnTo>
                  <a:cubicBezTo>
                    <a:pt x="3384169" y="0"/>
                    <a:pt x="3500120" y="115951"/>
                    <a:pt x="3500120" y="258953"/>
                  </a:cubicBezTo>
                  <a:lnTo>
                    <a:pt x="3500120" y="1961007"/>
                  </a:lnTo>
                  <a:cubicBezTo>
                    <a:pt x="3500120" y="2104009"/>
                    <a:pt x="3384169" y="2219960"/>
                    <a:pt x="324116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820793" y="5785866"/>
            <a:ext cx="2221992" cy="356616"/>
            <a:chOff x="0" y="0"/>
            <a:chExt cx="2962656" cy="4754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62656" cy="475488"/>
            </a:xfrm>
            <a:custGeom>
              <a:avLst/>
              <a:gdLst/>
              <a:ahLst/>
              <a:cxnLst/>
              <a:rect r="r" b="b" t="t" l="l"/>
              <a:pathLst>
                <a:path h="475488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406" r="0" b="-7140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962656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+ hora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820793" y="6252210"/>
            <a:ext cx="2221992" cy="548640"/>
            <a:chOff x="0" y="0"/>
            <a:chExt cx="2962656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9626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Intervalo de 15 min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17105" y="6156198"/>
            <a:ext cx="438912" cy="411480"/>
            <a:chOff x="0" y="0"/>
            <a:chExt cx="585216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5216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8521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773924" y="5570601"/>
            <a:ext cx="2625090" cy="1664970"/>
            <a:chOff x="0" y="0"/>
            <a:chExt cx="3500120" cy="2219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001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50012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3241167" y="0"/>
                  </a:lnTo>
                  <a:cubicBezTo>
                    <a:pt x="3384169" y="0"/>
                    <a:pt x="3500120" y="115951"/>
                    <a:pt x="3500120" y="258953"/>
                  </a:cubicBezTo>
                  <a:lnTo>
                    <a:pt x="3500120" y="1961007"/>
                  </a:lnTo>
                  <a:cubicBezTo>
                    <a:pt x="3500120" y="2104009"/>
                    <a:pt x="3384169" y="2219960"/>
                    <a:pt x="324116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7948041" y="5785866"/>
            <a:ext cx="2221992" cy="356616"/>
            <a:chOff x="0" y="0"/>
            <a:chExt cx="2962656" cy="4754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62656" cy="475488"/>
            </a:xfrm>
            <a:custGeom>
              <a:avLst/>
              <a:gdLst/>
              <a:ahLst/>
              <a:cxnLst/>
              <a:rect r="r" b="b" t="t" l="l"/>
              <a:pathLst>
                <a:path h="475488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406" r="0" b="-7140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962656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Faixa da via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948041" y="6252210"/>
            <a:ext cx="2221992" cy="548640"/>
            <a:chOff x="0" y="0"/>
            <a:chExt cx="2962656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626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/ B / C / 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44353" y="6156198"/>
            <a:ext cx="438912" cy="411480"/>
            <a:chOff x="0" y="0"/>
            <a:chExt cx="585216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8521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901172" y="5570601"/>
            <a:ext cx="2625090" cy="1664970"/>
            <a:chOff x="0" y="0"/>
            <a:chExt cx="3500120" cy="2219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001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50012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3241167" y="0"/>
                  </a:lnTo>
                  <a:cubicBezTo>
                    <a:pt x="3384169" y="0"/>
                    <a:pt x="3500120" y="115951"/>
                    <a:pt x="3500120" y="258953"/>
                  </a:cubicBezTo>
                  <a:lnTo>
                    <a:pt x="3500120" y="1961007"/>
                  </a:lnTo>
                  <a:cubicBezTo>
                    <a:pt x="3500120" y="2104009"/>
                    <a:pt x="3384169" y="2219960"/>
                    <a:pt x="324116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075289" y="5785866"/>
            <a:ext cx="2221992" cy="356616"/>
            <a:chOff x="0" y="0"/>
            <a:chExt cx="2962656" cy="4754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62656" cy="475488"/>
            </a:xfrm>
            <a:custGeom>
              <a:avLst/>
              <a:gdLst/>
              <a:ahLst/>
              <a:cxnLst/>
              <a:rect r="r" b="b" t="t" l="l"/>
              <a:pathLst>
                <a:path h="475488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406" r="0" b="-7140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962656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Velocidade média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075289" y="6252210"/>
            <a:ext cx="2221992" cy="548640"/>
            <a:chOff x="0" y="0"/>
            <a:chExt cx="2962656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9626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intervalos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571601" y="6156198"/>
            <a:ext cx="438912" cy="411480"/>
            <a:chOff x="0" y="0"/>
            <a:chExt cx="585216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5216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58521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028420" y="5570601"/>
            <a:ext cx="2625090" cy="1664970"/>
            <a:chOff x="0" y="0"/>
            <a:chExt cx="3500120" cy="22199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001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50012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3241167" y="0"/>
                  </a:lnTo>
                  <a:cubicBezTo>
                    <a:pt x="3384169" y="0"/>
                    <a:pt x="3500120" y="115951"/>
                    <a:pt x="3500120" y="258953"/>
                  </a:cubicBezTo>
                  <a:lnTo>
                    <a:pt x="3500120" y="1961007"/>
                  </a:lnTo>
                  <a:cubicBezTo>
                    <a:pt x="3500120" y="2104009"/>
                    <a:pt x="3384169" y="2219960"/>
                    <a:pt x="324116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4202537" y="5785866"/>
            <a:ext cx="2221992" cy="356616"/>
            <a:chOff x="0" y="0"/>
            <a:chExt cx="2962656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962656" cy="475488"/>
            </a:xfrm>
            <a:custGeom>
              <a:avLst/>
              <a:gdLst/>
              <a:ahLst/>
              <a:cxnLst/>
              <a:rect r="r" b="b" t="t" l="l"/>
              <a:pathLst>
                <a:path h="475488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406" r="0" b="-7140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2962656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Quantidade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202537" y="6252210"/>
            <a:ext cx="2221992" cy="548640"/>
            <a:chOff x="0" y="0"/>
            <a:chExt cx="2962656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626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nº de veículos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56385" y="7596378"/>
            <a:ext cx="10972800" cy="329184"/>
            <a:chOff x="0" y="0"/>
            <a:chExt cx="14630400" cy="4389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630400" cy="438912"/>
            </a:xfrm>
            <a:custGeom>
              <a:avLst/>
              <a:gdLst/>
              <a:ahLst/>
              <a:cxnLst/>
              <a:rect r="r" b="b" t="t" l="l"/>
              <a:pathLst>
                <a:path h="43891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46304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Granularidade: 15 minutos  •  Janeiro → Junho de 2026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03" id="103"/>
          <p:cNvSpPr/>
          <p:nvPr/>
        </p:nvSpPr>
        <p:spPr>
          <a:xfrm>
            <a:off x="577509" y="1147287"/>
            <a:ext cx="4051260" cy="0"/>
          </a:xfrm>
          <a:prstGeom prst="line">
            <a:avLst/>
          </a:prstGeom>
          <a:ln cap="flat" w="38100">
            <a:solidFill>
              <a:srgbClr val="6D2CF2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04" id="104"/>
          <p:cNvGrpSpPr/>
          <p:nvPr/>
        </p:nvGrpSpPr>
        <p:grpSpPr>
          <a:xfrm rot="0">
            <a:off x="5402580" y="1979295"/>
            <a:ext cx="101346" cy="2007870"/>
            <a:chOff x="0" y="0"/>
            <a:chExt cx="135128" cy="26771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35128" cy="2677160"/>
            </a:xfrm>
            <a:custGeom>
              <a:avLst/>
              <a:gdLst/>
              <a:ahLst/>
              <a:cxnLst/>
              <a:rect r="r" b="b" t="t" l="l"/>
              <a:pathLst>
                <a:path h="26771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48384" y="1979295"/>
            <a:ext cx="101346" cy="2007870"/>
            <a:chOff x="0" y="0"/>
            <a:chExt cx="135128" cy="26771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5128" cy="2677160"/>
            </a:xfrm>
            <a:custGeom>
              <a:avLst/>
              <a:gdLst/>
              <a:ahLst/>
              <a:cxnLst/>
              <a:rect r="r" b="b" t="t" l="l"/>
              <a:pathLst>
                <a:path h="26771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00386" y="8782883"/>
            <a:ext cx="2194560" cy="1303020"/>
            <a:chOff x="0" y="0"/>
            <a:chExt cx="2926080" cy="1737360"/>
          </a:xfrm>
        </p:grpSpPr>
        <p:sp>
          <p:nvSpPr>
            <p:cNvPr name="Freeform 3" id="3" descr="/mnt/data/pptx_assets/ppt/media/image33.png"/>
            <p:cNvSpPr/>
            <p:nvPr/>
          </p:nvSpPr>
          <p:spPr>
            <a:xfrm flipH="false" flipV="false" rot="0">
              <a:off x="0" y="0"/>
              <a:ext cx="29260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737360"/>
                  </a:lnTo>
                  <a:lnTo>
                    <a:pt x="0" y="1737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l="-2544" t="0" r="-25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03501" y="2792106"/>
            <a:ext cx="11247120" cy="1373367"/>
            <a:chOff x="0" y="0"/>
            <a:chExt cx="14996160" cy="18311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96161" cy="1831156"/>
            </a:xfrm>
            <a:custGeom>
              <a:avLst/>
              <a:gdLst/>
              <a:ahLst/>
              <a:cxnLst/>
              <a:rect r="r" b="b" t="t" l="l"/>
              <a:pathLst>
                <a:path h="1831156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831156"/>
                  </a:lnTo>
                  <a:lnTo>
                    <a:pt x="0" y="1831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107" r="0" b="-870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4996160" cy="1907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 possível identificar padrões de comportamento do tráfego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46151" y="4498848"/>
            <a:ext cx="9875520" cy="1289304"/>
            <a:chOff x="0" y="0"/>
            <a:chExt cx="13167360" cy="1719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67361" cy="1719072"/>
            </a:xfrm>
            <a:custGeom>
              <a:avLst/>
              <a:gdLst/>
              <a:ahLst/>
              <a:cxnLst/>
              <a:rect r="r" b="b" t="t" l="l"/>
              <a:pathLst>
                <a:path h="171907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719072"/>
                  </a:lnTo>
                  <a:lnTo>
                    <a:pt x="0" y="17190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247" r="0" b="-9924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167360" cy="1776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tilizar esses padrões para prever o volume de veículos e classificar o nível do fluxo?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15137" y="6120149"/>
            <a:ext cx="2967990" cy="1198626"/>
            <a:chOff x="0" y="0"/>
            <a:chExt cx="3957320" cy="15981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57320" cy="1598295"/>
            </a:xfrm>
            <a:custGeom>
              <a:avLst/>
              <a:gdLst/>
              <a:ahLst/>
              <a:cxnLst/>
              <a:rect r="r" b="b" t="t" l="l"/>
              <a:pathLst>
                <a:path h="1598295" w="3957320">
                  <a:moveTo>
                    <a:pt x="0" y="260223"/>
                  </a:moveTo>
                  <a:cubicBezTo>
                    <a:pt x="0" y="116459"/>
                    <a:pt x="116459" y="0"/>
                    <a:pt x="260223" y="0"/>
                  </a:cubicBezTo>
                  <a:lnTo>
                    <a:pt x="3697097" y="0"/>
                  </a:lnTo>
                  <a:cubicBezTo>
                    <a:pt x="3840734" y="0"/>
                    <a:pt x="3957320" y="116459"/>
                    <a:pt x="3957320" y="260223"/>
                  </a:cubicBezTo>
                  <a:lnTo>
                    <a:pt x="3957320" y="1338072"/>
                  </a:lnTo>
                  <a:cubicBezTo>
                    <a:pt x="3957320" y="1481709"/>
                    <a:pt x="3840861" y="1598295"/>
                    <a:pt x="3697097" y="1598295"/>
                  </a:cubicBezTo>
                  <a:lnTo>
                    <a:pt x="260223" y="1598295"/>
                  </a:lnTo>
                  <a:cubicBezTo>
                    <a:pt x="116459" y="1598168"/>
                    <a:pt x="0" y="1481709"/>
                    <a:pt x="0" y="1337945"/>
                  </a:cubicBezTo>
                  <a:close/>
                </a:path>
              </a:pathLst>
            </a:custGeom>
            <a:solidFill>
              <a:srgbClr val="221C43"/>
            </a:solidFill>
            <a:ln w="19050" cap="sq">
              <a:solidFill>
                <a:srgbClr val="4E3B7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789254" y="6307982"/>
            <a:ext cx="2606040" cy="246888"/>
            <a:chOff x="0" y="0"/>
            <a:chExt cx="3474720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4720" cy="329184"/>
            </a:xfrm>
            <a:custGeom>
              <a:avLst/>
              <a:gdLst/>
              <a:ahLst/>
              <a:cxnLst/>
              <a:rect r="r" b="b" t="t" l="l"/>
              <a:pathLst>
                <a:path h="3291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474720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BBA6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IDENTIFICAR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89254" y="6637166"/>
            <a:ext cx="2606040" cy="391409"/>
            <a:chOff x="0" y="0"/>
            <a:chExt cx="3474720" cy="5218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4720" cy="521878"/>
            </a:xfrm>
            <a:custGeom>
              <a:avLst/>
              <a:gdLst/>
              <a:ahLst/>
              <a:cxnLst/>
              <a:rect r="r" b="b" t="t" l="l"/>
              <a:pathLst>
                <a:path h="52187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21878"/>
                  </a:lnTo>
                  <a:lnTo>
                    <a:pt x="0" y="5218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682" r="0" b="-717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474720" cy="569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Padrões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34409" y="6120149"/>
            <a:ext cx="2967990" cy="1198626"/>
            <a:chOff x="0" y="0"/>
            <a:chExt cx="3957320" cy="15981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1598295"/>
            </a:xfrm>
            <a:custGeom>
              <a:avLst/>
              <a:gdLst/>
              <a:ahLst/>
              <a:cxnLst/>
              <a:rect r="r" b="b" t="t" l="l"/>
              <a:pathLst>
                <a:path h="1598295" w="3957320">
                  <a:moveTo>
                    <a:pt x="0" y="260223"/>
                  </a:moveTo>
                  <a:cubicBezTo>
                    <a:pt x="0" y="116459"/>
                    <a:pt x="116459" y="0"/>
                    <a:pt x="260223" y="0"/>
                  </a:cubicBezTo>
                  <a:lnTo>
                    <a:pt x="3697097" y="0"/>
                  </a:lnTo>
                  <a:cubicBezTo>
                    <a:pt x="3840734" y="0"/>
                    <a:pt x="3957320" y="116459"/>
                    <a:pt x="3957320" y="260223"/>
                  </a:cubicBezTo>
                  <a:lnTo>
                    <a:pt x="3957320" y="1338072"/>
                  </a:lnTo>
                  <a:cubicBezTo>
                    <a:pt x="3957320" y="1481709"/>
                    <a:pt x="3840861" y="1598295"/>
                    <a:pt x="3697097" y="1598295"/>
                  </a:cubicBezTo>
                  <a:lnTo>
                    <a:pt x="260223" y="1598295"/>
                  </a:lnTo>
                  <a:cubicBezTo>
                    <a:pt x="116459" y="1598168"/>
                    <a:pt x="0" y="1481709"/>
                    <a:pt x="0" y="1337945"/>
                  </a:cubicBezTo>
                  <a:close/>
                </a:path>
              </a:pathLst>
            </a:custGeom>
            <a:solidFill>
              <a:srgbClr val="3C216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108526" y="6307982"/>
            <a:ext cx="2606040" cy="246888"/>
            <a:chOff x="0" y="0"/>
            <a:chExt cx="3474720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4720" cy="329184"/>
            </a:xfrm>
            <a:custGeom>
              <a:avLst/>
              <a:gdLst/>
              <a:ahLst/>
              <a:cxnLst/>
              <a:rect r="r" b="b" t="t" l="l"/>
              <a:pathLst>
                <a:path h="3291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474720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BBA6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08526" y="6637166"/>
            <a:ext cx="2606040" cy="391409"/>
            <a:chOff x="0" y="0"/>
            <a:chExt cx="3474720" cy="5218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521878"/>
            </a:xfrm>
            <a:custGeom>
              <a:avLst/>
              <a:gdLst/>
              <a:ahLst/>
              <a:cxnLst/>
              <a:rect r="r" b="b" t="t" l="l"/>
              <a:pathLst>
                <a:path h="52187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21878"/>
                  </a:lnTo>
                  <a:lnTo>
                    <a:pt x="0" y="5218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682" r="0" b="-717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474720" cy="569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Volume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53681" y="6120149"/>
            <a:ext cx="2967990" cy="1198626"/>
            <a:chOff x="0" y="0"/>
            <a:chExt cx="3957320" cy="15981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57320" cy="1598295"/>
            </a:xfrm>
            <a:custGeom>
              <a:avLst/>
              <a:gdLst/>
              <a:ahLst/>
              <a:cxnLst/>
              <a:rect r="r" b="b" t="t" l="l"/>
              <a:pathLst>
                <a:path h="1598295" w="3957320">
                  <a:moveTo>
                    <a:pt x="0" y="260223"/>
                  </a:moveTo>
                  <a:cubicBezTo>
                    <a:pt x="0" y="116459"/>
                    <a:pt x="116459" y="0"/>
                    <a:pt x="260223" y="0"/>
                  </a:cubicBezTo>
                  <a:lnTo>
                    <a:pt x="3697097" y="0"/>
                  </a:lnTo>
                  <a:cubicBezTo>
                    <a:pt x="3840734" y="0"/>
                    <a:pt x="3957320" y="116459"/>
                    <a:pt x="3957320" y="260223"/>
                  </a:cubicBezTo>
                  <a:lnTo>
                    <a:pt x="3957320" y="1338072"/>
                  </a:lnTo>
                  <a:cubicBezTo>
                    <a:pt x="3957320" y="1481709"/>
                    <a:pt x="3840861" y="1598295"/>
                    <a:pt x="3697097" y="1598295"/>
                  </a:cubicBezTo>
                  <a:lnTo>
                    <a:pt x="260223" y="1598295"/>
                  </a:lnTo>
                  <a:cubicBezTo>
                    <a:pt x="116459" y="1598168"/>
                    <a:pt x="0" y="1481709"/>
                    <a:pt x="0" y="1337945"/>
                  </a:cubicBezTo>
                  <a:close/>
                </a:path>
              </a:pathLst>
            </a:custGeom>
            <a:solidFill>
              <a:srgbClr val="221C43"/>
            </a:solidFill>
            <a:ln w="19050" cap="sq">
              <a:solidFill>
                <a:srgbClr val="4E3B7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27798" y="6307982"/>
            <a:ext cx="2606040" cy="246888"/>
            <a:chOff x="0" y="0"/>
            <a:chExt cx="3474720" cy="329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74720" cy="329184"/>
            </a:xfrm>
            <a:custGeom>
              <a:avLst/>
              <a:gdLst/>
              <a:ahLst/>
              <a:cxnLst/>
              <a:rect r="r" b="b" t="t" l="l"/>
              <a:pathLst>
                <a:path h="32918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474720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BBA6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27798" y="6637166"/>
            <a:ext cx="2606040" cy="391409"/>
            <a:chOff x="0" y="0"/>
            <a:chExt cx="3474720" cy="5218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521878"/>
            </a:xfrm>
            <a:custGeom>
              <a:avLst/>
              <a:gdLst/>
              <a:ahLst/>
              <a:cxnLst/>
              <a:rect r="r" b="b" t="t" l="l"/>
              <a:pathLst>
                <a:path h="52187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21878"/>
                  </a:lnTo>
                  <a:lnTo>
                    <a:pt x="0" y="5218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682" r="0" b="-717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474720" cy="569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Fluxo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36" id="36"/>
          <p:cNvSpPr/>
          <p:nvPr/>
        </p:nvSpPr>
        <p:spPr>
          <a:xfrm>
            <a:off x="590767" y="1525047"/>
            <a:ext cx="2228892" cy="66152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754380" y="1028700"/>
            <a:ext cx="4353231" cy="782817"/>
            <a:chOff x="0" y="0"/>
            <a:chExt cx="5804308" cy="10437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04308" cy="1043756"/>
            </a:xfrm>
            <a:custGeom>
              <a:avLst/>
              <a:gdLst/>
              <a:ahLst/>
              <a:cxnLst/>
              <a:rect r="r" b="b" t="t" l="l"/>
              <a:pathLst>
                <a:path h="1043756" w="5804308">
                  <a:moveTo>
                    <a:pt x="0" y="0"/>
                  </a:moveTo>
                  <a:lnTo>
                    <a:pt x="5804308" y="0"/>
                  </a:lnTo>
                  <a:lnTo>
                    <a:pt x="5804308" y="1043756"/>
                  </a:lnTo>
                  <a:lnTo>
                    <a:pt x="0" y="1043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901" r="-259187" b="-3294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5804308" cy="1119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NOVA PERGUNTA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3881735" y="3141969"/>
            <a:ext cx="2831861" cy="6585724"/>
          </a:xfrm>
          <a:custGeom>
            <a:avLst/>
            <a:gdLst/>
            <a:ahLst/>
            <a:cxnLst/>
            <a:rect r="r" b="b" t="t" l="l"/>
            <a:pathLst>
              <a:path h="6585724" w="2831861">
                <a:moveTo>
                  <a:pt x="0" y="0"/>
                </a:moveTo>
                <a:lnTo>
                  <a:pt x="2831861" y="0"/>
                </a:lnTo>
                <a:lnTo>
                  <a:pt x="2831861" y="6585724"/>
                </a:lnTo>
                <a:lnTo>
                  <a:pt x="0" y="65857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620" y="1373504"/>
            <a:ext cx="1908812" cy="57152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62356" y="935736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ESTRATÉGIA DA NOVA FASE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68415" y="1938147"/>
            <a:ext cx="5505450" cy="1006602"/>
            <a:chOff x="0" y="0"/>
            <a:chExt cx="7340600" cy="1342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06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7340600">
                  <a:moveTo>
                    <a:pt x="0" y="260985"/>
                  </a:moveTo>
                  <a:cubicBezTo>
                    <a:pt x="0" y="116840"/>
                    <a:pt x="116840" y="0"/>
                    <a:pt x="260985" y="0"/>
                  </a:cubicBezTo>
                  <a:lnTo>
                    <a:pt x="7079615" y="0"/>
                  </a:lnTo>
                  <a:cubicBezTo>
                    <a:pt x="7223760" y="0"/>
                    <a:pt x="7340600" y="116840"/>
                    <a:pt x="7340600" y="260985"/>
                  </a:cubicBezTo>
                  <a:lnTo>
                    <a:pt x="7340600" y="1081151"/>
                  </a:lnTo>
                  <a:cubicBezTo>
                    <a:pt x="7340600" y="1225296"/>
                    <a:pt x="7223760" y="1342136"/>
                    <a:pt x="7079615" y="1342136"/>
                  </a:cubicBezTo>
                  <a:lnTo>
                    <a:pt x="260985" y="1342136"/>
                  </a:lnTo>
                  <a:cubicBezTo>
                    <a:pt x="116840" y="1342136"/>
                    <a:pt x="0" y="1225296"/>
                    <a:pt x="0" y="1081151"/>
                  </a:cubicBezTo>
                  <a:close/>
                </a:path>
              </a:pathLst>
            </a:custGeom>
            <a:solidFill>
              <a:srgbClr val="11152B"/>
            </a:solidFill>
            <a:ln w="19050" cap="sq">
              <a:solidFill>
                <a:srgbClr val="11152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615303" y="2249424"/>
            <a:ext cx="4965192" cy="384048"/>
            <a:chOff x="0" y="0"/>
            <a:chExt cx="6620256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20256" cy="512064"/>
            </a:xfrm>
            <a:custGeom>
              <a:avLst/>
              <a:gdLst/>
              <a:ahLst/>
              <a:cxnLst/>
              <a:rect r="r" b="b" t="t" l="l"/>
              <a:pathLst>
                <a:path h="512064" w="6620256">
                  <a:moveTo>
                    <a:pt x="0" y="0"/>
                  </a:moveTo>
                  <a:lnTo>
                    <a:pt x="6620256" y="0"/>
                  </a:lnTo>
                  <a:lnTo>
                    <a:pt x="662025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913" r="0" b="-201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20256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DADOS HISTÓRICOS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2015" y="4036695"/>
            <a:ext cx="4613910" cy="3448050"/>
            <a:chOff x="0" y="0"/>
            <a:chExt cx="6151880" cy="4597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51880" cy="4597400"/>
            </a:xfrm>
            <a:custGeom>
              <a:avLst/>
              <a:gdLst/>
              <a:ahLst/>
              <a:cxnLst/>
              <a:rect r="r" b="b" t="t" l="l"/>
              <a:pathLst>
                <a:path h="4597400" w="6151880">
                  <a:moveTo>
                    <a:pt x="0" y="257429"/>
                  </a:moveTo>
                  <a:cubicBezTo>
                    <a:pt x="0" y="115316"/>
                    <a:pt x="115316" y="0"/>
                    <a:pt x="257429" y="0"/>
                  </a:cubicBezTo>
                  <a:lnTo>
                    <a:pt x="5894451" y="0"/>
                  </a:lnTo>
                  <a:cubicBezTo>
                    <a:pt x="6036691" y="0"/>
                    <a:pt x="6151880" y="115316"/>
                    <a:pt x="6151880" y="257429"/>
                  </a:cubicBezTo>
                  <a:lnTo>
                    <a:pt x="6151880" y="4339971"/>
                  </a:lnTo>
                  <a:cubicBezTo>
                    <a:pt x="6151880" y="4482211"/>
                    <a:pt x="6036564" y="4597400"/>
                    <a:pt x="5894451" y="4597400"/>
                  </a:cubicBezTo>
                  <a:lnTo>
                    <a:pt x="257429" y="4597400"/>
                  </a:lnTo>
                  <a:cubicBezTo>
                    <a:pt x="115316" y="4597400"/>
                    <a:pt x="0" y="4482084"/>
                    <a:pt x="0" y="43399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FD7E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8903" y="4338447"/>
            <a:ext cx="2762250" cy="471678"/>
            <a:chOff x="0" y="0"/>
            <a:chExt cx="3683000" cy="6289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3C216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588" y="4389120"/>
            <a:ext cx="2468880" cy="370332"/>
            <a:chOff x="0" y="0"/>
            <a:chExt cx="3291840" cy="4937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CLUSTERIZAÇÃO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8428" y="5102352"/>
            <a:ext cx="4087368" cy="685800"/>
            <a:chOff x="0" y="0"/>
            <a:chExt cx="5449824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9824" cy="914400"/>
            </a:xfrm>
            <a:custGeom>
              <a:avLst/>
              <a:gdLst/>
              <a:ahLst/>
              <a:cxnLst/>
              <a:rect r="r" b="b" t="t" l="l"/>
              <a:pathLst>
                <a:path h="9144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30" r="0" b="-661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44982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8428" y="5980176"/>
            <a:ext cx="4059936" cy="891540"/>
            <a:chOff x="0" y="0"/>
            <a:chExt cx="5413248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13248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1" r="0" b="-387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413248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Identificar perfis semelhantes entre equipamentos.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8903" y="7163943"/>
            <a:ext cx="1459230" cy="471678"/>
            <a:chOff x="0" y="0"/>
            <a:chExt cx="1945640" cy="6289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5640" cy="628904"/>
            </a:xfrm>
            <a:custGeom>
              <a:avLst/>
              <a:gdLst/>
              <a:ahLst/>
              <a:cxnLst/>
              <a:rect r="r" b="b" t="t" l="l"/>
              <a:pathLst>
                <a:path h="628904" w="194564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640713" y="0"/>
                  </a:lnTo>
                  <a:cubicBezTo>
                    <a:pt x="1809115" y="0"/>
                    <a:pt x="1945640" y="136525"/>
                    <a:pt x="1945640" y="304927"/>
                  </a:cubicBezTo>
                  <a:lnTo>
                    <a:pt x="1945640" y="323977"/>
                  </a:lnTo>
                  <a:cubicBezTo>
                    <a:pt x="1945640" y="492379"/>
                    <a:pt x="1809115" y="628904"/>
                    <a:pt x="164071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75588" y="7214616"/>
            <a:ext cx="1165860" cy="370332"/>
            <a:chOff x="0" y="0"/>
            <a:chExt cx="1554480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" cy="493776"/>
            </a:xfrm>
            <a:custGeom>
              <a:avLst/>
              <a:gdLst/>
              <a:ahLst/>
              <a:cxnLst/>
              <a:rect r="r" b="b" t="t" l="l"/>
              <a:pathLst>
                <a:path h="493776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41" r="0" b="-113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55448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PADRÃO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68415" y="4036695"/>
            <a:ext cx="4613910" cy="3448050"/>
            <a:chOff x="0" y="0"/>
            <a:chExt cx="6151880" cy="4597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51880" cy="4597400"/>
            </a:xfrm>
            <a:custGeom>
              <a:avLst/>
              <a:gdLst/>
              <a:ahLst/>
              <a:cxnLst/>
              <a:rect r="r" b="b" t="t" l="l"/>
              <a:pathLst>
                <a:path h="4597400" w="6151880">
                  <a:moveTo>
                    <a:pt x="0" y="257429"/>
                  </a:moveTo>
                  <a:cubicBezTo>
                    <a:pt x="0" y="115316"/>
                    <a:pt x="115316" y="0"/>
                    <a:pt x="257429" y="0"/>
                  </a:cubicBezTo>
                  <a:lnTo>
                    <a:pt x="5894451" y="0"/>
                  </a:lnTo>
                  <a:cubicBezTo>
                    <a:pt x="6036691" y="0"/>
                    <a:pt x="6151880" y="115316"/>
                    <a:pt x="6151880" y="257429"/>
                  </a:cubicBezTo>
                  <a:lnTo>
                    <a:pt x="6151880" y="4339971"/>
                  </a:lnTo>
                  <a:cubicBezTo>
                    <a:pt x="6151880" y="4482211"/>
                    <a:pt x="6036564" y="4597400"/>
                    <a:pt x="5894451" y="4597400"/>
                  </a:cubicBezTo>
                  <a:lnTo>
                    <a:pt x="257429" y="4597400"/>
                  </a:lnTo>
                  <a:cubicBezTo>
                    <a:pt x="115316" y="4597400"/>
                    <a:pt x="0" y="4482084"/>
                    <a:pt x="0" y="43399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FD7E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615303" y="4338447"/>
            <a:ext cx="2762250" cy="471678"/>
            <a:chOff x="0" y="0"/>
            <a:chExt cx="3683000" cy="6289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61988" y="4389120"/>
            <a:ext cx="2468880" cy="370332"/>
            <a:chOff x="0" y="0"/>
            <a:chExt cx="3291840" cy="4937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REGRESSÃO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24828" y="5102352"/>
            <a:ext cx="4087368" cy="685800"/>
            <a:chOff x="0" y="0"/>
            <a:chExt cx="5449824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9824" cy="914400"/>
            </a:xfrm>
            <a:custGeom>
              <a:avLst/>
              <a:gdLst/>
              <a:ahLst/>
              <a:cxnLst/>
              <a:rect r="r" b="b" t="t" l="l"/>
              <a:pathLst>
                <a:path h="9144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30" r="0" b="-661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544982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Regressor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24828" y="5980176"/>
            <a:ext cx="4059936" cy="891540"/>
            <a:chOff x="0" y="0"/>
            <a:chExt cx="5413248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13248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1" r="0" b="-387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413248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Prever o número de veículos em diferentes horizontes.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15303" y="7163943"/>
            <a:ext cx="1459230" cy="471678"/>
            <a:chOff x="0" y="0"/>
            <a:chExt cx="1945640" cy="628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45640" cy="628904"/>
            </a:xfrm>
            <a:custGeom>
              <a:avLst/>
              <a:gdLst/>
              <a:ahLst/>
              <a:cxnLst/>
              <a:rect r="r" b="b" t="t" l="l"/>
              <a:pathLst>
                <a:path h="628904" w="194564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640713" y="0"/>
                  </a:lnTo>
                  <a:cubicBezTo>
                    <a:pt x="1809115" y="0"/>
                    <a:pt x="1945640" y="136525"/>
                    <a:pt x="1945640" y="304927"/>
                  </a:cubicBezTo>
                  <a:lnTo>
                    <a:pt x="1945640" y="323977"/>
                  </a:lnTo>
                  <a:cubicBezTo>
                    <a:pt x="1945640" y="492379"/>
                    <a:pt x="1809115" y="628904"/>
                    <a:pt x="164071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61988" y="7214616"/>
            <a:ext cx="1165860" cy="370332"/>
            <a:chOff x="0" y="0"/>
            <a:chExt cx="1554480" cy="4937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54480" cy="493776"/>
            </a:xfrm>
            <a:custGeom>
              <a:avLst/>
              <a:gdLst/>
              <a:ahLst/>
              <a:cxnLst/>
              <a:rect r="r" b="b" t="t" l="l"/>
              <a:pathLst>
                <a:path h="493776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41" r="0" b="-1134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55448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VOLUME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54815" y="4036695"/>
            <a:ext cx="4613910" cy="3448050"/>
            <a:chOff x="0" y="0"/>
            <a:chExt cx="6151880" cy="4597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51880" cy="4597400"/>
            </a:xfrm>
            <a:custGeom>
              <a:avLst/>
              <a:gdLst/>
              <a:ahLst/>
              <a:cxnLst/>
              <a:rect r="r" b="b" t="t" l="l"/>
              <a:pathLst>
                <a:path h="4597400" w="6151880">
                  <a:moveTo>
                    <a:pt x="0" y="257429"/>
                  </a:moveTo>
                  <a:cubicBezTo>
                    <a:pt x="0" y="115316"/>
                    <a:pt x="115316" y="0"/>
                    <a:pt x="257429" y="0"/>
                  </a:cubicBezTo>
                  <a:lnTo>
                    <a:pt x="5894451" y="0"/>
                  </a:lnTo>
                  <a:cubicBezTo>
                    <a:pt x="6036691" y="0"/>
                    <a:pt x="6151880" y="115316"/>
                    <a:pt x="6151880" y="257429"/>
                  </a:cubicBezTo>
                  <a:lnTo>
                    <a:pt x="6151880" y="4339971"/>
                  </a:lnTo>
                  <a:cubicBezTo>
                    <a:pt x="6151880" y="4482211"/>
                    <a:pt x="6036564" y="4597400"/>
                    <a:pt x="5894451" y="4597400"/>
                  </a:cubicBezTo>
                  <a:lnTo>
                    <a:pt x="257429" y="4597400"/>
                  </a:lnTo>
                  <a:cubicBezTo>
                    <a:pt x="115316" y="4597400"/>
                    <a:pt x="0" y="4482084"/>
                    <a:pt x="0" y="43399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FD7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101703" y="4338447"/>
            <a:ext cx="2762250" cy="471678"/>
            <a:chOff x="0" y="0"/>
            <a:chExt cx="3683000" cy="6289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3C216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248388" y="4389120"/>
            <a:ext cx="2468880" cy="370332"/>
            <a:chOff x="0" y="0"/>
            <a:chExt cx="3291840" cy="49377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CLASSIFICAÇÃO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11228" y="5102352"/>
            <a:ext cx="4087368" cy="685800"/>
            <a:chOff x="0" y="0"/>
            <a:chExt cx="5449824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9824" cy="914400"/>
            </a:xfrm>
            <a:custGeom>
              <a:avLst/>
              <a:gdLst/>
              <a:ahLst/>
              <a:cxnLst/>
              <a:rect r="r" b="b" t="t" l="l"/>
              <a:pathLst>
                <a:path h="9144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30" r="0" b="-661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44982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Classifier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111228" y="5980176"/>
            <a:ext cx="4059936" cy="891540"/>
            <a:chOff x="0" y="0"/>
            <a:chExt cx="5413248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13248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1" r="0" b="-3873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5413248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Categorizar o fluxo em baixo, médio ou alto.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101703" y="7163943"/>
            <a:ext cx="1459230" cy="471678"/>
            <a:chOff x="0" y="0"/>
            <a:chExt cx="1945640" cy="6289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45640" cy="628904"/>
            </a:xfrm>
            <a:custGeom>
              <a:avLst/>
              <a:gdLst/>
              <a:ahLst/>
              <a:cxnLst/>
              <a:rect r="r" b="b" t="t" l="l"/>
              <a:pathLst>
                <a:path h="628904" w="194564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640713" y="0"/>
                  </a:lnTo>
                  <a:cubicBezTo>
                    <a:pt x="1809115" y="0"/>
                    <a:pt x="1945640" y="136525"/>
                    <a:pt x="1945640" y="304927"/>
                  </a:cubicBezTo>
                  <a:lnTo>
                    <a:pt x="1945640" y="323977"/>
                  </a:lnTo>
                  <a:cubicBezTo>
                    <a:pt x="1945640" y="492379"/>
                    <a:pt x="1809115" y="628904"/>
                    <a:pt x="164071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48388" y="7214616"/>
            <a:ext cx="1165860" cy="370332"/>
            <a:chOff x="0" y="0"/>
            <a:chExt cx="1554480" cy="4937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54480" cy="493776"/>
            </a:xfrm>
            <a:custGeom>
              <a:avLst/>
              <a:gdLst/>
              <a:ahLst/>
              <a:cxnLst/>
              <a:rect r="r" b="b" t="t" l="l"/>
              <a:pathLst>
                <a:path h="493776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41" r="0" b="-1134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55448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NÍVEL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154680" y="8366760"/>
            <a:ext cx="11795760" cy="548640"/>
            <a:chOff x="0" y="0"/>
            <a:chExt cx="1572768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72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57276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 etapas são analiticamente relacionadas, mas não dependem umas das outras para funcionar.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38554" y="1424177"/>
            <a:ext cx="1908812" cy="57152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4290" y="986409"/>
            <a:ext cx="15636240" cy="630936"/>
            <a:chOff x="0" y="0"/>
            <a:chExt cx="20848320" cy="8412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IDENTIFICANDO PADRÕES — K-MEANS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0867" y="1979295"/>
            <a:ext cx="5642610" cy="6671310"/>
            <a:chOff x="0" y="0"/>
            <a:chExt cx="7523480" cy="889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234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523480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7266559" y="0"/>
                  </a:lnTo>
                  <a:cubicBezTo>
                    <a:pt x="7408418" y="0"/>
                    <a:pt x="7523480" y="115062"/>
                    <a:pt x="7523480" y="256921"/>
                  </a:cubicBezTo>
                  <a:lnTo>
                    <a:pt x="7523480" y="8638159"/>
                  </a:lnTo>
                  <a:cubicBezTo>
                    <a:pt x="7523480" y="8780018"/>
                    <a:pt x="7408418" y="8895080"/>
                    <a:pt x="7266559" y="8895080"/>
                  </a:cubicBezTo>
                  <a:lnTo>
                    <a:pt x="256921" y="8895080"/>
                  </a:lnTo>
                  <a:cubicBezTo>
                    <a:pt x="115062" y="8895080"/>
                    <a:pt x="0" y="8780018"/>
                    <a:pt x="0" y="86381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400300"/>
            <a:ext cx="1645920" cy="329184"/>
            <a:chOff x="0" y="0"/>
            <a:chExt cx="2194560" cy="43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872" y="2948940"/>
            <a:ext cx="1303020" cy="480060"/>
            <a:chOff x="0" y="0"/>
            <a:chExt cx="173736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73736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578608" y="3031236"/>
            <a:ext cx="3223260" cy="329184"/>
            <a:chOff x="0" y="0"/>
            <a:chExt cx="4297680" cy="43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680" cy="438912"/>
            </a:xfrm>
            <a:custGeom>
              <a:avLst/>
              <a:gdLst/>
              <a:ahLst/>
              <a:cxnLst/>
              <a:rect r="r" b="b" t="t" l="l"/>
              <a:pathLst>
                <a:path h="43891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2976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quipamentos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1872" y="4073652"/>
            <a:ext cx="1303020" cy="480060"/>
            <a:chOff x="0" y="0"/>
            <a:chExt cx="17373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736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73736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78608" y="4155948"/>
            <a:ext cx="3223260" cy="329184"/>
            <a:chOff x="0" y="0"/>
            <a:chExt cx="429768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438912"/>
            </a:xfrm>
            <a:custGeom>
              <a:avLst/>
              <a:gdLst/>
              <a:ahLst/>
              <a:cxnLst/>
              <a:rect r="r" b="b" t="t" l="l"/>
              <a:pathLst>
                <a:path h="43891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2976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aixas de velocidade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1872" y="5198364"/>
            <a:ext cx="1303020" cy="480060"/>
            <a:chOff x="0" y="0"/>
            <a:chExt cx="173736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3736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173736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78608" y="5280660"/>
            <a:ext cx="3223260" cy="329184"/>
            <a:chOff x="0" y="0"/>
            <a:chExt cx="429768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7680" cy="438912"/>
            </a:xfrm>
            <a:custGeom>
              <a:avLst/>
              <a:gdLst/>
              <a:ahLst/>
              <a:cxnLst/>
              <a:rect r="r" b="b" t="t" l="l"/>
              <a:pathLst>
                <a:path h="43891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2976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erfil relativo por equipamento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1872" y="6323076"/>
            <a:ext cx="1303020" cy="480060"/>
            <a:chOff x="0" y="0"/>
            <a:chExt cx="173736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736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73736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78608" y="6405372"/>
            <a:ext cx="3223260" cy="329184"/>
            <a:chOff x="0" y="0"/>
            <a:chExt cx="429768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97680" cy="438912"/>
            </a:xfrm>
            <a:custGeom>
              <a:avLst/>
              <a:gdLst/>
              <a:ahLst/>
              <a:cxnLst/>
              <a:rect r="r" b="b" t="t" l="l"/>
              <a:pathLst>
                <a:path h="43891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2976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lusters analisados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1872" y="7406640"/>
            <a:ext cx="1508760" cy="315468"/>
            <a:chOff x="0" y="0"/>
            <a:chExt cx="2011680" cy="4206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0" cy="420624"/>
            </a:xfrm>
            <a:custGeom>
              <a:avLst/>
              <a:gdLst/>
              <a:ahLst/>
              <a:cxnLst/>
              <a:rect r="r" b="b" t="t" l="l"/>
              <a:pathLst>
                <a:path h="42062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89" r="0" b="-431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11680" cy="4587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Critérios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61872" y="7845552"/>
            <a:ext cx="4594860" cy="466344"/>
            <a:chOff x="0" y="0"/>
            <a:chExt cx="6126480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621792"/>
            </a:xfrm>
            <a:custGeom>
              <a:avLst/>
              <a:gdLst/>
              <a:ahLst/>
              <a:cxnLst/>
              <a:rect r="r" b="b" t="t" l="l"/>
              <a:pathLst>
                <a:path h="6217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984" r="0" b="-14198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1264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Elbow + Silhouette + interpretação dos perfis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2320" y="2400300"/>
            <a:ext cx="2880360" cy="329184"/>
            <a:chOff x="0" y="0"/>
            <a:chExt cx="3840480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40480" cy="438912"/>
            </a:xfrm>
            <a:custGeom>
              <a:avLst/>
              <a:gdLst/>
              <a:ahLst/>
              <a:cxnLst/>
              <a:rect r="r" b="b" t="t" l="l"/>
              <a:pathLst>
                <a:path h="43891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8404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COMPARAÇÃO DE 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22795" y="2980563"/>
            <a:ext cx="9551670" cy="814578"/>
            <a:chOff x="0" y="0"/>
            <a:chExt cx="12735560" cy="10861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3556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273556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12473432" y="0"/>
                  </a:lnTo>
                  <a:cubicBezTo>
                    <a:pt x="12618212" y="0"/>
                    <a:pt x="12735560" y="117348"/>
                    <a:pt x="12735560" y="262128"/>
                  </a:cubicBezTo>
                  <a:lnTo>
                    <a:pt x="12735560" y="823976"/>
                  </a:lnTo>
                  <a:cubicBezTo>
                    <a:pt x="12735560" y="968756"/>
                    <a:pt x="12618212" y="1086104"/>
                    <a:pt x="1247343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F8F5FD"/>
            </a:solidFill>
            <a:ln w="19050" cap="sq">
              <a:solidFill>
                <a:srgbClr val="E3DCF1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434072" y="3250692"/>
            <a:ext cx="1508760" cy="274320"/>
            <a:chOff x="0" y="0"/>
            <a:chExt cx="2011680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1680" cy="365760"/>
            </a:xfrm>
            <a:custGeom>
              <a:avLst/>
              <a:gdLst/>
              <a:ahLst/>
              <a:cxnLst/>
              <a:rect r="r" b="b" t="t" l="l"/>
              <a:pathLst>
                <a:path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011680" cy="413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 = 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3289856"/>
            <a:ext cx="6377940" cy="246888"/>
            <a:chOff x="0" y="0"/>
            <a:chExt cx="8503920" cy="3291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03920" cy="329184"/>
            </a:xfrm>
            <a:custGeom>
              <a:avLst/>
              <a:gdLst/>
              <a:ahLst/>
              <a:cxnLst/>
              <a:rect r="r" b="b" t="t" l="l"/>
              <a:pathLst>
                <a:path h="329184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363" r="0" b="-45336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50392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Silhouette 0,386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22795" y="4105275"/>
            <a:ext cx="9551670" cy="814578"/>
            <a:chOff x="0" y="0"/>
            <a:chExt cx="12735560" cy="10861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73556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2735560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lnTo>
                    <a:pt x="12473432" y="0"/>
                  </a:lnTo>
                  <a:cubicBezTo>
                    <a:pt x="12618212" y="0"/>
                    <a:pt x="12735560" y="117348"/>
                    <a:pt x="12735560" y="262128"/>
                  </a:cubicBezTo>
                  <a:lnTo>
                    <a:pt x="12735560" y="823976"/>
                  </a:lnTo>
                  <a:cubicBezTo>
                    <a:pt x="12735560" y="968756"/>
                    <a:pt x="12618212" y="1086104"/>
                    <a:pt x="12473432" y="1086104"/>
                  </a:cubicBezTo>
                  <a:lnTo>
                    <a:pt x="262128" y="1086104"/>
                  </a:lnTo>
                  <a:cubicBezTo>
                    <a:pt x="117348" y="1086104"/>
                    <a:pt x="0" y="968756"/>
                    <a:pt x="0" y="823976"/>
                  </a:cubicBezTo>
                  <a:close/>
                </a:path>
              </a:pathLst>
            </a:custGeom>
            <a:solidFill>
              <a:srgbClr val="EEE6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434072" y="4375404"/>
            <a:ext cx="1508760" cy="274320"/>
            <a:chOff x="0" y="0"/>
            <a:chExt cx="2011680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11680" cy="365760"/>
            </a:xfrm>
            <a:custGeom>
              <a:avLst/>
              <a:gdLst/>
              <a:ahLst/>
              <a:cxnLst/>
              <a:rect r="r" b="b" t="t" l="l"/>
              <a:pathLst>
                <a:path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011680" cy="413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 = 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01200" y="4361688"/>
            <a:ext cx="6377940" cy="246888"/>
            <a:chOff x="0" y="0"/>
            <a:chExt cx="8503920" cy="3291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03920" cy="329184"/>
            </a:xfrm>
            <a:custGeom>
              <a:avLst/>
              <a:gdLst/>
              <a:ahLst/>
              <a:cxnLst/>
              <a:rect r="r" b="b" t="t" l="l"/>
              <a:pathLst>
                <a:path h="329184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363" r="0" b="-45336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850392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Silhouette 0,358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132320" y="5829300"/>
            <a:ext cx="3017520" cy="329184"/>
            <a:chOff x="0" y="0"/>
            <a:chExt cx="402336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3360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40233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Escolha analítica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122795" y="6368415"/>
            <a:ext cx="9551670" cy="1664970"/>
            <a:chOff x="0" y="0"/>
            <a:chExt cx="12735560" cy="2219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7355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2735560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12476607" y="0"/>
                  </a:lnTo>
                  <a:cubicBezTo>
                    <a:pt x="12619609" y="0"/>
                    <a:pt x="12735560" y="115951"/>
                    <a:pt x="12735560" y="258953"/>
                  </a:cubicBezTo>
                  <a:lnTo>
                    <a:pt x="12735560" y="1961007"/>
                  </a:lnTo>
                  <a:cubicBezTo>
                    <a:pt x="12735560" y="2104009"/>
                    <a:pt x="12619609" y="2219960"/>
                    <a:pt x="12476607" y="2219960"/>
                  </a:cubicBezTo>
                  <a:lnTo>
                    <a:pt x="258953" y="2219960"/>
                  </a:lnTo>
                  <a:cubicBezTo>
                    <a:pt x="115951" y="2219960"/>
                    <a:pt x="0" y="2104009"/>
                    <a:pt x="0" y="1961007"/>
                  </a:cubicBezTo>
                  <a:close/>
                </a:path>
              </a:pathLst>
            </a:custGeom>
            <a:solidFill>
              <a:srgbClr val="11152B"/>
            </a:solidFill>
            <a:ln w="19050" cap="sq">
              <a:solidFill>
                <a:srgbClr val="11152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498080" y="6892290"/>
            <a:ext cx="1645920" cy="617220"/>
            <a:chOff x="0" y="0"/>
            <a:chExt cx="2194560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" cy="822960"/>
            </a:xfrm>
            <a:custGeom>
              <a:avLst/>
              <a:gdLst/>
              <a:ahLst/>
              <a:cxnLst/>
              <a:rect r="r" b="b" t="t" l="l"/>
              <a:pathLst>
                <a:path h="8229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76200"/>
              <a:ext cx="219456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 = 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95460" y="6830568"/>
            <a:ext cx="6583680" cy="740664"/>
            <a:chOff x="0" y="0"/>
            <a:chExt cx="8778240" cy="9875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78240" cy="987552"/>
            </a:xfrm>
            <a:custGeom>
              <a:avLst/>
              <a:gdLst/>
              <a:ahLst/>
              <a:cxnLst/>
              <a:rect r="r" b="b" t="t" l="l"/>
              <a:pathLst>
                <a:path h="9875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77824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4DD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Maior granularidade e perfis interpretáveis para a análise.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132320" y="8325612"/>
            <a:ext cx="9326880" cy="576072"/>
            <a:chOff x="0" y="0"/>
            <a:chExt cx="12435840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435840" cy="768096"/>
            </a:xfrm>
            <a:custGeom>
              <a:avLst/>
              <a:gdLst/>
              <a:ahLst/>
              <a:cxnLst/>
              <a:rect r="r" b="b" t="t" l="l"/>
              <a:pathLst>
                <a:path h="768096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472" r="0" b="-26547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24358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Importante: K=2 tinha a melhor Silhouette, mas K=4 respondeu melhor ao objetivo analítico do projeto.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7262479" cy="4535641"/>
          </a:xfrm>
          <a:custGeom>
            <a:avLst/>
            <a:gdLst/>
            <a:ahLst/>
            <a:cxnLst/>
            <a:rect r="r" b="b" t="t" l="l"/>
            <a:pathLst>
              <a:path h="4535641" w="7262479">
                <a:moveTo>
                  <a:pt x="0" y="0"/>
                </a:moveTo>
                <a:lnTo>
                  <a:pt x="7262479" y="0"/>
                </a:lnTo>
                <a:lnTo>
                  <a:pt x="7262479" y="4535641"/>
                </a:lnTo>
                <a:lnTo>
                  <a:pt x="0" y="453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44323" y="0"/>
            <a:ext cx="7214977" cy="4535641"/>
          </a:xfrm>
          <a:custGeom>
            <a:avLst/>
            <a:gdLst/>
            <a:ahLst/>
            <a:cxnLst/>
            <a:rect r="r" b="b" t="t" l="l"/>
            <a:pathLst>
              <a:path h="4535641" w="7214977">
                <a:moveTo>
                  <a:pt x="0" y="0"/>
                </a:moveTo>
                <a:lnTo>
                  <a:pt x="7214977" y="0"/>
                </a:lnTo>
                <a:lnTo>
                  <a:pt x="7214977" y="4535641"/>
                </a:lnTo>
                <a:lnTo>
                  <a:pt x="0" y="4535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8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35641"/>
            <a:ext cx="9330170" cy="5751359"/>
          </a:xfrm>
          <a:custGeom>
            <a:avLst/>
            <a:gdLst/>
            <a:ahLst/>
            <a:cxnLst/>
            <a:rect r="r" b="b" t="t" l="l"/>
            <a:pathLst>
              <a:path h="5751359" w="9330170">
                <a:moveTo>
                  <a:pt x="0" y="0"/>
                </a:moveTo>
                <a:lnTo>
                  <a:pt x="9330170" y="0"/>
                </a:lnTo>
                <a:lnTo>
                  <a:pt x="9330170" y="5751359"/>
                </a:lnTo>
                <a:lnTo>
                  <a:pt x="0" y="5751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30170" y="4535641"/>
            <a:ext cx="8957830" cy="5751359"/>
          </a:xfrm>
          <a:custGeom>
            <a:avLst/>
            <a:gdLst/>
            <a:ahLst/>
            <a:cxnLst/>
            <a:rect r="r" b="b" t="t" l="l"/>
            <a:pathLst>
              <a:path h="5751359" w="8957830">
                <a:moveTo>
                  <a:pt x="0" y="0"/>
                </a:moveTo>
                <a:lnTo>
                  <a:pt x="8957830" y="0"/>
                </a:lnTo>
                <a:lnTo>
                  <a:pt x="8957830" y="5751359"/>
                </a:lnTo>
                <a:lnTo>
                  <a:pt x="0" y="5751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88" r="0" b="-188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54380" y="308107"/>
            <a:ext cx="8192861" cy="782817"/>
            <a:chOff x="0" y="0"/>
            <a:chExt cx="10923815" cy="1043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23815" cy="1043756"/>
            </a:xfrm>
            <a:custGeom>
              <a:avLst/>
              <a:gdLst/>
              <a:ahLst/>
              <a:cxnLst/>
              <a:rect r="r" b="b" t="t" l="l"/>
              <a:pathLst>
                <a:path h="1043756" w="10923815">
                  <a:moveTo>
                    <a:pt x="0" y="0"/>
                  </a:moveTo>
                  <a:lnTo>
                    <a:pt x="10923815" y="0"/>
                  </a:lnTo>
                  <a:lnTo>
                    <a:pt x="10923815" y="1043756"/>
                  </a:lnTo>
                  <a:lnTo>
                    <a:pt x="0" y="1043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8901" r="-90852" b="-32949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0923815" cy="1119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PERFIS DE TRÁFEGO IDENTIFICADOS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 clusters diferem principalmente pela faixa de velocidade dominante.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015" y="1979295"/>
            <a:ext cx="3749802" cy="6739890"/>
            <a:chOff x="0" y="0"/>
            <a:chExt cx="4999736" cy="8986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99736" cy="8986520"/>
            </a:xfrm>
            <a:custGeom>
              <a:avLst/>
              <a:gdLst/>
              <a:ahLst/>
              <a:cxnLst/>
              <a:rect r="r" b="b" t="t" l="l"/>
              <a:pathLst>
                <a:path h="8986520" w="4999736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742434" y="0"/>
                  </a:lnTo>
                  <a:cubicBezTo>
                    <a:pt x="4884547" y="0"/>
                    <a:pt x="4999736" y="115189"/>
                    <a:pt x="4999736" y="257302"/>
                  </a:cubicBezTo>
                  <a:lnTo>
                    <a:pt x="4999736" y="8729218"/>
                  </a:lnTo>
                  <a:cubicBezTo>
                    <a:pt x="4999736" y="8871331"/>
                    <a:pt x="4884547" y="8986520"/>
                    <a:pt x="4742434" y="8986520"/>
                  </a:cubicBezTo>
                  <a:lnTo>
                    <a:pt x="257302" y="8986520"/>
                  </a:lnTo>
                  <a:cubicBezTo>
                    <a:pt x="115189" y="8986520"/>
                    <a:pt x="0" y="8871331"/>
                    <a:pt x="0" y="87292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38428" y="2359152"/>
            <a:ext cx="822960" cy="384048"/>
            <a:chOff x="0" y="0"/>
            <a:chExt cx="109728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16252" y="2386584"/>
            <a:ext cx="2125980" cy="301752"/>
            <a:chOff x="0" y="0"/>
            <a:chExt cx="2834640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346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 equipamentos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8428" y="3017520"/>
            <a:ext cx="3127248" cy="658368"/>
            <a:chOff x="0" y="0"/>
            <a:chExt cx="4169664" cy="877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69664" cy="877824"/>
            </a:xfrm>
            <a:custGeom>
              <a:avLst/>
              <a:gdLst/>
              <a:ahLst/>
              <a:cxnLst/>
              <a:rect r="r" b="b" t="t" l="l"/>
              <a:pathLst>
                <a:path h="87782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16966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31–40 km/h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8428" y="3950208"/>
            <a:ext cx="3127248" cy="274320"/>
            <a:chOff x="0" y="0"/>
            <a:chExt cx="4169664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69664" cy="365760"/>
            </a:xfrm>
            <a:custGeom>
              <a:avLst/>
              <a:gdLst/>
              <a:ahLst/>
              <a:cxnLst/>
              <a:rect r="r" b="b" t="t" l="l"/>
              <a:pathLst>
                <a:path h="36576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1696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 aproximado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4247" y="1979295"/>
            <a:ext cx="3749802" cy="6739890"/>
            <a:chOff x="0" y="0"/>
            <a:chExt cx="4999736" cy="8986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99736" cy="8986520"/>
            </a:xfrm>
            <a:custGeom>
              <a:avLst/>
              <a:gdLst/>
              <a:ahLst/>
              <a:cxnLst/>
              <a:rect r="r" b="b" t="t" l="l"/>
              <a:pathLst>
                <a:path h="8986520" w="4999736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742434" y="0"/>
                  </a:lnTo>
                  <a:cubicBezTo>
                    <a:pt x="4884547" y="0"/>
                    <a:pt x="4999736" y="115189"/>
                    <a:pt x="4999736" y="257302"/>
                  </a:cubicBezTo>
                  <a:lnTo>
                    <a:pt x="4999736" y="8729218"/>
                  </a:lnTo>
                  <a:cubicBezTo>
                    <a:pt x="4999736" y="8871331"/>
                    <a:pt x="4884547" y="8986520"/>
                    <a:pt x="4742434" y="8986520"/>
                  </a:cubicBezTo>
                  <a:lnTo>
                    <a:pt x="257302" y="8986520"/>
                  </a:lnTo>
                  <a:cubicBezTo>
                    <a:pt x="115189" y="8986520"/>
                    <a:pt x="0" y="8871331"/>
                    <a:pt x="0" y="87292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80660" y="2359152"/>
            <a:ext cx="822960" cy="384048"/>
            <a:chOff x="0" y="0"/>
            <a:chExt cx="109728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972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58484" y="2386584"/>
            <a:ext cx="2125980" cy="301752"/>
            <a:chOff x="0" y="0"/>
            <a:chExt cx="283464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8346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equipamentos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80660" y="3017520"/>
            <a:ext cx="3127248" cy="658368"/>
            <a:chOff x="0" y="0"/>
            <a:chExt cx="416966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9664" cy="877824"/>
            </a:xfrm>
            <a:custGeom>
              <a:avLst/>
              <a:gdLst/>
              <a:ahLst/>
              <a:cxnLst/>
              <a:rect r="r" b="b" t="t" l="l"/>
              <a:pathLst>
                <a:path h="87782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16966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41–50 + 51–60 km/h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80660" y="3950208"/>
            <a:ext cx="3127248" cy="274320"/>
            <a:chOff x="0" y="0"/>
            <a:chExt cx="4169664" cy="365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69664" cy="365760"/>
            </a:xfrm>
            <a:custGeom>
              <a:avLst/>
              <a:gdLst/>
              <a:ahLst/>
              <a:cxnLst/>
              <a:rect r="r" b="b" t="t" l="l"/>
              <a:pathLst>
                <a:path h="36576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1696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 aproximado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66479" y="1979295"/>
            <a:ext cx="3749802" cy="6739890"/>
            <a:chOff x="0" y="0"/>
            <a:chExt cx="4999736" cy="8986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9736" cy="8986520"/>
            </a:xfrm>
            <a:custGeom>
              <a:avLst/>
              <a:gdLst/>
              <a:ahLst/>
              <a:cxnLst/>
              <a:rect r="r" b="b" t="t" l="l"/>
              <a:pathLst>
                <a:path h="8986520" w="4999736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742434" y="0"/>
                  </a:lnTo>
                  <a:cubicBezTo>
                    <a:pt x="4884547" y="0"/>
                    <a:pt x="4999736" y="115189"/>
                    <a:pt x="4999736" y="257302"/>
                  </a:cubicBezTo>
                  <a:lnTo>
                    <a:pt x="4999736" y="8729218"/>
                  </a:lnTo>
                  <a:cubicBezTo>
                    <a:pt x="4999736" y="8871331"/>
                    <a:pt x="4884547" y="8986520"/>
                    <a:pt x="4742434" y="8986520"/>
                  </a:cubicBezTo>
                  <a:lnTo>
                    <a:pt x="257302" y="8986520"/>
                  </a:lnTo>
                  <a:cubicBezTo>
                    <a:pt x="115189" y="8986520"/>
                    <a:pt x="0" y="8871331"/>
                    <a:pt x="0" y="87292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422892" y="2359152"/>
            <a:ext cx="822960" cy="384048"/>
            <a:chOff x="0" y="0"/>
            <a:chExt cx="109728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972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300716" y="2386584"/>
            <a:ext cx="2125980" cy="301752"/>
            <a:chOff x="0" y="0"/>
            <a:chExt cx="2834640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8346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equipamentos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22892" y="3017520"/>
            <a:ext cx="3127248" cy="658368"/>
            <a:chOff x="0" y="0"/>
            <a:chExt cx="416966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877824"/>
            </a:xfrm>
            <a:custGeom>
              <a:avLst/>
              <a:gdLst/>
              <a:ahLst/>
              <a:cxnLst/>
              <a:rect r="r" b="b" t="t" l="l"/>
              <a:pathLst>
                <a:path h="87782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16966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41–50 km/h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2892" y="3950208"/>
            <a:ext cx="3127248" cy="274320"/>
            <a:chOff x="0" y="0"/>
            <a:chExt cx="4169664" cy="3657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365760"/>
            </a:xfrm>
            <a:custGeom>
              <a:avLst/>
              <a:gdLst/>
              <a:ahLst/>
              <a:cxnLst/>
              <a:rect r="r" b="b" t="t" l="l"/>
              <a:pathLst>
                <a:path h="36576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41696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 aproximado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08711" y="1979295"/>
            <a:ext cx="3749802" cy="6739890"/>
            <a:chOff x="0" y="0"/>
            <a:chExt cx="4999736" cy="8986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99736" cy="8986520"/>
            </a:xfrm>
            <a:custGeom>
              <a:avLst/>
              <a:gdLst/>
              <a:ahLst/>
              <a:cxnLst/>
              <a:rect r="r" b="b" t="t" l="l"/>
              <a:pathLst>
                <a:path h="8986520" w="4999736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742434" y="0"/>
                  </a:lnTo>
                  <a:cubicBezTo>
                    <a:pt x="4884547" y="0"/>
                    <a:pt x="4999736" y="115189"/>
                    <a:pt x="4999736" y="257302"/>
                  </a:cubicBezTo>
                  <a:lnTo>
                    <a:pt x="4999736" y="8729218"/>
                  </a:lnTo>
                  <a:cubicBezTo>
                    <a:pt x="4999736" y="8871331"/>
                    <a:pt x="4884547" y="8986520"/>
                    <a:pt x="4742434" y="8986520"/>
                  </a:cubicBezTo>
                  <a:lnTo>
                    <a:pt x="257302" y="8986520"/>
                  </a:lnTo>
                  <a:cubicBezTo>
                    <a:pt x="115189" y="8986520"/>
                    <a:pt x="0" y="8871331"/>
                    <a:pt x="0" y="87292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565124" y="2359152"/>
            <a:ext cx="822960" cy="384048"/>
            <a:chOff x="0" y="0"/>
            <a:chExt cx="1097280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972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442948" y="2386584"/>
            <a:ext cx="2125980" cy="301752"/>
            <a:chOff x="0" y="0"/>
            <a:chExt cx="283464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8346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equipamentos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565124" y="3017520"/>
            <a:ext cx="3127248" cy="658368"/>
            <a:chOff x="0" y="0"/>
            <a:chExt cx="4169664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69664" cy="877824"/>
            </a:xfrm>
            <a:custGeom>
              <a:avLst/>
              <a:gdLst/>
              <a:ahLst/>
              <a:cxnLst/>
              <a:rect r="r" b="b" t="t" l="l"/>
              <a:pathLst>
                <a:path h="87782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16966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21–30 km/h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565124" y="3950208"/>
            <a:ext cx="3127248" cy="274320"/>
            <a:chOff x="0" y="0"/>
            <a:chExt cx="4169664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69664" cy="365760"/>
            </a:xfrm>
            <a:custGeom>
              <a:avLst/>
              <a:gdLst/>
              <a:ahLst/>
              <a:cxnLst/>
              <a:rect r="r" b="b" t="t" l="l"/>
              <a:pathLst>
                <a:path h="36576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1696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 aproximado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851660" y="8983980"/>
            <a:ext cx="14538960" cy="466344"/>
            <a:chOff x="0" y="0"/>
            <a:chExt cx="19385280" cy="6217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385280" cy="621792"/>
            </a:xfrm>
            <a:custGeom>
              <a:avLst/>
              <a:gdLst/>
              <a:ahLst/>
              <a:cxnLst/>
              <a:rect r="r" b="b" t="t" l="l"/>
              <a:pathLst>
                <a:path h="621792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7474" r="0" b="-5574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938528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4"/>
                </a:lnSpc>
              </a:pPr>
              <a:r>
                <a:rPr lang="en-US" sz="1620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Resultado: a clusterização foi útil para segmentação e interpretação. Quando usada como feature preditiva, o ganho foi pequeno.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817370" y="6973966"/>
            <a:ext cx="1879092" cy="1527421"/>
            <a:chOff x="0" y="0"/>
            <a:chExt cx="2505456" cy="2036561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564896"/>
              <a:ext cx="1280160" cy="310896"/>
              <a:chOff x="0" y="0"/>
              <a:chExt cx="1280160" cy="310896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41–50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316736" y="564896"/>
              <a:ext cx="1188720" cy="337809"/>
              <a:chOff x="0" y="0"/>
              <a:chExt cx="1188720" cy="33780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25.8%</a:t>
                </a: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0" y="1131824"/>
              <a:ext cx="1280160" cy="310896"/>
              <a:chOff x="0" y="0"/>
              <a:chExt cx="1280160" cy="310896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31–40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316736" y="1131824"/>
              <a:ext cx="1188720" cy="337809"/>
              <a:chOff x="0" y="0"/>
              <a:chExt cx="1188720" cy="337809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50.2%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0" y="1698752"/>
              <a:ext cx="1280160" cy="310896"/>
              <a:chOff x="0" y="0"/>
              <a:chExt cx="1280160" cy="310896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21–30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1316736" y="1698752"/>
              <a:ext cx="1188720" cy="337809"/>
              <a:chOff x="0" y="0"/>
              <a:chExt cx="1188720" cy="337809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16.1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0" y="0"/>
              <a:ext cx="1280160" cy="337809"/>
              <a:chOff x="0" y="0"/>
              <a:chExt cx="1280160" cy="337809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28016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823" r="0" b="-19857"/>
                </a:stretch>
              </a:blip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28575"/>
                <a:ext cx="128016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</a:t>
                </a: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1–60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1316736" y="0"/>
              <a:ext cx="1188720" cy="337809"/>
              <a:chOff x="0" y="0"/>
              <a:chExt cx="1188720" cy="337809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2.4%</a:t>
                </a:r>
              </a:p>
            </p:txBody>
          </p:sp>
        </p:grpSp>
      </p:grpSp>
      <p:grpSp>
        <p:nvGrpSpPr>
          <p:cNvPr name="Group 95" id="95"/>
          <p:cNvGrpSpPr/>
          <p:nvPr/>
        </p:nvGrpSpPr>
        <p:grpSpPr>
          <a:xfrm rot="0">
            <a:off x="5959602" y="6973966"/>
            <a:ext cx="1879092" cy="1527421"/>
            <a:chOff x="0" y="0"/>
            <a:chExt cx="2505456" cy="2036561"/>
          </a:xfrm>
        </p:grpSpPr>
        <p:grpSp>
          <p:nvGrpSpPr>
            <p:cNvPr name="Group 96" id="96"/>
            <p:cNvGrpSpPr/>
            <p:nvPr/>
          </p:nvGrpSpPr>
          <p:grpSpPr>
            <a:xfrm rot="0">
              <a:off x="0" y="564896"/>
              <a:ext cx="1280160" cy="310896"/>
              <a:chOff x="0" y="0"/>
              <a:chExt cx="1280160" cy="310896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41–50</a:t>
                </a: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1316736" y="564896"/>
              <a:ext cx="1188720" cy="337809"/>
              <a:chOff x="0" y="0"/>
              <a:chExt cx="1188720" cy="337809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51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.4%</a:t>
                </a: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0" y="1131824"/>
              <a:ext cx="1280160" cy="310896"/>
              <a:chOff x="0" y="0"/>
              <a:chExt cx="1280160" cy="310896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31–40</a:t>
                </a: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1316736" y="1131824"/>
              <a:ext cx="1188720" cy="337809"/>
              <a:chOff x="0" y="0"/>
              <a:chExt cx="1188720" cy="337809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.3%</a:t>
                </a: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0" y="1698752"/>
              <a:ext cx="1280160" cy="310896"/>
              <a:chOff x="0" y="0"/>
              <a:chExt cx="1280160" cy="310896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21–30</a:t>
                </a: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1316736" y="1698752"/>
              <a:ext cx="1188720" cy="337809"/>
              <a:chOff x="0" y="0"/>
              <a:chExt cx="1188720" cy="337809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02.7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0" y="0"/>
              <a:ext cx="1280160" cy="337809"/>
              <a:chOff x="0" y="0"/>
              <a:chExt cx="1280160" cy="337809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128016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823" r="0" b="-19857"/>
                </a:stretch>
              </a:blipFill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28575"/>
                <a:ext cx="128016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</a:t>
                </a: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1–60</a:t>
                </a: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1316736" y="0"/>
              <a:ext cx="1188720" cy="337809"/>
              <a:chOff x="0" y="0"/>
              <a:chExt cx="1188720" cy="337809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31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.7%</a:t>
                </a:r>
              </a:p>
            </p:txBody>
          </p:sp>
        </p:grpSp>
      </p:grpSp>
      <p:grpSp>
        <p:nvGrpSpPr>
          <p:cNvPr name="Group 120" id="120"/>
          <p:cNvGrpSpPr/>
          <p:nvPr/>
        </p:nvGrpSpPr>
        <p:grpSpPr>
          <a:xfrm rot="0">
            <a:off x="10101834" y="6973966"/>
            <a:ext cx="1879092" cy="1527421"/>
            <a:chOff x="0" y="0"/>
            <a:chExt cx="2505456" cy="2036561"/>
          </a:xfrm>
        </p:grpSpPr>
        <p:grpSp>
          <p:nvGrpSpPr>
            <p:cNvPr name="Group 121" id="121"/>
            <p:cNvGrpSpPr/>
            <p:nvPr/>
          </p:nvGrpSpPr>
          <p:grpSpPr>
            <a:xfrm rot="0">
              <a:off x="0" y="564896"/>
              <a:ext cx="1280160" cy="310896"/>
              <a:chOff x="0" y="0"/>
              <a:chExt cx="1280160" cy="310896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41–50</a:t>
                </a: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316736" y="564896"/>
              <a:ext cx="1188720" cy="337809"/>
              <a:chOff x="0" y="0"/>
              <a:chExt cx="1188720" cy="337809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50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.8%</a:t>
                </a: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0" y="1131824"/>
              <a:ext cx="1280160" cy="310896"/>
              <a:chOff x="0" y="0"/>
              <a:chExt cx="1280160" cy="310896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31–40</a:t>
                </a: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316736" y="1131824"/>
              <a:ext cx="1188720" cy="337809"/>
              <a:chOff x="0" y="0"/>
              <a:chExt cx="1188720" cy="337809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18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.6%</a:t>
                </a: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0" y="1698752"/>
              <a:ext cx="1280160" cy="310896"/>
              <a:chOff x="0" y="0"/>
              <a:chExt cx="1280160" cy="310896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21–30</a:t>
                </a: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1316736" y="1698752"/>
              <a:ext cx="1188720" cy="337809"/>
              <a:chOff x="0" y="0"/>
              <a:chExt cx="1188720" cy="337809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05.3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0" y="0"/>
              <a:ext cx="1280160" cy="337809"/>
              <a:chOff x="0" y="0"/>
              <a:chExt cx="1280160" cy="337809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128016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823" r="0" b="-19857"/>
                </a:stretch>
              </a:blip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0" y="-28575"/>
                <a:ext cx="128016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</a:t>
                </a: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1–60</a:t>
                </a: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316736" y="0"/>
              <a:ext cx="1188720" cy="337809"/>
              <a:chOff x="0" y="0"/>
              <a:chExt cx="1188720" cy="337809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21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.3%</a:t>
                </a:r>
              </a:p>
            </p:txBody>
          </p:sp>
        </p:grpSp>
      </p:grpSp>
      <p:grpSp>
        <p:nvGrpSpPr>
          <p:cNvPr name="Group 145" id="145"/>
          <p:cNvGrpSpPr/>
          <p:nvPr/>
        </p:nvGrpSpPr>
        <p:grpSpPr>
          <a:xfrm rot="0">
            <a:off x="14244066" y="6973966"/>
            <a:ext cx="1879092" cy="1527421"/>
            <a:chOff x="0" y="0"/>
            <a:chExt cx="2505456" cy="2036561"/>
          </a:xfrm>
        </p:grpSpPr>
        <p:grpSp>
          <p:nvGrpSpPr>
            <p:cNvPr name="Group 146" id="146"/>
            <p:cNvGrpSpPr/>
            <p:nvPr/>
          </p:nvGrpSpPr>
          <p:grpSpPr>
            <a:xfrm rot="0">
              <a:off x="0" y="564896"/>
              <a:ext cx="1280160" cy="310896"/>
              <a:chOff x="0" y="0"/>
              <a:chExt cx="1280160" cy="310896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41–50</a:t>
                </a: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1316736" y="564896"/>
              <a:ext cx="1188720" cy="337809"/>
              <a:chOff x="0" y="0"/>
              <a:chExt cx="1188720" cy="337809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08.1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0" y="1131824"/>
              <a:ext cx="1280160" cy="310896"/>
              <a:chOff x="0" y="0"/>
              <a:chExt cx="1280160" cy="310896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31–40</a:t>
                </a: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1316736" y="1131824"/>
              <a:ext cx="1188720" cy="337809"/>
              <a:chOff x="0" y="0"/>
              <a:chExt cx="1188720" cy="337809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25.0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0" y="1698752"/>
              <a:ext cx="1280160" cy="310896"/>
              <a:chOff x="0" y="0"/>
              <a:chExt cx="1280160" cy="310896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1280160" cy="310896"/>
              </a:xfrm>
              <a:custGeom>
                <a:avLst/>
                <a:gdLst/>
                <a:ahLst/>
                <a:cxnLst/>
                <a:rect r="r" b="b" t="t" l="l"/>
                <a:pathLst>
                  <a:path h="310896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10896"/>
                    </a:lnTo>
                    <a:lnTo>
                      <a:pt x="0" y="31089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0" y="-28575"/>
                <a:ext cx="1280160" cy="3394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21–30</a:t>
                </a:r>
              </a:p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1316736" y="1698752"/>
              <a:ext cx="1188720" cy="337809"/>
              <a:chOff x="0" y="0"/>
              <a:chExt cx="1188720" cy="337809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43.2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0" y="0"/>
              <a:ext cx="1280160" cy="337809"/>
              <a:chOff x="0" y="0"/>
              <a:chExt cx="1280160" cy="337809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128016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823" r="0" b="-19857"/>
                </a:stretch>
              </a:blipFill>
            </p:spPr>
          </p:sp>
          <p:sp>
            <p:nvSpPr>
              <p:cNvPr name="TextBox 166" id="166"/>
              <p:cNvSpPr txBox="true"/>
              <p:nvPr/>
            </p:nvSpPr>
            <p:spPr>
              <a:xfrm>
                <a:off x="0" y="-28575"/>
                <a:ext cx="128016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5</a:t>
                </a:r>
                <a:r>
                  <a:rPr lang="en-US" sz="1275">
                    <a:solidFill>
                      <a:srgbClr val="71708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1–60</a:t>
                </a:r>
              </a:p>
            </p:txBody>
          </p:sp>
        </p:grpSp>
        <p:grpSp>
          <p:nvGrpSpPr>
            <p:cNvPr name="Group 167" id="167"/>
            <p:cNvGrpSpPr/>
            <p:nvPr/>
          </p:nvGrpSpPr>
          <p:grpSpPr>
            <a:xfrm rot="0">
              <a:off x="1316736" y="0"/>
              <a:ext cx="1188720" cy="337809"/>
              <a:chOff x="0" y="0"/>
              <a:chExt cx="1188720" cy="337809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1188720" cy="337809"/>
              </a:xfrm>
              <a:custGeom>
                <a:avLst/>
                <a:gdLst/>
                <a:ahLst/>
                <a:cxnLst/>
                <a:rect r="r" b="b" t="t" l="l"/>
                <a:pathLst>
                  <a:path h="337809" w="1188720">
                    <a:moveTo>
                      <a:pt x="0" y="0"/>
                    </a:moveTo>
                    <a:lnTo>
                      <a:pt x="1188720" y="0"/>
                    </a:lnTo>
                    <a:lnTo>
                      <a:pt x="1188720" y="337809"/>
                    </a:lnTo>
                    <a:lnTo>
                      <a:pt x="0" y="33780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549" r="0" b="-14582"/>
                </a:stretch>
              </a:blipFill>
            </p:spPr>
          </p:sp>
          <p:sp>
            <p:nvSpPr>
              <p:cNvPr name="TextBox 169" id="169"/>
              <p:cNvSpPr txBox="true"/>
              <p:nvPr/>
            </p:nvSpPr>
            <p:spPr>
              <a:xfrm>
                <a:off x="0" y="-28575"/>
                <a:ext cx="1188720" cy="3663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30"/>
                  </a:lnSpc>
                </a:pP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00.9</a:t>
                </a:r>
                <a:r>
                  <a:rPr lang="en-US" sz="1275" b="true">
                    <a:solidFill>
                      <a:srgbClr val="1B17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%</a:t>
                </a:r>
              </a:p>
            </p:txBody>
          </p:sp>
        </p:grpSp>
      </p:grpSp>
      <p:pic>
        <p:nvPicPr>
          <p:cNvPr name="Picture 170" id="17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4634" y="3990823"/>
            <a:ext cx="3604565" cy="3080369"/>
          </a:xfrm>
          <a:prstGeom prst="rect">
            <a:avLst/>
          </a:prstGeom>
        </p:spPr>
      </p:pic>
      <p:pic>
        <p:nvPicPr>
          <p:cNvPr name="Picture 171" id="17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96866" y="3990823"/>
            <a:ext cx="3604565" cy="3080369"/>
          </a:xfrm>
          <a:prstGeom prst="rect">
            <a:avLst/>
          </a:prstGeom>
        </p:spPr>
      </p:pic>
      <p:pic>
        <p:nvPicPr>
          <p:cNvPr name="Picture 172" id="17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39098" y="3990823"/>
            <a:ext cx="3604565" cy="3080369"/>
          </a:xfrm>
          <a:prstGeom prst="rect">
            <a:avLst/>
          </a:prstGeom>
        </p:spPr>
      </p:pic>
      <p:pic>
        <p:nvPicPr>
          <p:cNvPr name="Picture 173" id="17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81330" y="3990823"/>
            <a:ext cx="3604565" cy="3080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384048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PREVENDO O VOLUME DE VEÍCULOS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Modelagem temporal com treino no passado e teste no futuro.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0867" y="1979295"/>
            <a:ext cx="4751070" cy="1596390"/>
            <a:chOff x="0" y="0"/>
            <a:chExt cx="6334760" cy="2128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34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33476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6075680" y="0"/>
                  </a:lnTo>
                  <a:cubicBezTo>
                    <a:pt x="6218809" y="0"/>
                    <a:pt x="6334760" y="116078"/>
                    <a:pt x="6334760" y="259080"/>
                  </a:cubicBezTo>
                  <a:lnTo>
                    <a:pt x="6334760" y="1869440"/>
                  </a:lnTo>
                  <a:cubicBezTo>
                    <a:pt x="6334760" y="2012569"/>
                    <a:pt x="6218682" y="2128520"/>
                    <a:pt x="607568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07008" y="2290572"/>
            <a:ext cx="1234440" cy="274320"/>
            <a:chOff x="0" y="0"/>
            <a:chExt cx="1645920" cy="365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" cy="365760"/>
            </a:xfrm>
            <a:custGeom>
              <a:avLst/>
              <a:gdLst/>
              <a:ahLst/>
              <a:cxnLst/>
              <a:rect r="r" b="b" t="t" l="l"/>
              <a:pathLst>
                <a:path h="3657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592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TREINO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7008" y="2743200"/>
            <a:ext cx="3634740" cy="411480"/>
            <a:chOff x="0" y="0"/>
            <a:chExt cx="484632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46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Jan → Abr / 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82615" y="1979295"/>
            <a:ext cx="4751070" cy="1596390"/>
            <a:chOff x="0" y="0"/>
            <a:chExt cx="6334760" cy="2128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4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33476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6075680" y="0"/>
                  </a:lnTo>
                  <a:cubicBezTo>
                    <a:pt x="6218809" y="0"/>
                    <a:pt x="6334760" y="116078"/>
                    <a:pt x="6334760" y="259080"/>
                  </a:cubicBezTo>
                  <a:lnTo>
                    <a:pt x="6334760" y="1869440"/>
                  </a:lnTo>
                  <a:cubicBezTo>
                    <a:pt x="6334760" y="2012569"/>
                    <a:pt x="6218682" y="2128520"/>
                    <a:pt x="607568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048756" y="2290572"/>
            <a:ext cx="1234440" cy="274320"/>
            <a:chOff x="0" y="0"/>
            <a:chExt cx="1645920" cy="365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" cy="365760"/>
            </a:xfrm>
            <a:custGeom>
              <a:avLst/>
              <a:gdLst/>
              <a:ahLst/>
              <a:cxnLst/>
              <a:rect r="r" b="b" t="t" l="l"/>
              <a:pathLst>
                <a:path h="3657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64592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D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48756" y="2743200"/>
            <a:ext cx="3634740" cy="411480"/>
            <a:chOff x="0" y="0"/>
            <a:chExt cx="48463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846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 → Jun /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524363" y="1979295"/>
            <a:ext cx="4751070" cy="1596390"/>
            <a:chOff x="0" y="0"/>
            <a:chExt cx="6334760" cy="2128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4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334760">
                  <a:moveTo>
                    <a:pt x="0" y="259080"/>
                  </a:moveTo>
                  <a:cubicBezTo>
                    <a:pt x="0" y="116078"/>
                    <a:pt x="116078" y="0"/>
                    <a:pt x="259080" y="0"/>
                  </a:cubicBezTo>
                  <a:lnTo>
                    <a:pt x="6075680" y="0"/>
                  </a:lnTo>
                  <a:cubicBezTo>
                    <a:pt x="6218809" y="0"/>
                    <a:pt x="6334760" y="116078"/>
                    <a:pt x="6334760" y="259080"/>
                  </a:cubicBezTo>
                  <a:lnTo>
                    <a:pt x="6334760" y="1869440"/>
                  </a:lnTo>
                  <a:cubicBezTo>
                    <a:pt x="6334760" y="2012569"/>
                    <a:pt x="6218682" y="2128520"/>
                    <a:pt x="6075680" y="2128520"/>
                  </a:cubicBezTo>
                  <a:lnTo>
                    <a:pt x="259080" y="2128520"/>
                  </a:lnTo>
                  <a:cubicBezTo>
                    <a:pt x="116078" y="2128520"/>
                    <a:pt x="0" y="2012442"/>
                    <a:pt x="0" y="1869440"/>
                  </a:cubicBezTo>
                  <a:close/>
                </a:path>
              </a:pathLst>
            </a:custGeom>
            <a:solidFill>
              <a:srgbClr val="11152B"/>
            </a:solidFill>
            <a:ln w="19050" cap="sq">
              <a:solidFill>
                <a:srgbClr val="11152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904220" y="2290572"/>
            <a:ext cx="1234440" cy="274320"/>
            <a:chOff x="0" y="0"/>
            <a:chExt cx="1645920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5920" cy="365760"/>
            </a:xfrm>
            <a:custGeom>
              <a:avLst/>
              <a:gdLst/>
              <a:ahLst/>
              <a:cxnLst/>
              <a:rect r="r" b="b" t="t" l="l"/>
              <a:pathLst>
                <a:path h="3657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4592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CBB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ALVO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04220" y="2743200"/>
            <a:ext cx="3634740" cy="411480"/>
            <a:chOff x="0" y="0"/>
            <a:chExt cx="484632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846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volume futuro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1540" y="4361688"/>
            <a:ext cx="3017520" cy="329184"/>
            <a:chOff x="0" y="0"/>
            <a:chExt cx="402336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0233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 TEMPORAIS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2015" y="4996815"/>
            <a:ext cx="2762250" cy="471678"/>
            <a:chOff x="0" y="0"/>
            <a:chExt cx="3683000" cy="6289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6F3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5020056"/>
            <a:ext cx="2468880" cy="370332"/>
            <a:chOff x="0" y="0"/>
            <a:chExt cx="3291840" cy="4937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HORA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036695" y="4996815"/>
            <a:ext cx="2762250" cy="471678"/>
            <a:chOff x="0" y="0"/>
            <a:chExt cx="3683000" cy="6289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6F3F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183380" y="5020056"/>
            <a:ext cx="2468880" cy="370332"/>
            <a:chOff x="0" y="0"/>
            <a:chExt cx="3291840" cy="4937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MINUTO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191375" y="4996815"/>
            <a:ext cx="2762250" cy="471678"/>
            <a:chOff x="0" y="0"/>
            <a:chExt cx="3683000" cy="6289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6F3F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338060" y="5020056"/>
            <a:ext cx="2468880" cy="370332"/>
            <a:chOff x="0" y="0"/>
            <a:chExt cx="3291840" cy="4937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DIA_DA_SEMANA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346055" y="4996815"/>
            <a:ext cx="2762250" cy="471678"/>
            <a:chOff x="0" y="0"/>
            <a:chExt cx="3683000" cy="6289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6F3F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92740" y="5020056"/>
            <a:ext cx="2468880" cy="370332"/>
            <a:chOff x="0" y="0"/>
            <a:chExt cx="3291840" cy="4937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00735" y="4996815"/>
            <a:ext cx="2762250" cy="471678"/>
            <a:chOff x="0" y="0"/>
            <a:chExt cx="3683000" cy="6289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647420" y="5020056"/>
            <a:ext cx="2468880" cy="370332"/>
            <a:chOff x="0" y="0"/>
            <a:chExt cx="3291840" cy="4937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LAG_1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82015" y="5792343"/>
            <a:ext cx="2762250" cy="471678"/>
            <a:chOff x="0" y="0"/>
            <a:chExt cx="3683000" cy="6289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8700" y="5815584"/>
            <a:ext cx="2468880" cy="370332"/>
            <a:chOff x="0" y="0"/>
            <a:chExt cx="3291840" cy="4937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LAG_4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036695" y="5792343"/>
            <a:ext cx="2762250" cy="471678"/>
            <a:chOff x="0" y="0"/>
            <a:chExt cx="3683000" cy="6289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183380" y="5815584"/>
            <a:ext cx="2468880" cy="370332"/>
            <a:chOff x="0" y="0"/>
            <a:chExt cx="3291840" cy="4937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LAG_96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91375" y="5792343"/>
            <a:ext cx="2762250" cy="471678"/>
            <a:chOff x="0" y="0"/>
            <a:chExt cx="3683000" cy="62890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338060" y="5815584"/>
            <a:ext cx="2468880" cy="370332"/>
            <a:chOff x="0" y="0"/>
            <a:chExt cx="3291840" cy="49377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ROLLING_4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346055" y="5792343"/>
            <a:ext cx="2762250" cy="471678"/>
            <a:chOff x="0" y="0"/>
            <a:chExt cx="3683000" cy="62890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83000" cy="628904"/>
            </a:xfrm>
            <a:custGeom>
              <a:avLst/>
              <a:gdLst/>
              <a:ahLst/>
              <a:cxnLst/>
              <a:rect r="r" b="b" t="t" l="l"/>
              <a:pathLst>
                <a:path h="628904" w="36830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3378073" y="0"/>
                  </a:lnTo>
                  <a:cubicBezTo>
                    <a:pt x="3546475" y="0"/>
                    <a:pt x="3683000" y="136525"/>
                    <a:pt x="3683000" y="304927"/>
                  </a:cubicBezTo>
                  <a:lnTo>
                    <a:pt x="3683000" y="323977"/>
                  </a:lnTo>
                  <a:cubicBezTo>
                    <a:pt x="3683000" y="492379"/>
                    <a:pt x="3546475" y="628904"/>
                    <a:pt x="33780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492740" y="5815584"/>
            <a:ext cx="2468880" cy="370332"/>
            <a:chOff x="0" y="0"/>
            <a:chExt cx="3291840" cy="4937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91840" cy="493776"/>
            </a:xfrm>
            <a:custGeom>
              <a:avLst/>
              <a:gdLst/>
              <a:ahLst/>
              <a:cxnLst/>
              <a:rect r="r" b="b" t="t" l="l"/>
              <a:pathLst>
                <a:path h="49377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2918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ROLLING_96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82015" y="7095363"/>
            <a:ext cx="14420850" cy="1459230"/>
            <a:chOff x="0" y="0"/>
            <a:chExt cx="19227800" cy="1945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2278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9227800">
                  <a:moveTo>
                    <a:pt x="0" y="259461"/>
                  </a:moveTo>
                  <a:cubicBezTo>
                    <a:pt x="0" y="116205"/>
                    <a:pt x="116205" y="0"/>
                    <a:pt x="259461" y="0"/>
                  </a:cubicBezTo>
                  <a:lnTo>
                    <a:pt x="18968338" y="0"/>
                  </a:lnTo>
                  <a:cubicBezTo>
                    <a:pt x="19111595" y="0"/>
                    <a:pt x="19227800" y="116205"/>
                    <a:pt x="19227800" y="259461"/>
                  </a:cubicBezTo>
                  <a:lnTo>
                    <a:pt x="19227800" y="1686179"/>
                  </a:lnTo>
                  <a:cubicBezTo>
                    <a:pt x="19227800" y="1829435"/>
                    <a:pt x="19111595" y="1945640"/>
                    <a:pt x="18968338" y="1945640"/>
                  </a:cubicBezTo>
                  <a:lnTo>
                    <a:pt x="259461" y="1945640"/>
                  </a:lnTo>
                  <a:cubicBezTo>
                    <a:pt x="116205" y="1945640"/>
                    <a:pt x="0" y="1829435"/>
                    <a:pt x="0" y="1686179"/>
                  </a:cubicBezTo>
                  <a:close/>
                </a:path>
              </a:pathLst>
            </a:custGeom>
            <a:solidFill>
              <a:srgbClr val="EEE8FB"/>
            </a:solidFill>
            <a:ln w="19050" cap="sq">
              <a:solidFill>
                <a:srgbClr val="D5C8F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07008" y="7647259"/>
            <a:ext cx="2546680" cy="355438"/>
            <a:chOff x="0" y="0"/>
            <a:chExt cx="3395574" cy="47391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95574" cy="473918"/>
            </a:xfrm>
            <a:custGeom>
              <a:avLst/>
              <a:gdLst/>
              <a:ahLst/>
              <a:cxnLst/>
              <a:rect r="r" b="b" t="t" l="l"/>
              <a:pathLst>
                <a:path h="473918" w="3395574">
                  <a:moveTo>
                    <a:pt x="0" y="0"/>
                  </a:moveTo>
                  <a:lnTo>
                    <a:pt x="3395574" y="0"/>
                  </a:lnTo>
                  <a:lnTo>
                    <a:pt x="3395574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31" r="-23874" b="-1192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395574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 DESCOBERTA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320540" y="7536942"/>
            <a:ext cx="10561320" cy="576072"/>
            <a:chOff x="0" y="0"/>
            <a:chExt cx="14081760" cy="768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081761" cy="768096"/>
            </a:xfrm>
            <a:custGeom>
              <a:avLst/>
              <a:gdLst/>
              <a:ahLst/>
              <a:cxnLst/>
              <a:rect r="r" b="b" t="t" l="l"/>
              <a:pathLst>
                <a:path h="768096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408176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histórico recente é mais informativo que a identificação do equipamento para previsões de curto prazo.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07617" y="8997696"/>
            <a:ext cx="15751683" cy="466344"/>
            <a:chOff x="0" y="0"/>
            <a:chExt cx="21002244" cy="621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002244" cy="621792"/>
            </a:xfrm>
            <a:custGeom>
              <a:avLst/>
              <a:gdLst/>
              <a:ahLst/>
              <a:cxnLst/>
              <a:rect r="r" b="b" t="t" l="l"/>
              <a:pathLst>
                <a:path h="621792" w="21002244">
                  <a:moveTo>
                    <a:pt x="0" y="0"/>
                  </a:moveTo>
                  <a:lnTo>
                    <a:pt x="21002244" y="0"/>
                  </a:lnTo>
                  <a:lnTo>
                    <a:pt x="2100224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474" r="7699" b="-55747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1002244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36"/>
                </a:lnSpc>
              </a:pPr>
              <a:r>
                <a:rPr lang="en-US" sz="1530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 cluster foi recalculado somente no período de treino quando usado nos modelos supervisionados, evitando data leakage.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8644" y="1050035"/>
            <a:ext cx="1908812" cy="57152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612267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DA REGRESSÃO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311783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Regressor com controle de profundidade.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029968"/>
            <a:ext cx="1920240" cy="329184"/>
            <a:chOff x="0" y="0"/>
            <a:chExt cx="2560320" cy="43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60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HORIZONTE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69180" y="2029968"/>
            <a:ext cx="1645920" cy="329184"/>
            <a:chOff x="0" y="0"/>
            <a:chExt cx="2194560" cy="43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(teste)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0" y="2029968"/>
            <a:ext cx="2194560" cy="329184"/>
            <a:chOff x="0" y="0"/>
            <a:chExt cx="2926080" cy="43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0" cy="438912"/>
            </a:xfrm>
            <a:custGeom>
              <a:avLst/>
              <a:gdLst/>
              <a:ahLst/>
              <a:cxnLst/>
              <a:rect r="r" b="b" t="t" l="l"/>
              <a:pathLst>
                <a:path h="4389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926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(veículos)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2029968"/>
            <a:ext cx="4114800" cy="329184"/>
            <a:chOff x="0" y="0"/>
            <a:chExt cx="5486400" cy="438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864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LEITURA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3163" y="2596515"/>
            <a:ext cx="14489430" cy="896874"/>
            <a:chOff x="0" y="0"/>
            <a:chExt cx="19319240" cy="11958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19239" cy="1195832"/>
            </a:xfrm>
            <a:custGeom>
              <a:avLst/>
              <a:gdLst/>
              <a:ahLst/>
              <a:cxnLst/>
              <a:rect r="r" b="b" t="t" l="l"/>
              <a:pathLst>
                <a:path h="1195832" w="19319239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19057620" y="0"/>
                  </a:lnTo>
                  <a:cubicBezTo>
                    <a:pt x="19202146" y="0"/>
                    <a:pt x="19319239" y="117094"/>
                    <a:pt x="19319239" y="261620"/>
                  </a:cubicBezTo>
                  <a:lnTo>
                    <a:pt x="19319239" y="934212"/>
                  </a:lnTo>
                  <a:cubicBezTo>
                    <a:pt x="19319239" y="1078738"/>
                    <a:pt x="19202146" y="1195832"/>
                    <a:pt x="19057620" y="1195832"/>
                  </a:cubicBezTo>
                  <a:lnTo>
                    <a:pt x="261620" y="1195832"/>
                  </a:lnTo>
                  <a:cubicBezTo>
                    <a:pt x="117094" y="1195832"/>
                    <a:pt x="0" y="1078738"/>
                    <a:pt x="0" y="934212"/>
                  </a:cubicBezTo>
                  <a:close/>
                </a:path>
              </a:pathLst>
            </a:custGeom>
            <a:solidFill>
              <a:srgbClr val="F8F6FC"/>
            </a:solidFill>
            <a:ln w="19050" cap="sq">
              <a:solidFill>
                <a:srgbClr val="E5DEF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" y="2866644"/>
            <a:ext cx="2125980" cy="301752"/>
            <a:chOff x="0" y="0"/>
            <a:chExt cx="283464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834640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min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59452" y="2866644"/>
            <a:ext cx="1783080" cy="301752"/>
            <a:chOff x="0" y="0"/>
            <a:chExt cx="2377440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0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377440" cy="45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0,921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89420" y="2866644"/>
            <a:ext cx="2304288" cy="301752"/>
            <a:chOff x="0" y="0"/>
            <a:chExt cx="3072384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72384" cy="402336"/>
            </a:xfrm>
            <a:custGeom>
              <a:avLst/>
              <a:gdLst/>
              <a:ahLst/>
              <a:cxnLst/>
              <a:rect r="r" b="b" t="t" l="l"/>
              <a:pathLst>
                <a:path h="402336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072384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32,80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38360" y="2839212"/>
            <a:ext cx="4869180" cy="411480"/>
            <a:chOff x="0" y="0"/>
            <a:chExt cx="64922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492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orte previsão de curto prazo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3163" y="3734943"/>
            <a:ext cx="14489430" cy="896874"/>
            <a:chOff x="0" y="0"/>
            <a:chExt cx="19319240" cy="1195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19239" cy="1195832"/>
            </a:xfrm>
            <a:custGeom>
              <a:avLst/>
              <a:gdLst/>
              <a:ahLst/>
              <a:cxnLst/>
              <a:rect r="r" b="b" t="t" l="l"/>
              <a:pathLst>
                <a:path h="1195832" w="19319239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19057620" y="0"/>
                  </a:lnTo>
                  <a:cubicBezTo>
                    <a:pt x="19202146" y="0"/>
                    <a:pt x="19319239" y="117094"/>
                    <a:pt x="19319239" y="261620"/>
                  </a:cubicBezTo>
                  <a:lnTo>
                    <a:pt x="19319239" y="934212"/>
                  </a:lnTo>
                  <a:cubicBezTo>
                    <a:pt x="19319239" y="1078738"/>
                    <a:pt x="19202146" y="1195832"/>
                    <a:pt x="19057620" y="1195832"/>
                  </a:cubicBezTo>
                  <a:lnTo>
                    <a:pt x="261620" y="1195832"/>
                  </a:lnTo>
                  <a:cubicBezTo>
                    <a:pt x="117094" y="1195832"/>
                    <a:pt x="0" y="1078738"/>
                    <a:pt x="0" y="9342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DEF1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4005072"/>
            <a:ext cx="2125980" cy="301752"/>
            <a:chOff x="0" y="0"/>
            <a:chExt cx="2834640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834640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hora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59452" y="4005072"/>
            <a:ext cx="1783080" cy="301752"/>
            <a:chOff x="0" y="0"/>
            <a:chExt cx="2377440" cy="4023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77440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2377440" cy="45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0,949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89420" y="4005072"/>
            <a:ext cx="2304288" cy="301752"/>
            <a:chOff x="0" y="0"/>
            <a:chExt cx="3072384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72384" cy="402336"/>
            </a:xfrm>
            <a:custGeom>
              <a:avLst/>
              <a:gdLst/>
              <a:ahLst/>
              <a:cxnLst/>
              <a:rect r="r" b="b" t="t" l="l"/>
              <a:pathLst>
                <a:path h="402336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072384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110,30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360" y="3977640"/>
            <a:ext cx="4869180" cy="411480"/>
            <a:chOff x="0" y="0"/>
            <a:chExt cx="649224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6492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elhor R² entre os horizontes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3163" y="4873371"/>
            <a:ext cx="14489430" cy="896874"/>
            <a:chOff x="0" y="0"/>
            <a:chExt cx="19319240" cy="11958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319239" cy="1195832"/>
            </a:xfrm>
            <a:custGeom>
              <a:avLst/>
              <a:gdLst/>
              <a:ahLst/>
              <a:cxnLst/>
              <a:rect r="r" b="b" t="t" l="l"/>
              <a:pathLst>
                <a:path h="1195832" w="19319239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19057620" y="0"/>
                  </a:lnTo>
                  <a:cubicBezTo>
                    <a:pt x="19202146" y="0"/>
                    <a:pt x="19319239" y="117094"/>
                    <a:pt x="19319239" y="261620"/>
                  </a:cubicBezTo>
                  <a:lnTo>
                    <a:pt x="19319239" y="934212"/>
                  </a:lnTo>
                  <a:cubicBezTo>
                    <a:pt x="19319239" y="1078738"/>
                    <a:pt x="19202146" y="1195832"/>
                    <a:pt x="19057620" y="1195832"/>
                  </a:cubicBezTo>
                  <a:lnTo>
                    <a:pt x="261620" y="1195832"/>
                  </a:lnTo>
                  <a:cubicBezTo>
                    <a:pt x="117094" y="1195832"/>
                    <a:pt x="0" y="1078738"/>
                    <a:pt x="0" y="934212"/>
                  </a:cubicBezTo>
                  <a:close/>
                </a:path>
              </a:pathLst>
            </a:custGeom>
            <a:solidFill>
              <a:srgbClr val="F8F6FC"/>
            </a:solidFill>
            <a:ln w="19050" cap="sq">
              <a:solidFill>
                <a:srgbClr val="E5DEF1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5143500"/>
            <a:ext cx="2125980" cy="301752"/>
            <a:chOff x="0" y="0"/>
            <a:chExt cx="283464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834640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dia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759452" y="5143500"/>
            <a:ext cx="1783080" cy="301752"/>
            <a:chOff x="0" y="0"/>
            <a:chExt cx="2377440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77440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377440" cy="45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0,829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89420" y="5143500"/>
            <a:ext cx="2304288" cy="301752"/>
            <a:chOff x="0" y="0"/>
            <a:chExt cx="3072384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72384" cy="402336"/>
            </a:xfrm>
            <a:custGeom>
              <a:avLst/>
              <a:gdLst/>
              <a:ahLst/>
              <a:cxnLst/>
              <a:rect r="r" b="b" t="t" l="l"/>
              <a:pathLst>
                <a:path h="402336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072384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3.153,06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38360" y="5116068"/>
            <a:ext cx="4869180" cy="411480"/>
            <a:chOff x="0" y="0"/>
            <a:chExt cx="64922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492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ueda de generalização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3163" y="6011799"/>
            <a:ext cx="14489430" cy="896874"/>
            <a:chOff x="0" y="0"/>
            <a:chExt cx="19319240" cy="11958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319239" cy="1195832"/>
            </a:xfrm>
            <a:custGeom>
              <a:avLst/>
              <a:gdLst/>
              <a:ahLst/>
              <a:cxnLst/>
              <a:rect r="r" b="b" t="t" l="l"/>
              <a:pathLst>
                <a:path h="1195832" w="19319239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19057620" y="0"/>
                  </a:lnTo>
                  <a:cubicBezTo>
                    <a:pt x="19202146" y="0"/>
                    <a:pt x="19319239" y="117094"/>
                    <a:pt x="19319239" y="261620"/>
                  </a:cubicBezTo>
                  <a:lnTo>
                    <a:pt x="19319239" y="934212"/>
                  </a:lnTo>
                  <a:cubicBezTo>
                    <a:pt x="19319239" y="1078738"/>
                    <a:pt x="19202146" y="1195832"/>
                    <a:pt x="19057620" y="1195832"/>
                  </a:cubicBezTo>
                  <a:lnTo>
                    <a:pt x="261620" y="1195832"/>
                  </a:lnTo>
                  <a:cubicBezTo>
                    <a:pt x="117094" y="1195832"/>
                    <a:pt x="0" y="1078738"/>
                    <a:pt x="0" y="9342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DEF1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34440" y="6281928"/>
            <a:ext cx="2125980" cy="301752"/>
            <a:chOff x="0" y="0"/>
            <a:chExt cx="283464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834640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semana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759452" y="6281928"/>
            <a:ext cx="1783080" cy="301752"/>
            <a:chOff x="0" y="0"/>
            <a:chExt cx="2377440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77440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2377440" cy="45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0,549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789420" y="6281928"/>
            <a:ext cx="2304288" cy="301752"/>
            <a:chOff x="0" y="0"/>
            <a:chExt cx="3072384" cy="4023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072384" cy="402336"/>
            </a:xfrm>
            <a:custGeom>
              <a:avLst/>
              <a:gdLst/>
              <a:ahLst/>
              <a:cxnLst/>
              <a:rect r="r" b="b" t="t" l="l"/>
              <a:pathLst>
                <a:path h="402336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072384" cy="44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28.964,06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38360" y="6254496"/>
            <a:ext cx="4869180" cy="411480"/>
            <a:chOff x="0" y="0"/>
            <a:chExt cx="649224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492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orizonte mais difícil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3163" y="7465695"/>
            <a:ext cx="5848350" cy="1322070"/>
            <a:chOff x="0" y="0"/>
            <a:chExt cx="7797800" cy="17627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797800" cy="1762633"/>
            </a:xfrm>
            <a:custGeom>
              <a:avLst/>
              <a:gdLst/>
              <a:ahLst/>
              <a:cxnLst/>
              <a:rect r="r" b="b" t="t" l="l"/>
              <a:pathLst>
                <a:path h="1762633" w="7797800">
                  <a:moveTo>
                    <a:pt x="0" y="259715"/>
                  </a:moveTo>
                  <a:cubicBezTo>
                    <a:pt x="0" y="116332"/>
                    <a:pt x="116332" y="0"/>
                    <a:pt x="259715" y="0"/>
                  </a:cubicBezTo>
                  <a:lnTo>
                    <a:pt x="7538085" y="0"/>
                  </a:lnTo>
                  <a:cubicBezTo>
                    <a:pt x="7681468" y="0"/>
                    <a:pt x="7797800" y="116332"/>
                    <a:pt x="7797800" y="259715"/>
                  </a:cubicBezTo>
                  <a:lnTo>
                    <a:pt x="7797800" y="1502918"/>
                  </a:lnTo>
                  <a:cubicBezTo>
                    <a:pt x="7797800" y="1646428"/>
                    <a:pt x="7681468" y="1762633"/>
                    <a:pt x="7538085" y="1762633"/>
                  </a:cubicBezTo>
                  <a:lnTo>
                    <a:pt x="259715" y="1762633"/>
                  </a:lnTo>
                  <a:cubicBezTo>
                    <a:pt x="116332" y="1762760"/>
                    <a:pt x="0" y="1646428"/>
                    <a:pt x="0" y="1503045"/>
                  </a:cubicBezTo>
                  <a:close/>
                </a:path>
              </a:pathLst>
            </a:custGeom>
            <a:solidFill>
              <a:srgbClr val="11152B"/>
            </a:solidFill>
            <a:ln w="19050" cap="sq">
              <a:solidFill>
                <a:srgbClr val="11152B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757" y="7705621"/>
            <a:ext cx="2424431" cy="842218"/>
            <a:chOff x="0" y="0"/>
            <a:chExt cx="3232574" cy="112295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32574" cy="1122958"/>
            </a:xfrm>
            <a:custGeom>
              <a:avLst/>
              <a:gdLst/>
              <a:ahLst/>
              <a:cxnLst/>
              <a:rect r="r" b="b" t="t" l="l"/>
              <a:pathLst>
                <a:path h="1122958" w="3232574">
                  <a:moveTo>
                    <a:pt x="0" y="0"/>
                  </a:moveTo>
                  <a:lnTo>
                    <a:pt x="3232574" y="0"/>
                  </a:lnTo>
                  <a:lnTo>
                    <a:pt x="3232574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92" r="-10319" b="2183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232574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BA8E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MAIS IMPORTANTE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4259421" y="7907274"/>
            <a:ext cx="2194560" cy="438912"/>
            <a:chOff x="0" y="0"/>
            <a:chExt cx="292608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9260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lag_1  ≈ 0,864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054215" y="7465695"/>
            <a:ext cx="8180070" cy="1322070"/>
            <a:chOff x="0" y="0"/>
            <a:chExt cx="10906760" cy="17627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06760" cy="1762633"/>
            </a:xfrm>
            <a:custGeom>
              <a:avLst/>
              <a:gdLst/>
              <a:ahLst/>
              <a:cxnLst/>
              <a:rect r="r" b="b" t="t" l="l"/>
              <a:pathLst>
                <a:path h="1762633" w="10906760">
                  <a:moveTo>
                    <a:pt x="0" y="259715"/>
                  </a:moveTo>
                  <a:cubicBezTo>
                    <a:pt x="0" y="116332"/>
                    <a:pt x="116332" y="0"/>
                    <a:pt x="259715" y="0"/>
                  </a:cubicBezTo>
                  <a:lnTo>
                    <a:pt x="10647045" y="0"/>
                  </a:lnTo>
                  <a:cubicBezTo>
                    <a:pt x="10790555" y="0"/>
                    <a:pt x="10906760" y="116332"/>
                    <a:pt x="10906760" y="259715"/>
                  </a:cubicBezTo>
                  <a:lnTo>
                    <a:pt x="10906760" y="1502918"/>
                  </a:lnTo>
                  <a:cubicBezTo>
                    <a:pt x="10906760" y="1646428"/>
                    <a:pt x="10790427" y="1762633"/>
                    <a:pt x="10647045" y="1762633"/>
                  </a:cubicBezTo>
                  <a:lnTo>
                    <a:pt x="259715" y="1762633"/>
                  </a:lnTo>
                  <a:cubicBezTo>
                    <a:pt x="116332" y="1762760"/>
                    <a:pt x="0" y="1646428"/>
                    <a:pt x="0" y="1503045"/>
                  </a:cubicBezTo>
                  <a:close/>
                </a:path>
              </a:pathLst>
            </a:custGeom>
            <a:solidFill>
              <a:srgbClr val="EEE7FA"/>
            </a:solidFill>
            <a:ln w="19050" cap="sq">
              <a:solidFill>
                <a:srgbClr val="DDD0E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7371588" y="7949011"/>
            <a:ext cx="1508760" cy="355439"/>
            <a:chOff x="0" y="0"/>
            <a:chExt cx="2011680" cy="47391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11680" cy="473918"/>
            </a:xfrm>
            <a:custGeom>
              <a:avLst/>
              <a:gdLst/>
              <a:ahLst/>
              <a:cxnLst/>
              <a:rect r="r" b="b" t="t" l="l"/>
              <a:pathLst>
                <a:path h="47391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73918"/>
                  </a:lnTo>
                  <a:lnTo>
                    <a:pt x="0" y="4739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20" r="0" b="-2129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011680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Interpretação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093708" y="7866126"/>
            <a:ext cx="5829300" cy="521208"/>
            <a:chOff x="0" y="0"/>
            <a:chExt cx="7772400" cy="69494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772400" cy="694944"/>
            </a:xfrm>
            <a:custGeom>
              <a:avLst/>
              <a:gdLst/>
              <a:ahLst/>
              <a:cxnLst/>
              <a:rect r="r" b="b" t="t" l="l"/>
              <a:pathLst>
                <a:path h="69494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924" r="0" b="-16792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777240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volume de 15 min atrás é o principal sinal para o próximo intervalo.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14297" y="9079992"/>
            <a:ext cx="13619988" cy="356616"/>
            <a:chOff x="0" y="0"/>
            <a:chExt cx="18159984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159983" cy="475488"/>
            </a:xfrm>
            <a:custGeom>
              <a:avLst/>
              <a:gdLst/>
              <a:ahLst/>
              <a:cxnLst/>
              <a:rect r="r" b="b" t="t" l="l"/>
              <a:pathLst>
                <a:path h="475488" w="18159983">
                  <a:moveTo>
                    <a:pt x="0" y="0"/>
                  </a:moveTo>
                  <a:lnTo>
                    <a:pt x="18159983" y="0"/>
                  </a:lnTo>
                  <a:lnTo>
                    <a:pt x="1815998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378" r="-8761" b="-75937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815998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5"/>
                </a:lnSpc>
              </a:pPr>
              <a:r>
                <a:rPr lang="en-US" sz="1380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Obs.: MAE está em veículos e não deve ser comparado diretamente entre horizontes sem considerar a escala do alvo.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384048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CLASSIFICANDO O NÍVEL DO FLUXO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Transformando uma previsão numérica em uma categoria interpretável.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029968"/>
            <a:ext cx="2743200" cy="329184"/>
            <a:chOff x="0" y="0"/>
            <a:chExt cx="3657600" cy="438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7600" cy="438912"/>
            </a:xfrm>
            <a:custGeom>
              <a:avLst/>
              <a:gdLst/>
              <a:ahLst/>
              <a:cxnLst/>
              <a:rect r="r" b="b" t="t" l="l"/>
              <a:pathLst>
                <a:path h="4389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6576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PONTOS DE CORTE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027" y="2623947"/>
            <a:ext cx="3790950" cy="1966722"/>
            <a:chOff x="0" y="0"/>
            <a:chExt cx="5054600" cy="2622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546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5054600">
                  <a:moveTo>
                    <a:pt x="0" y="258572"/>
                  </a:moveTo>
                  <a:cubicBezTo>
                    <a:pt x="0" y="115697"/>
                    <a:pt x="115697" y="0"/>
                    <a:pt x="258572" y="0"/>
                  </a:cubicBezTo>
                  <a:lnTo>
                    <a:pt x="4796028" y="0"/>
                  </a:lnTo>
                  <a:cubicBezTo>
                    <a:pt x="4938903" y="0"/>
                    <a:pt x="5054600" y="115697"/>
                    <a:pt x="5054600" y="258572"/>
                  </a:cubicBezTo>
                  <a:lnTo>
                    <a:pt x="5054600" y="2363724"/>
                  </a:lnTo>
                  <a:cubicBezTo>
                    <a:pt x="5054600" y="2506472"/>
                    <a:pt x="4938903" y="2622296"/>
                    <a:pt x="4796028" y="2622296"/>
                  </a:cubicBezTo>
                  <a:lnTo>
                    <a:pt x="258572" y="2622296"/>
                  </a:lnTo>
                  <a:cubicBezTo>
                    <a:pt x="115697" y="2622296"/>
                    <a:pt x="0" y="2506599"/>
                    <a:pt x="0" y="23637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79779" y="2925699"/>
            <a:ext cx="1390650" cy="471678"/>
            <a:chOff x="0" y="0"/>
            <a:chExt cx="1854200" cy="628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54200" cy="628904"/>
            </a:xfrm>
            <a:custGeom>
              <a:avLst/>
              <a:gdLst/>
              <a:ahLst/>
              <a:cxnLst/>
              <a:rect r="r" b="b" t="t" l="l"/>
              <a:pathLst>
                <a:path h="628904" w="18542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549273" y="0"/>
                  </a:lnTo>
                  <a:cubicBezTo>
                    <a:pt x="1717675" y="0"/>
                    <a:pt x="1854200" y="136525"/>
                    <a:pt x="1854200" y="304927"/>
                  </a:cubicBezTo>
                  <a:lnTo>
                    <a:pt x="1854200" y="323977"/>
                  </a:lnTo>
                  <a:cubicBezTo>
                    <a:pt x="1854200" y="492379"/>
                    <a:pt x="1717675" y="628904"/>
                    <a:pt x="15492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2F9E6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26464" y="2976372"/>
            <a:ext cx="1097280" cy="370332"/>
            <a:chOff x="0" y="0"/>
            <a:chExt cx="1463040" cy="4937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BAIXO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9304" y="3730752"/>
            <a:ext cx="3154680" cy="411480"/>
            <a:chOff x="0" y="0"/>
            <a:chExt cx="420624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≤ 133 veículos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1407" y="2623947"/>
            <a:ext cx="3790950" cy="1966722"/>
            <a:chOff x="0" y="0"/>
            <a:chExt cx="5054600" cy="2622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546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5054600">
                  <a:moveTo>
                    <a:pt x="0" y="258572"/>
                  </a:moveTo>
                  <a:cubicBezTo>
                    <a:pt x="0" y="115697"/>
                    <a:pt x="115697" y="0"/>
                    <a:pt x="258572" y="0"/>
                  </a:cubicBezTo>
                  <a:lnTo>
                    <a:pt x="4796028" y="0"/>
                  </a:lnTo>
                  <a:cubicBezTo>
                    <a:pt x="4938903" y="0"/>
                    <a:pt x="5054600" y="115697"/>
                    <a:pt x="5054600" y="258572"/>
                  </a:cubicBezTo>
                  <a:lnTo>
                    <a:pt x="5054600" y="2363724"/>
                  </a:lnTo>
                  <a:cubicBezTo>
                    <a:pt x="5054600" y="2506472"/>
                    <a:pt x="4938903" y="2622296"/>
                    <a:pt x="4796028" y="2622296"/>
                  </a:cubicBezTo>
                  <a:lnTo>
                    <a:pt x="258572" y="2622296"/>
                  </a:lnTo>
                  <a:cubicBezTo>
                    <a:pt x="115697" y="2622296"/>
                    <a:pt x="0" y="2506599"/>
                    <a:pt x="0" y="23637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463159" y="2925699"/>
            <a:ext cx="1390650" cy="471678"/>
            <a:chOff x="0" y="0"/>
            <a:chExt cx="1854200" cy="6289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54200" cy="628904"/>
            </a:xfrm>
            <a:custGeom>
              <a:avLst/>
              <a:gdLst/>
              <a:ahLst/>
              <a:cxnLst/>
              <a:rect r="r" b="b" t="t" l="l"/>
              <a:pathLst>
                <a:path h="628904" w="18542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549273" y="0"/>
                  </a:lnTo>
                  <a:cubicBezTo>
                    <a:pt x="1717675" y="0"/>
                    <a:pt x="1854200" y="136525"/>
                    <a:pt x="1854200" y="304927"/>
                  </a:cubicBezTo>
                  <a:lnTo>
                    <a:pt x="1854200" y="323977"/>
                  </a:lnTo>
                  <a:cubicBezTo>
                    <a:pt x="1854200" y="492379"/>
                    <a:pt x="1717675" y="628904"/>
                    <a:pt x="15492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09844" y="2976372"/>
            <a:ext cx="1097280" cy="370332"/>
            <a:chOff x="0" y="0"/>
            <a:chExt cx="1463040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630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72684" y="3730752"/>
            <a:ext cx="3154680" cy="411480"/>
            <a:chOff x="0" y="0"/>
            <a:chExt cx="420624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134–330 veículos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44787" y="2623947"/>
            <a:ext cx="3790950" cy="1966722"/>
            <a:chOff x="0" y="0"/>
            <a:chExt cx="5054600" cy="2622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54600" cy="2622296"/>
            </a:xfrm>
            <a:custGeom>
              <a:avLst/>
              <a:gdLst/>
              <a:ahLst/>
              <a:cxnLst/>
              <a:rect r="r" b="b" t="t" l="l"/>
              <a:pathLst>
                <a:path h="2622296" w="5054600">
                  <a:moveTo>
                    <a:pt x="0" y="258572"/>
                  </a:moveTo>
                  <a:cubicBezTo>
                    <a:pt x="0" y="115697"/>
                    <a:pt x="115697" y="0"/>
                    <a:pt x="258572" y="0"/>
                  </a:cubicBezTo>
                  <a:lnTo>
                    <a:pt x="4796028" y="0"/>
                  </a:lnTo>
                  <a:cubicBezTo>
                    <a:pt x="4938903" y="0"/>
                    <a:pt x="5054600" y="115697"/>
                    <a:pt x="5054600" y="258572"/>
                  </a:cubicBezTo>
                  <a:lnTo>
                    <a:pt x="5054600" y="2363724"/>
                  </a:lnTo>
                  <a:cubicBezTo>
                    <a:pt x="5054600" y="2506472"/>
                    <a:pt x="4938903" y="2622296"/>
                    <a:pt x="4796028" y="2622296"/>
                  </a:cubicBezTo>
                  <a:lnTo>
                    <a:pt x="258572" y="2622296"/>
                  </a:lnTo>
                  <a:cubicBezTo>
                    <a:pt x="115697" y="2622296"/>
                    <a:pt x="0" y="2506599"/>
                    <a:pt x="0" y="23637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46539" y="2925699"/>
            <a:ext cx="1390650" cy="471678"/>
            <a:chOff x="0" y="0"/>
            <a:chExt cx="1854200" cy="6289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54200" cy="628904"/>
            </a:xfrm>
            <a:custGeom>
              <a:avLst/>
              <a:gdLst/>
              <a:ahLst/>
              <a:cxnLst/>
              <a:rect r="r" b="b" t="t" l="l"/>
              <a:pathLst>
                <a:path h="628904" w="185420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1549273" y="0"/>
                  </a:lnTo>
                  <a:cubicBezTo>
                    <a:pt x="1717675" y="0"/>
                    <a:pt x="1854200" y="136525"/>
                    <a:pt x="1854200" y="304927"/>
                  </a:cubicBezTo>
                  <a:lnTo>
                    <a:pt x="1854200" y="323977"/>
                  </a:lnTo>
                  <a:cubicBezTo>
                    <a:pt x="1854200" y="492379"/>
                    <a:pt x="1717675" y="628904"/>
                    <a:pt x="154927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D9505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93224" y="2976372"/>
            <a:ext cx="1097280" cy="370332"/>
            <a:chOff x="0" y="0"/>
            <a:chExt cx="1463040" cy="4937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630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56064" y="3730752"/>
            <a:ext cx="3154680" cy="411480"/>
            <a:chOff x="0" y="0"/>
            <a:chExt cx="42062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&gt; 330 veículos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79043" y="2623947"/>
            <a:ext cx="3036570" cy="1966722"/>
            <a:chOff x="0" y="0"/>
            <a:chExt cx="4048760" cy="26222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48760" cy="2622296"/>
            </a:xfrm>
            <a:custGeom>
              <a:avLst/>
              <a:gdLst/>
              <a:ahLst/>
              <a:cxnLst/>
              <a:rect r="r" b="b" t="t" l="l"/>
              <a:pathLst>
                <a:path h="2622296" w="4048760">
                  <a:moveTo>
                    <a:pt x="0" y="258572"/>
                  </a:moveTo>
                  <a:cubicBezTo>
                    <a:pt x="0" y="115697"/>
                    <a:pt x="115697" y="0"/>
                    <a:pt x="258572" y="0"/>
                  </a:cubicBezTo>
                  <a:lnTo>
                    <a:pt x="3790188" y="0"/>
                  </a:lnTo>
                  <a:cubicBezTo>
                    <a:pt x="3932936" y="0"/>
                    <a:pt x="4048760" y="115697"/>
                    <a:pt x="4048760" y="258572"/>
                  </a:cubicBezTo>
                  <a:lnTo>
                    <a:pt x="4048760" y="2363724"/>
                  </a:lnTo>
                  <a:cubicBezTo>
                    <a:pt x="4048760" y="2506472"/>
                    <a:pt x="3933063" y="2622296"/>
                    <a:pt x="3790188" y="2622296"/>
                  </a:cubicBezTo>
                  <a:lnTo>
                    <a:pt x="258572" y="2622296"/>
                  </a:lnTo>
                  <a:cubicBezTo>
                    <a:pt x="115697" y="2622296"/>
                    <a:pt x="0" y="2506599"/>
                    <a:pt x="0" y="2363724"/>
                  </a:cubicBezTo>
                  <a:close/>
                </a:path>
              </a:pathLst>
            </a:custGeom>
            <a:solidFill>
              <a:srgbClr val="F3EEF9"/>
            </a:solidFill>
            <a:ln w="19050" cap="sq">
              <a:solidFill>
                <a:srgbClr val="DED5E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62888" y="3017520"/>
            <a:ext cx="2468880" cy="576072"/>
            <a:chOff x="0" y="0"/>
            <a:chExt cx="329184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1840" cy="768096"/>
            </a:xfrm>
            <a:custGeom>
              <a:avLst/>
              <a:gdLst/>
              <a:ahLst/>
              <a:cxnLst/>
              <a:rect r="r" b="b" t="t" l="l"/>
              <a:pathLst>
                <a:path h="76809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29184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≈ 1/3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962888" y="3785616"/>
            <a:ext cx="2468880" cy="301752"/>
            <a:chOff x="0" y="0"/>
            <a:chExt cx="3291840" cy="4023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0" cy="402336"/>
            </a:xfrm>
            <a:custGeom>
              <a:avLst/>
              <a:gdLst/>
              <a:ahLst/>
              <a:cxnLst/>
              <a:rect r="r" b="b" t="t" l="l"/>
              <a:pathLst>
                <a:path h="40233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29184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classe no treino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7552" y="5239512"/>
            <a:ext cx="3360420" cy="329184"/>
            <a:chOff x="0" y="0"/>
            <a:chExt cx="448056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80560" cy="438912"/>
            </a:xfrm>
            <a:custGeom>
              <a:avLst/>
              <a:gdLst/>
              <a:ahLst/>
              <a:cxnLst/>
              <a:rect r="r" b="b" t="t" l="l"/>
              <a:pathLst>
                <a:path h="43891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4805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QUE 133 E 330?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8027" y="5819775"/>
            <a:ext cx="15792450" cy="1870710"/>
            <a:chOff x="0" y="0"/>
            <a:chExt cx="21056600" cy="2494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056600" cy="2494280"/>
            </a:xfrm>
            <a:custGeom>
              <a:avLst/>
              <a:gdLst/>
              <a:ahLst/>
              <a:cxnLst/>
              <a:rect r="r" b="b" t="t" l="l"/>
              <a:pathLst>
                <a:path h="2494280" w="2105660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20797901" y="0"/>
                  </a:lnTo>
                  <a:cubicBezTo>
                    <a:pt x="20940776" y="0"/>
                    <a:pt x="21056600" y="115824"/>
                    <a:pt x="21056600" y="258699"/>
                  </a:cubicBezTo>
                  <a:lnTo>
                    <a:pt x="21056600" y="2235581"/>
                  </a:lnTo>
                  <a:cubicBezTo>
                    <a:pt x="21056600" y="2378456"/>
                    <a:pt x="20940776" y="2494280"/>
                    <a:pt x="20797901" y="2494280"/>
                  </a:cubicBezTo>
                  <a:lnTo>
                    <a:pt x="258699" y="2494280"/>
                  </a:lnTo>
                  <a:cubicBezTo>
                    <a:pt x="115824" y="2494280"/>
                    <a:pt x="0" y="2378456"/>
                    <a:pt x="0" y="223558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71600" y="6281928"/>
            <a:ext cx="14676120" cy="493776"/>
            <a:chOff x="0" y="0"/>
            <a:chExt cx="19568160" cy="6583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568161" cy="658368"/>
            </a:xfrm>
            <a:custGeom>
              <a:avLst/>
              <a:gdLst/>
              <a:ahLst/>
              <a:cxnLst/>
              <a:rect r="r" b="b" t="t" l="l"/>
              <a:pathLst>
                <a:path h="658368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138" r="0" b="-5291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9568160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 limites foram definidos pelos tercis do volume futuro no conjunto de treinamento.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" y="6885432"/>
            <a:ext cx="14676120" cy="384048"/>
            <a:chOff x="0" y="0"/>
            <a:chExt cx="1956816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568161" cy="512064"/>
            </a:xfrm>
            <a:custGeom>
              <a:avLst/>
              <a:gdLst/>
              <a:ahLst/>
              <a:cxnLst/>
              <a:rect r="r" b="b" t="t" l="l"/>
              <a:pathLst>
                <a:path h="51206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606" r="0" b="-69460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956816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são limites oficiais de trânsito: são pontos de corte estatísticos criados para equilibrar as três classes.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8027" y="8151495"/>
            <a:ext cx="15792450" cy="787146"/>
            <a:chOff x="0" y="0"/>
            <a:chExt cx="21056600" cy="10495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05660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1056600">
                  <a:moveTo>
                    <a:pt x="0" y="262382"/>
                  </a:moveTo>
                  <a:cubicBezTo>
                    <a:pt x="0" y="117475"/>
                    <a:pt x="117475" y="0"/>
                    <a:pt x="262382" y="0"/>
                  </a:cubicBezTo>
                  <a:lnTo>
                    <a:pt x="20794218" y="0"/>
                  </a:lnTo>
                  <a:cubicBezTo>
                    <a:pt x="20939125" y="0"/>
                    <a:pt x="21056600" y="117475"/>
                    <a:pt x="21056600" y="262382"/>
                  </a:cubicBezTo>
                  <a:lnTo>
                    <a:pt x="21056600" y="787146"/>
                  </a:lnTo>
                  <a:cubicBezTo>
                    <a:pt x="21056600" y="932053"/>
                    <a:pt x="20939125" y="1049528"/>
                    <a:pt x="20794218" y="1049528"/>
                  </a:cubicBezTo>
                  <a:lnTo>
                    <a:pt x="262382" y="1049528"/>
                  </a:lnTo>
                  <a:cubicBezTo>
                    <a:pt x="117475" y="1049528"/>
                    <a:pt x="0" y="932053"/>
                    <a:pt x="0" y="787146"/>
                  </a:cubicBezTo>
                  <a:close/>
                </a:path>
              </a:pathLst>
            </a:custGeom>
            <a:solidFill>
              <a:srgbClr val="EEE7FA"/>
            </a:solidFill>
            <a:ln w="19050" cap="sq">
              <a:solidFill>
                <a:srgbClr val="DED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98829" y="8444627"/>
            <a:ext cx="1371600" cy="274320"/>
            <a:chOff x="0" y="0"/>
            <a:chExt cx="182880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28800" cy="365760"/>
            </a:xfrm>
            <a:custGeom>
              <a:avLst/>
              <a:gdLst/>
              <a:ahLst/>
              <a:cxnLst/>
              <a:rect r="r" b="b" t="t" l="l"/>
              <a:pathLst>
                <a:path h="3657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82880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Objetivo: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863977" y="8380476"/>
            <a:ext cx="12961620" cy="329184"/>
            <a:chOff x="0" y="0"/>
            <a:chExt cx="17282160" cy="4389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282161" cy="438912"/>
            </a:xfrm>
            <a:custGeom>
              <a:avLst/>
              <a:gdLst/>
              <a:ahLst/>
              <a:cxnLst/>
              <a:rect r="r" b="b" t="t" l="l"/>
              <a:pathLst>
                <a:path h="438912" w="17282161">
                  <a:moveTo>
                    <a:pt x="0" y="0"/>
                  </a:moveTo>
                  <a:lnTo>
                    <a:pt x="17282161" y="0"/>
                  </a:lnTo>
                  <a:lnTo>
                    <a:pt x="172821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223" r="0" b="-71722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72821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facilitar a interpretação do fluxo sem abandonar a avaliação quantitativa.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384048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 — CLASSIFICAÇÃO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Classifier no horizonte de 15 minutos.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17055" y="2555367"/>
            <a:ext cx="2967990" cy="1733550"/>
            <a:chOff x="0" y="0"/>
            <a:chExt cx="3957320" cy="231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73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957320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3698494" y="0"/>
                  </a:lnTo>
                  <a:cubicBezTo>
                    <a:pt x="3841496" y="0"/>
                    <a:pt x="3957320" y="115951"/>
                    <a:pt x="3957320" y="258826"/>
                  </a:cubicBezTo>
                  <a:lnTo>
                    <a:pt x="3957320" y="2052574"/>
                  </a:lnTo>
                  <a:cubicBezTo>
                    <a:pt x="3957320" y="2195576"/>
                    <a:pt x="3841369" y="2311400"/>
                    <a:pt x="3698494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917055" y="2555367"/>
            <a:ext cx="101346" cy="1733550"/>
            <a:chOff x="0" y="0"/>
            <a:chExt cx="135128" cy="231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00900" y="2784348"/>
            <a:ext cx="2468880" cy="576072"/>
            <a:chOff x="0" y="0"/>
            <a:chExt cx="32918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768096"/>
            </a:xfrm>
            <a:custGeom>
              <a:avLst/>
              <a:gdLst/>
              <a:ahLst/>
              <a:cxnLst/>
              <a:rect r="r" b="b" t="t" l="l"/>
              <a:pathLst>
                <a:path h="76809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329184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91,29%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00900" y="3470148"/>
            <a:ext cx="2468880" cy="493776"/>
            <a:chOff x="0" y="0"/>
            <a:chExt cx="3291840" cy="65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29184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F1-score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26599" y="2555367"/>
            <a:ext cx="2967990" cy="1733550"/>
            <a:chOff x="0" y="0"/>
            <a:chExt cx="395732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573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957320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3698494" y="0"/>
                  </a:lnTo>
                  <a:cubicBezTo>
                    <a:pt x="3841496" y="0"/>
                    <a:pt x="3957320" y="115951"/>
                    <a:pt x="3957320" y="258826"/>
                  </a:cubicBezTo>
                  <a:lnTo>
                    <a:pt x="3957320" y="2052574"/>
                  </a:lnTo>
                  <a:cubicBezTo>
                    <a:pt x="3957320" y="2195576"/>
                    <a:pt x="3841369" y="2311400"/>
                    <a:pt x="3698494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126599" y="2555367"/>
            <a:ext cx="101346" cy="1733550"/>
            <a:chOff x="0" y="0"/>
            <a:chExt cx="135128" cy="231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10444" y="2784348"/>
            <a:ext cx="2468880" cy="576072"/>
            <a:chOff x="0" y="0"/>
            <a:chExt cx="3291840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1840" cy="768096"/>
            </a:xfrm>
            <a:custGeom>
              <a:avLst/>
              <a:gdLst/>
              <a:ahLst/>
              <a:cxnLst/>
              <a:rect r="r" b="b" t="t" l="l"/>
              <a:pathLst>
                <a:path h="76809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329184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91,29%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10444" y="3470148"/>
            <a:ext cx="2468880" cy="493776"/>
            <a:chOff x="0" y="0"/>
            <a:chExt cx="329184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29184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36143" y="2555367"/>
            <a:ext cx="2967990" cy="1733550"/>
            <a:chOff x="0" y="0"/>
            <a:chExt cx="3957320" cy="2311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73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957320">
                  <a:moveTo>
                    <a:pt x="0" y="258826"/>
                  </a:moveTo>
                  <a:cubicBezTo>
                    <a:pt x="0" y="115951"/>
                    <a:pt x="115951" y="0"/>
                    <a:pt x="258826" y="0"/>
                  </a:cubicBezTo>
                  <a:lnTo>
                    <a:pt x="3698494" y="0"/>
                  </a:lnTo>
                  <a:cubicBezTo>
                    <a:pt x="3841496" y="0"/>
                    <a:pt x="3957320" y="115951"/>
                    <a:pt x="3957320" y="258826"/>
                  </a:cubicBezTo>
                  <a:lnTo>
                    <a:pt x="3957320" y="2052574"/>
                  </a:lnTo>
                  <a:cubicBezTo>
                    <a:pt x="3957320" y="2195576"/>
                    <a:pt x="3841369" y="2311400"/>
                    <a:pt x="3698494" y="2311400"/>
                  </a:cubicBezTo>
                  <a:lnTo>
                    <a:pt x="258826" y="2311400"/>
                  </a:lnTo>
                  <a:cubicBezTo>
                    <a:pt x="115951" y="2311400"/>
                    <a:pt x="0" y="2195449"/>
                    <a:pt x="0" y="2052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336143" y="2555367"/>
            <a:ext cx="101346" cy="1733550"/>
            <a:chOff x="0" y="0"/>
            <a:chExt cx="135128" cy="2311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6D2C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19988" y="2784348"/>
            <a:ext cx="2468880" cy="576072"/>
            <a:chOff x="0" y="0"/>
            <a:chExt cx="329184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768096"/>
            </a:xfrm>
            <a:custGeom>
              <a:avLst/>
              <a:gdLst/>
              <a:ahLst/>
              <a:cxnLst/>
              <a:rect r="r" b="b" t="t" l="l"/>
              <a:pathLst>
                <a:path h="768096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3291840" cy="834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91,19%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19988" y="3470148"/>
            <a:ext cx="2468880" cy="493776"/>
            <a:chOff x="0" y="0"/>
            <a:chExt cx="329184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29184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170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17055" y="4722495"/>
            <a:ext cx="9387078" cy="2899410"/>
            <a:chOff x="0" y="0"/>
            <a:chExt cx="12516104" cy="3865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16103" cy="3865880"/>
            </a:xfrm>
            <a:custGeom>
              <a:avLst/>
              <a:gdLst/>
              <a:ahLst/>
              <a:cxnLst/>
              <a:rect r="r" b="b" t="t" l="l"/>
              <a:pathLst>
                <a:path h="3865880" w="12516103">
                  <a:moveTo>
                    <a:pt x="0" y="257683"/>
                  </a:moveTo>
                  <a:cubicBezTo>
                    <a:pt x="0" y="115443"/>
                    <a:pt x="115443" y="0"/>
                    <a:pt x="257683" y="0"/>
                  </a:cubicBezTo>
                  <a:lnTo>
                    <a:pt x="12258421" y="0"/>
                  </a:lnTo>
                  <a:cubicBezTo>
                    <a:pt x="12400788" y="0"/>
                    <a:pt x="12516103" y="115443"/>
                    <a:pt x="12516103" y="257683"/>
                  </a:cubicBezTo>
                  <a:lnTo>
                    <a:pt x="12516103" y="3608197"/>
                  </a:lnTo>
                  <a:cubicBezTo>
                    <a:pt x="12516103" y="3750564"/>
                    <a:pt x="12400661" y="3865880"/>
                    <a:pt x="12258421" y="3865880"/>
                  </a:cubicBezTo>
                  <a:lnTo>
                    <a:pt x="257683" y="3865880"/>
                  </a:lnTo>
                  <a:cubicBezTo>
                    <a:pt x="115443" y="3865880"/>
                    <a:pt x="0" y="3750437"/>
                    <a:pt x="0" y="36081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D2CF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324344" y="4949380"/>
            <a:ext cx="3017520" cy="329184"/>
            <a:chOff x="0" y="0"/>
            <a:chExt cx="402336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02336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LEITURA DA MATRIZ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24344" y="5498020"/>
            <a:ext cx="8023860" cy="342900"/>
            <a:chOff x="0" y="0"/>
            <a:chExt cx="1069848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984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949" r="0" b="-4059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69848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Acertos concentram-se na diagonal.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24344" y="6019229"/>
            <a:ext cx="8023860" cy="411480"/>
            <a:chOff x="0" y="0"/>
            <a:chExt cx="1069848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9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6984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Erros acontecem principalmente entre classes adjacentes.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24344" y="6540437"/>
            <a:ext cx="8023860" cy="411480"/>
            <a:chOff x="0" y="0"/>
            <a:chExt cx="106984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9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6984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Baixo ↔ Alto quase não se confundem.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324344" y="7075360"/>
            <a:ext cx="8023860" cy="384048"/>
            <a:chOff x="0" y="0"/>
            <a:chExt cx="1069848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984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098" r="0" b="-3570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6984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Adicionar o cluster trouxe ganho mínimo: F1 0,9117 → 0,9122.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26580" y="8119872"/>
            <a:ext cx="9368028" cy="480060"/>
            <a:chOff x="0" y="0"/>
            <a:chExt cx="12490704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490704" cy="640080"/>
            </a:xfrm>
            <a:custGeom>
              <a:avLst/>
              <a:gdLst/>
              <a:ahLst/>
              <a:cxnLst/>
              <a:rect r="r" b="b" t="t" l="l"/>
              <a:pathLst>
                <a:path h="640080" w="12490704">
                  <a:moveTo>
                    <a:pt x="0" y="0"/>
                  </a:moveTo>
                  <a:lnTo>
                    <a:pt x="12490704" y="0"/>
                  </a:lnTo>
                  <a:lnTo>
                    <a:pt x="124907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236" r="0" b="-3302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49070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7170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classe média foi a mais difícil de separar das vizinhas.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261105" y="2378600"/>
            <a:ext cx="6291413" cy="5392639"/>
          </a:xfrm>
          <a:custGeom>
            <a:avLst/>
            <a:gdLst/>
            <a:ahLst/>
            <a:cxnLst/>
            <a:rect r="r" b="b" t="t" l="l"/>
            <a:pathLst>
              <a:path h="5392639" w="6291413">
                <a:moveTo>
                  <a:pt x="0" y="0"/>
                </a:moveTo>
                <a:lnTo>
                  <a:pt x="6291413" y="0"/>
                </a:lnTo>
                <a:lnTo>
                  <a:pt x="6291413" y="5392640"/>
                </a:lnTo>
                <a:lnTo>
                  <a:pt x="0" y="539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rnd">
            <a:solidFill>
              <a:srgbClr val="6D2CF2"/>
            </a:solidFill>
            <a:prstDash val="solid"/>
            <a:round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-239254" y="10133457"/>
            <a:ext cx="18766507" cy="451379"/>
          </a:xfrm>
          <a:custGeom>
            <a:avLst/>
            <a:gdLst/>
            <a:ahLst/>
            <a:cxnLst/>
            <a:rect r="r" b="b" t="t" l="l"/>
            <a:pathLst>
              <a:path h="451379" w="18766507">
                <a:moveTo>
                  <a:pt x="0" y="0"/>
                </a:moveTo>
                <a:lnTo>
                  <a:pt x="18766508" y="0"/>
                </a:lnTo>
                <a:lnTo>
                  <a:pt x="18766508" y="451379"/>
                </a:lnTo>
                <a:lnTo>
                  <a:pt x="0" y="451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8994" r="0" b="-2899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384048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OS EXPERIMENTOS MOSTRARAM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Mais importante do que “qual modelo ganhou” foi entender o comportamento do problema.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015" y="2116455"/>
            <a:ext cx="4792218" cy="5162550"/>
            <a:chOff x="0" y="0"/>
            <a:chExt cx="6389624" cy="688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89624" cy="6883400"/>
            </a:xfrm>
            <a:custGeom>
              <a:avLst/>
              <a:gdLst/>
              <a:ahLst/>
              <a:cxnLst/>
              <a:rect r="r" b="b" t="t" l="l"/>
              <a:pathLst>
                <a:path h="6883400" w="638962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132576" y="0"/>
                  </a:lnTo>
                  <a:cubicBezTo>
                    <a:pt x="6274562" y="0"/>
                    <a:pt x="6389624" y="115062"/>
                    <a:pt x="6389624" y="257048"/>
                  </a:cubicBezTo>
                  <a:lnTo>
                    <a:pt x="6389624" y="6626352"/>
                  </a:lnTo>
                  <a:cubicBezTo>
                    <a:pt x="6389624" y="6768338"/>
                    <a:pt x="6274562" y="6883400"/>
                    <a:pt x="6132576" y="6883400"/>
                  </a:cubicBezTo>
                  <a:lnTo>
                    <a:pt x="257048" y="6883400"/>
                  </a:lnTo>
                  <a:cubicBezTo>
                    <a:pt x="115062" y="6883400"/>
                    <a:pt x="0" y="6768338"/>
                    <a:pt x="0" y="66263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93292" y="2510028"/>
            <a:ext cx="4046220" cy="617220"/>
            <a:chOff x="0" y="0"/>
            <a:chExt cx="539496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4960" cy="822960"/>
            </a:xfrm>
            <a:custGeom>
              <a:avLst/>
              <a:gdLst/>
              <a:ahLst/>
              <a:cxnLst/>
              <a:rect r="r" b="b" t="t" l="l"/>
              <a:pathLst>
                <a:path h="8229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4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MODELOS DE ÁRVORE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3292" y="3497580"/>
            <a:ext cx="4087368" cy="1714500"/>
            <a:chOff x="0" y="0"/>
            <a:chExt cx="5449824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49824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18" t="0" r="-381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449824" cy="233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e boosting superaram a regressão linear nos problemas supervisionados.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3767" y="6354699"/>
            <a:ext cx="1870710" cy="471678"/>
            <a:chOff x="0" y="0"/>
            <a:chExt cx="2494280" cy="6289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94280" cy="628904"/>
            </a:xfrm>
            <a:custGeom>
              <a:avLst/>
              <a:gdLst/>
              <a:ahLst/>
              <a:cxnLst/>
              <a:rect r="r" b="b" t="t" l="l"/>
              <a:pathLst>
                <a:path h="628904" w="249428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2189353" y="0"/>
                  </a:lnTo>
                  <a:cubicBezTo>
                    <a:pt x="2357755" y="0"/>
                    <a:pt x="2494280" y="136525"/>
                    <a:pt x="2494280" y="304927"/>
                  </a:cubicBezTo>
                  <a:lnTo>
                    <a:pt x="2494280" y="323977"/>
                  </a:lnTo>
                  <a:cubicBezTo>
                    <a:pt x="2494280" y="492379"/>
                    <a:pt x="2357755" y="628904"/>
                    <a:pt x="218935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0452" y="6377940"/>
            <a:ext cx="1577340" cy="370332"/>
            <a:chOff x="0" y="0"/>
            <a:chExt cx="2103120" cy="4937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" cy="493776"/>
            </a:xfrm>
            <a:custGeom>
              <a:avLst/>
              <a:gdLst/>
              <a:ahLst/>
              <a:cxnLst/>
              <a:rect r="r" b="b" t="t" l="l"/>
              <a:pathLst>
                <a:path h="49377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1" r="0" b="-329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0312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NÃO LINEARIDADE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35243" y="2116455"/>
            <a:ext cx="4792218" cy="5162550"/>
            <a:chOff x="0" y="0"/>
            <a:chExt cx="6389624" cy="688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89624" cy="6883400"/>
            </a:xfrm>
            <a:custGeom>
              <a:avLst/>
              <a:gdLst/>
              <a:ahLst/>
              <a:cxnLst/>
              <a:rect r="r" b="b" t="t" l="l"/>
              <a:pathLst>
                <a:path h="6883400" w="638962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132576" y="0"/>
                  </a:lnTo>
                  <a:cubicBezTo>
                    <a:pt x="6274562" y="0"/>
                    <a:pt x="6389624" y="115062"/>
                    <a:pt x="6389624" y="257048"/>
                  </a:cubicBezTo>
                  <a:lnTo>
                    <a:pt x="6389624" y="6626352"/>
                  </a:lnTo>
                  <a:cubicBezTo>
                    <a:pt x="6389624" y="6768338"/>
                    <a:pt x="6274562" y="6883400"/>
                    <a:pt x="6132576" y="6883400"/>
                  </a:cubicBezTo>
                  <a:lnTo>
                    <a:pt x="257048" y="6883400"/>
                  </a:lnTo>
                  <a:cubicBezTo>
                    <a:pt x="115062" y="6883400"/>
                    <a:pt x="0" y="6768338"/>
                    <a:pt x="0" y="66263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46520" y="2510028"/>
            <a:ext cx="4046220" cy="617220"/>
            <a:chOff x="0" y="0"/>
            <a:chExt cx="53949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4960" cy="822960"/>
            </a:xfrm>
            <a:custGeom>
              <a:avLst/>
              <a:gdLst/>
              <a:ahLst/>
              <a:cxnLst/>
              <a:rect r="r" b="b" t="t" l="l"/>
              <a:pathLst>
                <a:path h="8229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394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D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HISTÓRICO RECENTE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46520" y="3497580"/>
            <a:ext cx="4087368" cy="1714500"/>
            <a:chOff x="0" y="0"/>
            <a:chExt cx="5449824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9824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18" t="0" r="-381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449824" cy="233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lag_1, lag_4 e rolling carregaram grande parte da informação para previsões de curto prazo.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36995" y="6354699"/>
            <a:ext cx="1870710" cy="471678"/>
            <a:chOff x="0" y="0"/>
            <a:chExt cx="2494280" cy="6289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94280" cy="628904"/>
            </a:xfrm>
            <a:custGeom>
              <a:avLst/>
              <a:gdLst/>
              <a:ahLst/>
              <a:cxnLst/>
              <a:rect r="r" b="b" t="t" l="l"/>
              <a:pathLst>
                <a:path h="628904" w="249428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2189353" y="0"/>
                  </a:lnTo>
                  <a:cubicBezTo>
                    <a:pt x="2357755" y="0"/>
                    <a:pt x="2494280" y="136525"/>
                    <a:pt x="2494280" y="304927"/>
                  </a:cubicBezTo>
                  <a:lnTo>
                    <a:pt x="2494280" y="323977"/>
                  </a:lnTo>
                  <a:cubicBezTo>
                    <a:pt x="2494280" y="492379"/>
                    <a:pt x="2357755" y="628904"/>
                    <a:pt x="218935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83680" y="6377940"/>
            <a:ext cx="1577340" cy="370332"/>
            <a:chOff x="0" y="0"/>
            <a:chExt cx="2103120" cy="4937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03120" cy="493776"/>
            </a:xfrm>
            <a:custGeom>
              <a:avLst/>
              <a:gdLst/>
              <a:ahLst/>
              <a:cxnLst/>
              <a:rect r="r" b="b" t="t" l="l"/>
              <a:pathLst>
                <a:path h="49377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1" r="0" b="-329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10312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D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SINAL TEMPORAL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88471" y="2116455"/>
            <a:ext cx="4792218" cy="5162550"/>
            <a:chOff x="0" y="0"/>
            <a:chExt cx="6389624" cy="688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89624" cy="6883400"/>
            </a:xfrm>
            <a:custGeom>
              <a:avLst/>
              <a:gdLst/>
              <a:ahLst/>
              <a:cxnLst/>
              <a:rect r="r" b="b" t="t" l="l"/>
              <a:pathLst>
                <a:path h="6883400" w="6389624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132576" y="0"/>
                  </a:lnTo>
                  <a:cubicBezTo>
                    <a:pt x="6274562" y="0"/>
                    <a:pt x="6389624" y="115062"/>
                    <a:pt x="6389624" y="257048"/>
                  </a:cubicBezTo>
                  <a:lnTo>
                    <a:pt x="6389624" y="6626352"/>
                  </a:lnTo>
                  <a:cubicBezTo>
                    <a:pt x="6389624" y="6768338"/>
                    <a:pt x="6274562" y="6883400"/>
                    <a:pt x="6132576" y="6883400"/>
                  </a:cubicBezTo>
                  <a:lnTo>
                    <a:pt x="257048" y="6883400"/>
                  </a:lnTo>
                  <a:cubicBezTo>
                    <a:pt x="115062" y="6883400"/>
                    <a:pt x="0" y="6768338"/>
                    <a:pt x="0" y="66263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699748" y="2510028"/>
            <a:ext cx="4046220" cy="617220"/>
            <a:chOff x="0" y="0"/>
            <a:chExt cx="539496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4960" cy="822960"/>
            </a:xfrm>
            <a:custGeom>
              <a:avLst/>
              <a:gdLst/>
              <a:ahLst/>
              <a:cxnLst/>
              <a:rect r="r" b="b" t="t" l="l"/>
              <a:pathLst>
                <a:path h="82296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394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F9E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99748" y="3497580"/>
            <a:ext cx="4087368" cy="1714500"/>
            <a:chOff x="0" y="0"/>
            <a:chExt cx="5449824" cy="2286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49824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18" t="0" r="-381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449824" cy="233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Foi útil para segmentar e interpretar os equipamentos, mas adicionou pouco ganho preditivo.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690223" y="6354699"/>
            <a:ext cx="1870710" cy="471678"/>
            <a:chOff x="0" y="0"/>
            <a:chExt cx="2494280" cy="6289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94280" cy="628904"/>
            </a:xfrm>
            <a:custGeom>
              <a:avLst/>
              <a:gdLst/>
              <a:ahLst/>
              <a:cxnLst/>
              <a:rect r="r" b="b" t="t" l="l"/>
              <a:pathLst>
                <a:path h="628904" w="2494280">
                  <a:moveTo>
                    <a:pt x="0" y="304927"/>
                  </a:moveTo>
                  <a:cubicBezTo>
                    <a:pt x="0" y="136525"/>
                    <a:pt x="136525" y="0"/>
                    <a:pt x="304927" y="0"/>
                  </a:cubicBezTo>
                  <a:lnTo>
                    <a:pt x="2189353" y="0"/>
                  </a:lnTo>
                  <a:cubicBezTo>
                    <a:pt x="2357755" y="0"/>
                    <a:pt x="2494280" y="136525"/>
                    <a:pt x="2494280" y="304927"/>
                  </a:cubicBezTo>
                  <a:lnTo>
                    <a:pt x="2494280" y="323977"/>
                  </a:lnTo>
                  <a:cubicBezTo>
                    <a:pt x="2494280" y="492379"/>
                    <a:pt x="2357755" y="628904"/>
                    <a:pt x="2189353" y="628904"/>
                  </a:cubicBezTo>
                  <a:lnTo>
                    <a:pt x="304927" y="628904"/>
                  </a:lnTo>
                  <a:cubicBezTo>
                    <a:pt x="136525" y="628904"/>
                    <a:pt x="0" y="492379"/>
                    <a:pt x="0" y="323977"/>
                  </a:cubicBezTo>
                  <a:close/>
                </a:path>
              </a:pathLst>
            </a:custGeom>
            <a:solidFill>
              <a:srgbClr val="F2EC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36908" y="6377940"/>
            <a:ext cx="1577340" cy="370332"/>
            <a:chOff x="0" y="0"/>
            <a:chExt cx="2103120" cy="4937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03120" cy="493776"/>
            </a:xfrm>
            <a:custGeom>
              <a:avLst/>
              <a:gdLst/>
              <a:ahLst/>
              <a:cxnLst/>
              <a:rect r="r" b="b" t="t" l="l"/>
              <a:pathLst>
                <a:path h="49377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1" r="0" b="-329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10312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F9E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GANHO PEQUENO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82015" y="7644003"/>
            <a:ext cx="15312390" cy="1088898"/>
            <a:chOff x="0" y="0"/>
            <a:chExt cx="20416520" cy="14518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16520" cy="1451864"/>
            </a:xfrm>
            <a:custGeom>
              <a:avLst/>
              <a:gdLst/>
              <a:ahLst/>
              <a:cxnLst/>
              <a:rect r="r" b="b" t="t" l="l"/>
              <a:pathLst>
                <a:path h="1451864" w="20416520">
                  <a:moveTo>
                    <a:pt x="0" y="260604"/>
                  </a:moveTo>
                  <a:cubicBezTo>
                    <a:pt x="0" y="116713"/>
                    <a:pt x="116713" y="0"/>
                    <a:pt x="260604" y="0"/>
                  </a:cubicBezTo>
                  <a:lnTo>
                    <a:pt x="20155915" y="0"/>
                  </a:lnTo>
                  <a:cubicBezTo>
                    <a:pt x="20299806" y="0"/>
                    <a:pt x="20416520" y="116713"/>
                    <a:pt x="20416520" y="260604"/>
                  </a:cubicBezTo>
                  <a:lnTo>
                    <a:pt x="20416520" y="1191260"/>
                  </a:lnTo>
                  <a:cubicBezTo>
                    <a:pt x="20416520" y="1335151"/>
                    <a:pt x="20299806" y="1451864"/>
                    <a:pt x="20155915" y="1451864"/>
                  </a:cubicBezTo>
                  <a:lnTo>
                    <a:pt x="260604" y="1451864"/>
                  </a:lnTo>
                  <a:cubicBezTo>
                    <a:pt x="116713" y="1451864"/>
                    <a:pt x="0" y="1335151"/>
                    <a:pt x="0" y="1191260"/>
                  </a:cubicBezTo>
                  <a:close/>
                </a:path>
              </a:pathLst>
            </a:custGeom>
            <a:solidFill>
              <a:srgbClr val="11152B"/>
            </a:solidFill>
            <a:ln w="19050" cap="sq">
              <a:solidFill>
                <a:srgbClr val="11152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61872" y="7982712"/>
            <a:ext cx="2537460" cy="301752"/>
            <a:chOff x="0" y="0"/>
            <a:chExt cx="3383280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83280" cy="402336"/>
            </a:xfrm>
            <a:custGeom>
              <a:avLst/>
              <a:gdLst/>
              <a:ahLst/>
              <a:cxnLst/>
              <a:rect r="r" b="b" t="t" l="l"/>
              <a:pathLst>
                <a:path h="402336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51" r="0" b="-1138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38328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CA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APRENDIZADO CENTRAL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931675" y="7857744"/>
            <a:ext cx="11590020" cy="661416"/>
            <a:chOff x="0" y="0"/>
            <a:chExt cx="15453360" cy="8818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453361" cy="881888"/>
            </a:xfrm>
            <a:custGeom>
              <a:avLst/>
              <a:gdLst/>
              <a:ahLst/>
              <a:cxnLst/>
              <a:rect r="r" b="b" t="t" l="l"/>
              <a:pathLst>
                <a:path h="881888" w="15453361">
                  <a:moveTo>
                    <a:pt x="0" y="0"/>
                  </a:moveTo>
                  <a:lnTo>
                    <a:pt x="15453361" y="0"/>
                  </a:lnTo>
                  <a:lnTo>
                    <a:pt x="15453361" y="881888"/>
                  </a:lnTo>
                  <a:lnTo>
                    <a:pt x="0" y="881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331" r="0" b="-2725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5453360" cy="919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 o curto prazo, o comportamento recente do tráfego foi mais informativo do que a identidade do equipamento ou seu cluster.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2900">
            <a:off x="588216" y="836105"/>
            <a:ext cx="1909667" cy="0"/>
          </a:xfrm>
          <a:prstGeom prst="line">
            <a:avLst/>
          </a:prstGeom>
          <a:ln cap="rnd" w="28575">
            <a:solidFill>
              <a:srgbClr val="6D2C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" y="384048"/>
            <a:ext cx="15636240" cy="630936"/>
            <a:chOff x="0" y="0"/>
            <a:chExt cx="20848320" cy="841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8320" cy="841248"/>
            </a:xfrm>
            <a:custGeom>
              <a:avLst/>
              <a:gdLst/>
              <a:ahLst/>
              <a:cxnLst/>
              <a:rect r="r" b="b" t="t" l="l"/>
              <a:pathLst>
                <a:path h="841248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848320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 E PRÓXIMOS PASSOS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380" y="1083564"/>
            <a:ext cx="15841980" cy="480060"/>
            <a:chOff x="0" y="0"/>
            <a:chExt cx="2112264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2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1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evolução do projeto transformou análise descritiva em modelagem preditiva.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015" y="1979295"/>
            <a:ext cx="4751070" cy="2967990"/>
            <a:chOff x="0" y="0"/>
            <a:chExt cx="6334760" cy="3957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34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633476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077077" y="0"/>
                  </a:lnTo>
                  <a:cubicBezTo>
                    <a:pt x="6219444" y="0"/>
                    <a:pt x="6334760" y="115316"/>
                    <a:pt x="6334760" y="257683"/>
                  </a:cubicBezTo>
                  <a:lnTo>
                    <a:pt x="6334760" y="3699637"/>
                  </a:lnTo>
                  <a:cubicBezTo>
                    <a:pt x="6334760" y="3842004"/>
                    <a:pt x="6219444" y="3957320"/>
                    <a:pt x="6077077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93292" y="2386584"/>
            <a:ext cx="3977640" cy="384048"/>
            <a:chOff x="0" y="0"/>
            <a:chExt cx="530352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03520" cy="512064"/>
            </a:xfrm>
            <a:custGeom>
              <a:avLst/>
              <a:gdLst/>
              <a:ahLst/>
              <a:cxnLst/>
              <a:rect r="r" b="b" t="t" l="l"/>
              <a:pathLst>
                <a:path h="51206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303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CLUSTERIZAÇÃO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3292" y="3086100"/>
            <a:ext cx="3922776" cy="1207008"/>
            <a:chOff x="0" y="0"/>
            <a:chExt cx="5230368" cy="1609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30368" cy="1609344"/>
            </a:xfrm>
            <a:custGeom>
              <a:avLst/>
              <a:gdLst/>
              <a:ahLst/>
              <a:cxnLst/>
              <a:rect r="r" b="b" t="t" l="l"/>
              <a:pathLst>
                <a:path h="1609344" w="5230368">
                  <a:moveTo>
                    <a:pt x="0" y="0"/>
                  </a:moveTo>
                  <a:lnTo>
                    <a:pt x="5230368" y="0"/>
                  </a:lnTo>
                  <a:lnTo>
                    <a:pt x="5230368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230368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Identificou 4 perfis de comportamento entre os equipamentos.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35243" y="1979295"/>
            <a:ext cx="4751070" cy="2967990"/>
            <a:chOff x="0" y="0"/>
            <a:chExt cx="6334760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4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633476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077077" y="0"/>
                  </a:lnTo>
                  <a:cubicBezTo>
                    <a:pt x="6219444" y="0"/>
                    <a:pt x="6334760" y="115316"/>
                    <a:pt x="6334760" y="257683"/>
                  </a:cubicBezTo>
                  <a:lnTo>
                    <a:pt x="6334760" y="3699637"/>
                  </a:lnTo>
                  <a:cubicBezTo>
                    <a:pt x="6334760" y="3842004"/>
                    <a:pt x="6219444" y="3957320"/>
                    <a:pt x="6077077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46520" y="2386584"/>
            <a:ext cx="3977640" cy="384048"/>
            <a:chOff x="0" y="0"/>
            <a:chExt cx="530352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3520" cy="512064"/>
            </a:xfrm>
            <a:custGeom>
              <a:avLst/>
              <a:gdLst/>
              <a:ahLst/>
              <a:cxnLst/>
              <a:rect r="r" b="b" t="t" l="l"/>
              <a:pathLst>
                <a:path h="51206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303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3D7B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REGRESSÃO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46520" y="3086100"/>
            <a:ext cx="3922776" cy="1207008"/>
            <a:chOff x="0" y="0"/>
            <a:chExt cx="5230368" cy="16093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0368" cy="1609344"/>
            </a:xfrm>
            <a:custGeom>
              <a:avLst/>
              <a:gdLst/>
              <a:ahLst/>
              <a:cxnLst/>
              <a:rect r="r" b="b" t="t" l="l"/>
              <a:pathLst>
                <a:path h="1609344" w="5230368">
                  <a:moveTo>
                    <a:pt x="0" y="0"/>
                  </a:moveTo>
                  <a:lnTo>
                    <a:pt x="5230368" y="0"/>
                  </a:lnTo>
                  <a:lnTo>
                    <a:pt x="5230368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230368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Previu volume em 15 min, 1 h, 1 dia e 1 semana; o curto prazo foi mais previsível.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88471" y="1979295"/>
            <a:ext cx="4751070" cy="2967990"/>
            <a:chOff x="0" y="0"/>
            <a:chExt cx="6334760" cy="3957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4760" cy="3957320"/>
            </a:xfrm>
            <a:custGeom>
              <a:avLst/>
              <a:gdLst/>
              <a:ahLst/>
              <a:cxnLst/>
              <a:rect r="r" b="b" t="t" l="l"/>
              <a:pathLst>
                <a:path h="3957320" w="633476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077077" y="0"/>
                  </a:lnTo>
                  <a:cubicBezTo>
                    <a:pt x="6219444" y="0"/>
                    <a:pt x="6334760" y="115316"/>
                    <a:pt x="6334760" y="257683"/>
                  </a:cubicBezTo>
                  <a:lnTo>
                    <a:pt x="6334760" y="3699637"/>
                  </a:lnTo>
                  <a:cubicBezTo>
                    <a:pt x="6334760" y="3842004"/>
                    <a:pt x="6219444" y="3957320"/>
                    <a:pt x="6077077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D6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99748" y="2386584"/>
            <a:ext cx="3977640" cy="384048"/>
            <a:chOff x="0" y="0"/>
            <a:chExt cx="5303520" cy="5120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512064"/>
            </a:xfrm>
            <a:custGeom>
              <a:avLst/>
              <a:gdLst/>
              <a:ahLst/>
              <a:cxnLst/>
              <a:rect r="r" b="b" t="t" l="l"/>
              <a:pathLst>
                <a:path h="51206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303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F9E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CLASSIFICAÇÃO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99748" y="3086100"/>
            <a:ext cx="3922776" cy="1207008"/>
            <a:chOff x="0" y="0"/>
            <a:chExt cx="5230368" cy="1609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0368" cy="1609344"/>
            </a:xfrm>
            <a:custGeom>
              <a:avLst/>
              <a:gdLst/>
              <a:ahLst/>
              <a:cxnLst/>
              <a:rect r="r" b="b" t="t" l="l"/>
              <a:pathLst>
                <a:path h="1609344" w="5230368">
                  <a:moveTo>
                    <a:pt x="0" y="0"/>
                  </a:moveTo>
                  <a:lnTo>
                    <a:pt x="5230368" y="0"/>
                  </a:lnTo>
                  <a:lnTo>
                    <a:pt x="5230368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230368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Classificou o fluxo em baixo, médio e alto com F1 ≈ 0,91.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2688" y="5650992"/>
            <a:ext cx="2743200" cy="329184"/>
            <a:chOff x="0" y="0"/>
            <a:chExt cx="365760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438912"/>
            </a:xfrm>
            <a:custGeom>
              <a:avLst/>
              <a:gdLst/>
              <a:ahLst/>
              <a:cxnLst/>
              <a:rect r="r" b="b" t="t" l="l"/>
              <a:pathLst>
                <a:path h="4389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6576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PRÓXIMOS PASSOS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416" y="6199632"/>
            <a:ext cx="617220" cy="438912"/>
            <a:chOff x="0" y="0"/>
            <a:chExt cx="82296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29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238" t="0" r="-4123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22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55648" y="6199632"/>
            <a:ext cx="4594860" cy="384048"/>
            <a:chOff x="0" y="0"/>
            <a:chExt cx="6126480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512064"/>
            </a:xfrm>
            <a:custGeom>
              <a:avLst/>
              <a:gdLst/>
              <a:ahLst/>
              <a:cxnLst/>
              <a:rect r="r" b="b" t="t" l="l"/>
              <a:pathLst>
                <a:path h="51206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124" r="0" b="-1831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1264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Expandir o período de dados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40780" y="6213348"/>
            <a:ext cx="9121140" cy="384048"/>
            <a:chOff x="0" y="0"/>
            <a:chExt cx="1216152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6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2161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sar mais meses para testar estabilidade.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2416" y="7050024"/>
            <a:ext cx="617220" cy="438912"/>
            <a:chOff x="0" y="0"/>
            <a:chExt cx="82296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238" t="0" r="-41238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22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55648" y="7050024"/>
            <a:ext cx="4594860" cy="384048"/>
            <a:chOff x="0" y="0"/>
            <a:chExt cx="6126480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126480" cy="512064"/>
            </a:xfrm>
            <a:custGeom>
              <a:avLst/>
              <a:gdLst/>
              <a:ahLst/>
              <a:cxnLst/>
              <a:rect r="r" b="b" t="t" l="l"/>
              <a:pathLst>
                <a:path h="51206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124" r="0" b="-18312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1264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Adicionar novas variáveis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40780" y="7063740"/>
            <a:ext cx="9121140" cy="384048"/>
            <a:chOff x="0" y="0"/>
            <a:chExt cx="1216152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6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2161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lima, feriados, eventos e contexto viário.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42416" y="7900416"/>
            <a:ext cx="617220" cy="438912"/>
            <a:chOff x="0" y="0"/>
            <a:chExt cx="822960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" cy="585216"/>
            </a:xfrm>
            <a:custGeom>
              <a:avLst/>
              <a:gdLst/>
              <a:ahLst/>
              <a:cxnLst/>
              <a:rect r="r" b="b" t="t" l="l"/>
              <a:pathLst>
                <a:path h="58521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238" t="0" r="-41238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822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6D2C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55648" y="7900416"/>
            <a:ext cx="4594860" cy="384048"/>
            <a:chOff x="0" y="0"/>
            <a:chExt cx="612648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6480" cy="512064"/>
            </a:xfrm>
            <a:custGeom>
              <a:avLst/>
              <a:gdLst/>
              <a:ahLst/>
              <a:cxnLst/>
              <a:rect r="r" b="b" t="t" l="l"/>
              <a:pathLst>
                <a:path h="512064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124" r="0" b="-1831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1264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1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Integrar o ML à aplicação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40780" y="7914132"/>
            <a:ext cx="9121140" cy="384048"/>
            <a:chOff x="0" y="0"/>
            <a:chExt cx="12161520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615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21615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1650">
                  <a:solidFill>
                    <a:srgbClr val="3632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isponibilizar previsões e categorias na interface.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93924" y="7629778"/>
            <a:ext cx="4998274" cy="4998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744514" y="-1844291"/>
            <a:ext cx="4019574" cy="4019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27386" y="1795041"/>
            <a:ext cx="1866704" cy="186670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119740" y="-3749735"/>
            <a:ext cx="8832912" cy="9071027"/>
          </a:xfrm>
          <a:custGeom>
            <a:avLst/>
            <a:gdLst/>
            <a:ahLst/>
            <a:cxnLst/>
            <a:rect r="r" b="b" t="t" l="l"/>
            <a:pathLst>
              <a:path h="9071027" w="8832912">
                <a:moveTo>
                  <a:pt x="0" y="0"/>
                </a:moveTo>
                <a:lnTo>
                  <a:pt x="8832913" y="0"/>
                </a:lnTo>
                <a:lnTo>
                  <a:pt x="8832913" y="9071027"/>
                </a:lnTo>
                <a:lnTo>
                  <a:pt x="0" y="9071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80060" y="7570019"/>
            <a:ext cx="7282832" cy="4114800"/>
          </a:xfrm>
          <a:custGeom>
            <a:avLst/>
            <a:gdLst/>
            <a:ahLst/>
            <a:cxnLst/>
            <a:rect r="r" b="b" t="t" l="l"/>
            <a:pathLst>
              <a:path h="4114800" w="7282832">
                <a:moveTo>
                  <a:pt x="0" y="0"/>
                </a:moveTo>
                <a:lnTo>
                  <a:pt x="7282832" y="0"/>
                </a:lnTo>
                <a:lnTo>
                  <a:pt x="72828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891099">
            <a:off x="6749561" y="588829"/>
            <a:ext cx="4541149" cy="8109195"/>
          </a:xfrm>
          <a:custGeom>
            <a:avLst/>
            <a:gdLst/>
            <a:ahLst/>
            <a:cxnLst/>
            <a:rect r="r" b="b" t="t" l="l"/>
            <a:pathLst>
              <a:path h="8109195" w="4541149">
                <a:moveTo>
                  <a:pt x="0" y="0"/>
                </a:moveTo>
                <a:lnTo>
                  <a:pt x="4541149" y="0"/>
                </a:lnTo>
                <a:lnTo>
                  <a:pt x="4541149" y="8109195"/>
                </a:lnTo>
                <a:lnTo>
                  <a:pt x="0" y="8109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991" r="0" b="18572"/>
          <a:stretch>
            <a:fillRect/>
          </a:stretch>
        </p:blipFill>
        <p:spPr>
          <a:xfrm flipH="false" flipV="false" rot="0">
            <a:off x="6556620" y="2661863"/>
            <a:ext cx="4927030" cy="3963127"/>
          </a:xfrm>
          <a:prstGeom prst="rect">
            <a:avLst/>
          </a:prstGeom>
          <a:ln cap="rnd">
            <a:noFill/>
            <a:prstDash val="solid"/>
          </a:ln>
        </p:spPr>
      </p:pic>
      <p:sp>
        <p:nvSpPr>
          <p:cNvPr name="TextBox 17" id="17"/>
          <p:cNvSpPr txBox="true"/>
          <p:nvPr/>
        </p:nvSpPr>
        <p:spPr>
          <a:xfrm rot="0">
            <a:off x="6679927" y="1200150"/>
            <a:ext cx="4928146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DÚVIDAS?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1544" y="5751487"/>
            <a:ext cx="8832912" cy="9071027"/>
          </a:xfrm>
          <a:custGeom>
            <a:avLst/>
            <a:gdLst/>
            <a:ahLst/>
            <a:cxnLst/>
            <a:rect r="r" b="b" t="t" l="l"/>
            <a:pathLst>
              <a:path h="9071027" w="8832912">
                <a:moveTo>
                  <a:pt x="0" y="0"/>
                </a:moveTo>
                <a:lnTo>
                  <a:pt x="8832912" y="0"/>
                </a:lnTo>
                <a:lnTo>
                  <a:pt x="8832912" y="9071026"/>
                </a:lnTo>
                <a:lnTo>
                  <a:pt x="0" y="907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90372" y="-4086321"/>
            <a:ext cx="9088655" cy="9039081"/>
          </a:xfrm>
          <a:custGeom>
            <a:avLst/>
            <a:gdLst/>
            <a:ahLst/>
            <a:cxnLst/>
            <a:rect r="r" b="b" t="t" l="l"/>
            <a:pathLst>
              <a:path h="9039081" w="9088655">
                <a:moveTo>
                  <a:pt x="0" y="0"/>
                </a:moveTo>
                <a:lnTo>
                  <a:pt x="9088656" y="0"/>
                </a:lnTo>
                <a:lnTo>
                  <a:pt x="9088656" y="9039081"/>
                </a:lnTo>
                <a:lnTo>
                  <a:pt x="0" y="903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6153468" y="2992929"/>
            <a:ext cx="5907148" cy="4301142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55290" y="1200150"/>
            <a:ext cx="13377419" cy="200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spc="-240">
                <a:solidFill>
                  <a:srgbClr val="280556"/>
                </a:solidFill>
                <a:latin typeface="Sifonn"/>
                <a:ea typeface="Sifonn"/>
                <a:cs typeface="Sifonn"/>
                <a:sym typeface="Sifonn"/>
              </a:rPr>
              <a:t>PELA ATENÇÃO, OBRIGADA!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44716" y="8378915"/>
            <a:ext cx="8710408" cy="29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  <a:spcBef>
                <a:spcPct val="0"/>
              </a:spcBef>
            </a:pPr>
            <a:r>
              <a:rPr lang="en-US" sz="1814" u="sng">
                <a:solidFill>
                  <a:srgbClr val="280556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github.com/sararalopes/quantitativo-velocidade-media-cttu.git"/>
              </a:rPr>
              <a:t>https://github.com/sararalopes/quantitativo-velocidade-media-cttu.git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32743" y="-1355900"/>
            <a:ext cx="4316126" cy="4769200"/>
          </a:xfrm>
          <a:custGeom>
            <a:avLst/>
            <a:gdLst/>
            <a:ahLst/>
            <a:cxnLst/>
            <a:rect r="r" b="b" t="t" l="l"/>
            <a:pathLst>
              <a:path h="4769200" w="4316126">
                <a:moveTo>
                  <a:pt x="0" y="0"/>
                </a:moveTo>
                <a:lnTo>
                  <a:pt x="4316126" y="0"/>
                </a:lnTo>
                <a:lnTo>
                  <a:pt x="4316126" y="4769200"/>
                </a:lnTo>
                <a:lnTo>
                  <a:pt x="0" y="4769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DAHV7MwzQvU</dc:identifier>
  <dcterms:modified xsi:type="dcterms:W3CDTF">2011-08-01T06:04:30Z</dcterms:modified>
  <cp:revision>1</cp:revision>
  <dc:title>Apresentação CTTU Xerlock - Segunda Fase</dc:title>
</cp:coreProperties>
</file>