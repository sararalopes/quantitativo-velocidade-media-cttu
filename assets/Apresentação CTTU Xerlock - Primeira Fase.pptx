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Sifonn" charset="1" panose="00000000000000000000"/>
      <p:regular r:id="rId20"/>
    </p:embeddedFon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2"/>
    </p:embeddedFont>
    <p:embeddedFont>
      <p:font typeface="Inter Bold" charset="1" panose="02000503000000020004"/>
      <p:regular r:id="rId23"/>
    </p:embeddedFont>
    <p:embeddedFont>
      <p:font typeface="Inter" charset="1" panose="02000503000000020004"/>
      <p:regular r:id="rId24"/>
    </p:embeddedFont>
    <p:embeddedFont>
      <p:font typeface="Arimo Bold" charset="1" panose="020B0704020202020204"/>
      <p:regular r:id="rId25"/>
    </p:embeddedFont>
    <p:embeddedFont>
      <p:font typeface="Inter Medium" charset="1" panose="02000503000000020004"/>
      <p:regular r:id="rId26"/>
    </p:embeddedFont>
    <p:embeddedFont>
      <p:font typeface="Arimo" charset="1" panose="020B0604020202020204"/>
      <p:regular r:id="rId27"/>
    </p:embeddedFont>
    <p:embeddedFont>
      <p:font typeface="JetBrains Mono" charset="1" panose="02010509020102050004"/>
      <p:regular r:id="rId28"/>
    </p:embeddedFont>
    <p:embeddedFont>
      <p:font typeface="Inter Italics" charset="1" panose="0200050300000002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15" Target="../media/image19.png" Type="http://schemas.openxmlformats.org/officeDocument/2006/relationships/image"/><Relationship Id="rId16" Target="../media/image20.png" Type="http://schemas.openxmlformats.org/officeDocument/2006/relationships/image"/><Relationship Id="rId17" Target="../media/image21.png" Type="http://schemas.openxmlformats.org/officeDocument/2006/relationships/image"/><Relationship Id="rId18" Target="../media/image22.png" Type="http://schemas.openxmlformats.org/officeDocument/2006/relationships/image"/><Relationship Id="rId19" Target="../media/image23.png" Type="http://schemas.openxmlformats.org/officeDocument/2006/relationships/image"/><Relationship Id="rId2" Target="../media/image6.png" Type="http://schemas.openxmlformats.org/officeDocument/2006/relationships/image"/><Relationship Id="rId20" Target="../media/image24.png" Type="http://schemas.openxmlformats.org/officeDocument/2006/relationships/image"/><Relationship Id="rId21" Target="../media/image25.png" Type="http://schemas.openxmlformats.org/officeDocument/2006/relationships/image"/><Relationship Id="rId22" Target="../media/image26.png" Type="http://schemas.openxmlformats.org/officeDocument/2006/relationships/image"/><Relationship Id="rId23" Target="../media/image27.png" Type="http://schemas.openxmlformats.org/officeDocument/2006/relationships/image"/><Relationship Id="rId24" Target="../media/image28.png" Type="http://schemas.openxmlformats.org/officeDocument/2006/relationships/image"/><Relationship Id="rId25" Target="../media/image29.png" Type="http://schemas.openxmlformats.org/officeDocument/2006/relationships/image"/><Relationship Id="rId26" Target="../media/image30.png" Type="http://schemas.openxmlformats.org/officeDocument/2006/relationships/image"/><Relationship Id="rId27" Target="../media/image3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14" Target="../media/image42.png" Type="http://schemas.openxmlformats.org/officeDocument/2006/relationships/image"/><Relationship Id="rId15" Target="../media/image43.png" Type="http://schemas.openxmlformats.org/officeDocument/2006/relationships/image"/><Relationship Id="rId16" Target="../media/image19.png" Type="http://schemas.openxmlformats.org/officeDocument/2006/relationships/image"/><Relationship Id="rId17" Target="../media/image44.png" Type="http://schemas.openxmlformats.org/officeDocument/2006/relationships/image"/><Relationship Id="rId18" Target="../media/image45.png" Type="http://schemas.openxmlformats.org/officeDocument/2006/relationships/image"/><Relationship Id="rId19" Target="../media/image46.png" Type="http://schemas.openxmlformats.org/officeDocument/2006/relationships/image"/><Relationship Id="rId2" Target="../media/image1.jpeg" Type="http://schemas.openxmlformats.org/officeDocument/2006/relationships/image"/><Relationship Id="rId20" Target="../media/image47.png" Type="http://schemas.openxmlformats.org/officeDocument/2006/relationships/image"/><Relationship Id="rId21" Target="../media/image48.png" Type="http://schemas.openxmlformats.org/officeDocument/2006/relationships/image"/><Relationship Id="rId22" Target="../media/image49.png" Type="http://schemas.openxmlformats.org/officeDocument/2006/relationships/image"/><Relationship Id="rId23" Target="../media/image50.pn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13" Target="../media/image54.pn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16" Target="../media/image57.png" Type="http://schemas.openxmlformats.org/officeDocument/2006/relationships/image"/><Relationship Id="rId17" Target="../media/image58.png" Type="http://schemas.openxmlformats.org/officeDocument/2006/relationships/image"/><Relationship Id="rId18" Target="../media/image59.png" Type="http://schemas.openxmlformats.org/officeDocument/2006/relationships/image"/><Relationship Id="rId19" Target="../media/image60.png" Type="http://schemas.openxmlformats.org/officeDocument/2006/relationships/image"/><Relationship Id="rId2" Target="../media/image7.png" Type="http://schemas.openxmlformats.org/officeDocument/2006/relationships/image"/><Relationship Id="rId20" Target="../media/image61.png" Type="http://schemas.openxmlformats.org/officeDocument/2006/relationships/image"/><Relationship Id="rId21" Target="../media/image62.png" Type="http://schemas.openxmlformats.org/officeDocument/2006/relationships/image"/><Relationship Id="rId22" Target="../media/image63.png" Type="http://schemas.openxmlformats.org/officeDocument/2006/relationships/image"/><Relationship Id="rId23" Target="../media/image64.png" Type="http://schemas.openxmlformats.org/officeDocument/2006/relationships/image"/><Relationship Id="rId24" Target="../media/image65.png" Type="http://schemas.openxmlformats.org/officeDocument/2006/relationships/image"/><Relationship Id="rId25" Target="../media/image19.png" Type="http://schemas.openxmlformats.org/officeDocument/2006/relationships/image"/><Relationship Id="rId26" Target="../media/image20.png" Type="http://schemas.openxmlformats.org/officeDocument/2006/relationships/image"/><Relationship Id="rId27" Target="../media/image66.png" Type="http://schemas.openxmlformats.org/officeDocument/2006/relationships/image"/><Relationship Id="rId28" Target="../media/image67.png" Type="http://schemas.openxmlformats.org/officeDocument/2006/relationships/image"/><Relationship Id="rId29" Target="../media/image68.png" Type="http://schemas.openxmlformats.org/officeDocument/2006/relationships/image"/><Relationship Id="rId3" Target="../media/image8.svg" Type="http://schemas.openxmlformats.org/officeDocument/2006/relationships/image"/><Relationship Id="rId30" Target="../media/image69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75.png" Type="http://schemas.openxmlformats.org/officeDocument/2006/relationships/image"/><Relationship Id="rId15" Target="../media/image76.png" Type="http://schemas.openxmlformats.org/officeDocument/2006/relationships/image"/><Relationship Id="rId16" Target="../media/image77.png" Type="http://schemas.openxmlformats.org/officeDocument/2006/relationships/image"/><Relationship Id="rId17" Target="../media/image78.png" Type="http://schemas.openxmlformats.org/officeDocument/2006/relationships/image"/><Relationship Id="rId18" Target="../media/image79.png" Type="http://schemas.openxmlformats.org/officeDocument/2006/relationships/image"/><Relationship Id="rId19" Target="../media/image80.png" Type="http://schemas.openxmlformats.org/officeDocument/2006/relationships/image"/><Relationship Id="rId2" Target="../media/image1.jpeg" Type="http://schemas.openxmlformats.org/officeDocument/2006/relationships/image"/><Relationship Id="rId20" Target="../media/image81.png" Type="http://schemas.openxmlformats.org/officeDocument/2006/relationships/image"/><Relationship Id="rId21" Target="../media/image82.png" Type="http://schemas.openxmlformats.org/officeDocument/2006/relationships/image"/><Relationship Id="rId22" Target="../media/image83.png" Type="http://schemas.openxmlformats.org/officeDocument/2006/relationships/image"/><Relationship Id="rId23" Target="../media/image84.png" Type="http://schemas.openxmlformats.org/officeDocument/2006/relationships/image"/><Relationship Id="rId24" Target="../media/image85.png" Type="http://schemas.openxmlformats.org/officeDocument/2006/relationships/image"/><Relationship Id="rId25" Target="../media/image86.png" Type="http://schemas.openxmlformats.org/officeDocument/2006/relationships/image"/><Relationship Id="rId26" Target="../media/image87.png" Type="http://schemas.openxmlformats.org/officeDocument/2006/relationships/image"/><Relationship Id="rId27" Target="../media/image88.png" Type="http://schemas.openxmlformats.org/officeDocument/2006/relationships/image"/><Relationship Id="rId28" Target="../media/image89.png" Type="http://schemas.openxmlformats.org/officeDocument/2006/relationships/image"/><Relationship Id="rId29" Target="../media/image90.pn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93.png" Type="http://schemas.openxmlformats.org/officeDocument/2006/relationships/image"/><Relationship Id="rId14" Target="../media/image19.png" Type="http://schemas.openxmlformats.org/officeDocument/2006/relationships/image"/><Relationship Id="rId15" Target="../media/image44.png" Type="http://schemas.openxmlformats.org/officeDocument/2006/relationships/image"/><Relationship Id="rId16" Target="../media/image94.png" Type="http://schemas.openxmlformats.org/officeDocument/2006/relationships/image"/><Relationship Id="rId17" Target="../media/image95.png" Type="http://schemas.openxmlformats.org/officeDocument/2006/relationships/image"/><Relationship Id="rId18" Target="../media/image96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png" Type="http://schemas.openxmlformats.org/officeDocument/2006/relationships/image"/><Relationship Id="rId11" Target="../media/image100.png" Type="http://schemas.openxmlformats.org/officeDocument/2006/relationships/image"/><Relationship Id="rId12" Target="../media/image101.png" Type="http://schemas.openxmlformats.org/officeDocument/2006/relationships/image"/><Relationship Id="rId13" Target="../media/image102.png" Type="http://schemas.openxmlformats.org/officeDocument/2006/relationships/image"/><Relationship Id="rId14" Target="../media/image103.png" Type="http://schemas.openxmlformats.org/officeDocument/2006/relationships/image"/><Relationship Id="rId15" Target="../media/image104.png" Type="http://schemas.openxmlformats.org/officeDocument/2006/relationships/image"/><Relationship Id="rId16" Target="../media/image105.png" Type="http://schemas.openxmlformats.org/officeDocument/2006/relationships/image"/><Relationship Id="rId17" Target="../media/image106.png" Type="http://schemas.openxmlformats.org/officeDocument/2006/relationships/image"/><Relationship Id="rId18" Target="../media/image107.png" Type="http://schemas.openxmlformats.org/officeDocument/2006/relationships/image"/><Relationship Id="rId19" Target="../media/image108.png" Type="http://schemas.openxmlformats.org/officeDocument/2006/relationships/image"/><Relationship Id="rId2" Target="../media/image1.jpeg" Type="http://schemas.openxmlformats.org/officeDocument/2006/relationships/image"/><Relationship Id="rId20" Target="../media/image109.png" Type="http://schemas.openxmlformats.org/officeDocument/2006/relationships/image"/><Relationship Id="rId21" Target="../media/image110.pn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97.png" Type="http://schemas.openxmlformats.org/officeDocument/2006/relationships/image"/><Relationship Id="rId9" Target="../media/image9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111.png" Type="http://schemas.openxmlformats.org/officeDocument/2006/relationships/image"/><Relationship Id="rId13" Target="../media/image112.png" Type="http://schemas.openxmlformats.org/officeDocument/2006/relationships/image"/><Relationship Id="rId14" Target="../media/image113.png" Type="http://schemas.openxmlformats.org/officeDocument/2006/relationships/image"/><Relationship Id="rId15" Target="../media/image114.jpeg" Type="http://schemas.openxmlformats.org/officeDocument/2006/relationships/image"/><Relationship Id="rId16" Target="../media/image115.png" Type="http://schemas.openxmlformats.org/officeDocument/2006/relationships/image"/><Relationship Id="rId17" Target="../media/image116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png" Type="http://schemas.openxmlformats.org/officeDocument/2006/relationships/image"/><Relationship Id="rId12" Target="../media/image119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120.png" Type="http://schemas.openxmlformats.org/officeDocument/2006/relationships/image"/><Relationship Id="rId16" Target="../media/image121.png" Type="http://schemas.openxmlformats.org/officeDocument/2006/relationships/image"/><Relationship Id="rId17" Target="../media/image122.png" Type="http://schemas.openxmlformats.org/officeDocument/2006/relationships/image"/><Relationship Id="rId18" Target="../media/image123.png" Type="http://schemas.openxmlformats.org/officeDocument/2006/relationships/image"/><Relationship Id="rId19" Target="../media/image124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91.png" Type="http://schemas.openxmlformats.org/officeDocument/2006/relationships/image"/><Relationship Id="rId12" Target="../media/image125.png" Type="http://schemas.openxmlformats.org/officeDocument/2006/relationships/image"/><Relationship Id="rId13" Target="../media/image126.png" Type="http://schemas.openxmlformats.org/officeDocument/2006/relationships/image"/><Relationship Id="rId14" Target="../media/image127.png" Type="http://schemas.openxmlformats.org/officeDocument/2006/relationships/image"/><Relationship Id="rId15" Target="../media/image128.png" Type="http://schemas.openxmlformats.org/officeDocument/2006/relationships/image"/><Relationship Id="rId16" Target="../media/image129.png" Type="http://schemas.openxmlformats.org/officeDocument/2006/relationships/image"/><Relationship Id="rId17" Target="../media/image130.png" Type="http://schemas.openxmlformats.org/officeDocument/2006/relationships/image"/><Relationship Id="rId18" Target="../media/image131.png" Type="http://schemas.openxmlformats.org/officeDocument/2006/relationships/image"/><Relationship Id="rId19" Target="../media/image44.png" Type="http://schemas.openxmlformats.org/officeDocument/2006/relationships/image"/><Relationship Id="rId2" Target="../media/image7.png" Type="http://schemas.openxmlformats.org/officeDocument/2006/relationships/image"/><Relationship Id="rId20" Target="../media/image76.png" Type="http://schemas.openxmlformats.org/officeDocument/2006/relationships/image"/><Relationship Id="rId21" Target="../media/image132.png" Type="http://schemas.openxmlformats.org/officeDocument/2006/relationships/image"/><Relationship Id="rId22" Target="../media/image133.png" Type="http://schemas.openxmlformats.org/officeDocument/2006/relationships/image"/><Relationship Id="rId23" Target="../media/image134.png" Type="http://schemas.openxmlformats.org/officeDocument/2006/relationships/image"/><Relationship Id="rId24" Target="../media/image135.png" Type="http://schemas.openxmlformats.org/officeDocument/2006/relationships/image"/><Relationship Id="rId25" Target="../media/image136.png" Type="http://schemas.openxmlformats.org/officeDocument/2006/relationships/image"/><Relationship Id="rId26" Target="../media/image137.png" Type="http://schemas.openxmlformats.org/officeDocument/2006/relationships/image"/><Relationship Id="rId27" Target="../media/image138.png" Type="http://schemas.openxmlformats.org/officeDocument/2006/relationships/image"/><Relationship Id="rId28" Target="../media/image139.png" Type="http://schemas.openxmlformats.org/officeDocument/2006/relationships/image"/><Relationship Id="rId29" Target="../media/image140.png" Type="http://schemas.openxmlformats.org/officeDocument/2006/relationships/image"/><Relationship Id="rId3" Target="../media/image8.svg" Type="http://schemas.openxmlformats.org/officeDocument/2006/relationships/image"/><Relationship Id="rId30" Target="../media/image141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4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3.png" Type="http://schemas.openxmlformats.org/officeDocument/2006/relationships/image"/><Relationship Id="rId11" Target="../media/image144.png" Type="http://schemas.openxmlformats.org/officeDocument/2006/relationships/image"/><Relationship Id="rId12" Target="../media/image145.png" Type="http://schemas.openxmlformats.org/officeDocument/2006/relationships/image"/><Relationship Id="rId13" Target="../media/image146.png" Type="http://schemas.openxmlformats.org/officeDocument/2006/relationships/image"/><Relationship Id="rId14" Target="../media/image147.png" Type="http://schemas.openxmlformats.org/officeDocument/2006/relationships/image"/><Relationship Id="rId15" Target="../media/image148.png" Type="http://schemas.openxmlformats.org/officeDocument/2006/relationships/image"/><Relationship Id="rId16" Target="../media/image149.png" Type="http://schemas.openxmlformats.org/officeDocument/2006/relationships/image"/><Relationship Id="rId17" Target="../media/image150.png" Type="http://schemas.openxmlformats.org/officeDocument/2006/relationships/image"/><Relationship Id="rId18" Target="../media/image151.png" Type="http://schemas.openxmlformats.org/officeDocument/2006/relationships/image"/><Relationship Id="rId19" Target="../media/image152.png" Type="http://schemas.openxmlformats.org/officeDocument/2006/relationships/image"/><Relationship Id="rId2" Target="../media/image7.png" Type="http://schemas.openxmlformats.org/officeDocument/2006/relationships/image"/><Relationship Id="rId20" Target="../media/image153.png" Type="http://schemas.openxmlformats.org/officeDocument/2006/relationships/image"/><Relationship Id="rId21" Target="../media/image154.png" Type="http://schemas.openxmlformats.org/officeDocument/2006/relationships/image"/><Relationship Id="rId22" Target="../media/image155.png" Type="http://schemas.openxmlformats.org/officeDocument/2006/relationships/image"/><Relationship Id="rId23" Target="../media/image156.png" Type="http://schemas.openxmlformats.org/officeDocument/2006/relationships/image"/><Relationship Id="rId24" Target="../media/image157.png" Type="http://schemas.openxmlformats.org/officeDocument/2006/relationships/image"/><Relationship Id="rId25" Target="../media/image158.png" Type="http://schemas.openxmlformats.org/officeDocument/2006/relationships/image"/><Relationship Id="rId26" Target="../media/image159.png" Type="http://schemas.openxmlformats.org/officeDocument/2006/relationships/image"/><Relationship Id="rId27" Target="../media/image160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T9cD6dDw.mp4" Type="http://schemas.microsoft.com/office/2007/relationships/media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161.png" Type="http://schemas.openxmlformats.org/officeDocument/2006/relationships/image"/><Relationship Id="rId7" Target="../media/image162.svg" Type="http://schemas.openxmlformats.org/officeDocument/2006/relationships/image"/><Relationship Id="rId8" Target="../media/image163.jpeg" Type="http://schemas.openxmlformats.org/officeDocument/2006/relationships/image"/><Relationship Id="rId9" Target="../media/VAHT9cD6dDw.mp4" Type="http://schemas.openxmlformats.org/officeDocument/2006/relationships/video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6.jpeg" Type="http://schemas.openxmlformats.org/officeDocument/2006/relationships/image"/><Relationship Id="rId11" Target="../media/VAHT9Nayui8.mp4" Type="http://schemas.openxmlformats.org/officeDocument/2006/relationships/video"/><Relationship Id="rId12" Target="../media/VAHT9Nayui8.mp4" Type="http://schemas.microsoft.com/office/2007/relationships/media"/><Relationship Id="rId13" Target="https://github.com/sararalopes/quantitativo-velocidade-media-cttu.git" TargetMode="External" Type="http://schemas.openxmlformats.org/officeDocument/2006/relationships/hyperlink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6.png" Type="http://schemas.openxmlformats.org/officeDocument/2006/relationships/image"/><Relationship Id="rId8" Target="../media/image164.png" Type="http://schemas.openxmlformats.org/officeDocument/2006/relationships/image"/><Relationship Id="rId9" Target="../media/image16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0781" y="2869018"/>
            <a:ext cx="13377419" cy="336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3"/>
              </a:lnSpc>
            </a:pPr>
            <a:r>
              <a:rPr lang="en-US" sz="9151" spc="-274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ANÁLISE DE VELOCIDADE DAS </a:t>
            </a:r>
          </a:p>
          <a:p>
            <a:pPr algn="l">
              <a:lnSpc>
                <a:spcPts val="8693"/>
              </a:lnSpc>
            </a:pPr>
            <a:r>
              <a:rPr lang="en-US" sz="9151" spc="-274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VIAS DO RECIFE</a:t>
            </a:r>
          </a:p>
        </p:txBody>
      </p:sp>
      <p:sp>
        <p:nvSpPr>
          <p:cNvPr name="AutoShape 4" id="4"/>
          <p:cNvSpPr/>
          <p:nvPr/>
        </p:nvSpPr>
        <p:spPr>
          <a:xfrm>
            <a:off x="2534841" y="2989655"/>
            <a:ext cx="0" cy="2916314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835540" y="6491170"/>
            <a:ext cx="3944790" cy="669015"/>
            <a:chOff x="0" y="0"/>
            <a:chExt cx="1038957" cy="1762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57" cy="176201"/>
            </a:xfrm>
            <a:custGeom>
              <a:avLst/>
              <a:gdLst/>
              <a:ahLst/>
              <a:cxnLst/>
              <a:rect r="r" b="b" t="t" l="l"/>
              <a:pathLst>
                <a:path h="176201" w="1038957">
                  <a:moveTo>
                    <a:pt x="0" y="0"/>
                  </a:moveTo>
                  <a:lnTo>
                    <a:pt x="1038957" y="0"/>
                  </a:lnTo>
                  <a:lnTo>
                    <a:pt x="1038957" y="176201"/>
                  </a:lnTo>
                  <a:lnTo>
                    <a:pt x="0" y="176201"/>
                  </a:lnTo>
                  <a:close/>
                </a:path>
              </a:pathLst>
            </a:custGeom>
            <a:solidFill>
              <a:srgbClr val="884D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57" cy="214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93924" y="7629778"/>
            <a:ext cx="4998274" cy="49982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44514" y="-1844291"/>
            <a:ext cx="4019574" cy="401957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82534" y="1447423"/>
            <a:ext cx="1866704" cy="186670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19740" y="-3749735"/>
            <a:ext cx="8832912" cy="9071027"/>
          </a:xfrm>
          <a:custGeom>
            <a:avLst/>
            <a:gdLst/>
            <a:ahLst/>
            <a:cxnLst/>
            <a:rect r="r" b="b" t="t" l="l"/>
            <a:pathLst>
              <a:path h="9071027" w="8832912">
                <a:moveTo>
                  <a:pt x="0" y="0"/>
                </a:moveTo>
                <a:lnTo>
                  <a:pt x="8832913" y="0"/>
                </a:lnTo>
                <a:lnTo>
                  <a:pt x="8832913" y="9071027"/>
                </a:lnTo>
                <a:lnTo>
                  <a:pt x="0" y="9071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260738" y="3692818"/>
            <a:ext cx="5652892" cy="5888430"/>
          </a:xfrm>
          <a:custGeom>
            <a:avLst/>
            <a:gdLst/>
            <a:ahLst/>
            <a:cxnLst/>
            <a:rect r="r" b="b" t="t" l="l"/>
            <a:pathLst>
              <a:path h="5888430" w="5652892">
                <a:moveTo>
                  <a:pt x="0" y="0"/>
                </a:moveTo>
                <a:lnTo>
                  <a:pt x="5652893" y="0"/>
                </a:lnTo>
                <a:lnTo>
                  <a:pt x="5652893" y="5888430"/>
                </a:lnTo>
                <a:lnTo>
                  <a:pt x="0" y="5888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8581787"/>
            <a:ext cx="1705213" cy="1705213"/>
          </a:xfrm>
          <a:custGeom>
            <a:avLst/>
            <a:gdLst/>
            <a:ahLst/>
            <a:cxnLst/>
            <a:rect r="r" b="b" t="t" l="l"/>
            <a:pathLst>
              <a:path h="1705213" w="1705213">
                <a:moveTo>
                  <a:pt x="0" y="0"/>
                </a:moveTo>
                <a:lnTo>
                  <a:pt x="1705213" y="0"/>
                </a:lnTo>
                <a:lnTo>
                  <a:pt x="1705213" y="1705213"/>
                </a:lnTo>
                <a:lnTo>
                  <a:pt x="0" y="1705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723952">
            <a:off x="13774055" y="8499132"/>
            <a:ext cx="312300" cy="316386"/>
          </a:xfrm>
          <a:custGeom>
            <a:avLst/>
            <a:gdLst/>
            <a:ahLst/>
            <a:cxnLst/>
            <a:rect r="r" b="b" t="t" l="l"/>
            <a:pathLst>
              <a:path h="316386" w="312300">
                <a:moveTo>
                  <a:pt x="0" y="0"/>
                </a:moveTo>
                <a:lnTo>
                  <a:pt x="312300" y="0"/>
                </a:lnTo>
                <a:lnTo>
                  <a:pt x="312300" y="316386"/>
                </a:lnTo>
                <a:lnTo>
                  <a:pt x="0" y="316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292" t="-3091" r="-15079" b="-3151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835540" y="5990411"/>
            <a:ext cx="1109466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Uma aplicação</a:t>
            </a: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 dados com Python, Elasticsearch, Kibana, Docker e Flask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23296" y="6640674"/>
            <a:ext cx="1737025" cy="30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8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Apresentando: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40131" y="6598933"/>
            <a:ext cx="2436914" cy="37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224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Sara Lopes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675718"/>
            <a:ext cx="1704975" cy="1704975"/>
          </a:xfrm>
          <a:custGeom>
            <a:avLst/>
            <a:gdLst/>
            <a:ahLst/>
            <a:cxnLst/>
            <a:rect r="r" b="b" t="t" l="l"/>
            <a:pathLst>
              <a:path h="1704975" w="1704975">
                <a:moveTo>
                  <a:pt x="0" y="0"/>
                </a:moveTo>
                <a:lnTo>
                  <a:pt x="1704975" y="0"/>
                </a:lnTo>
                <a:lnTo>
                  <a:pt x="1704975" y="1704975"/>
                </a:ln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52954" y="-200188"/>
            <a:ext cx="21305750" cy="10687376"/>
            <a:chOff x="0" y="0"/>
            <a:chExt cx="28407666" cy="142498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4157832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490372" y="-4086321"/>
            <a:ext cx="27194828" cy="18908834"/>
            <a:chOff x="0" y="0"/>
            <a:chExt cx="36259771" cy="252117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4482554" y="13117076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7" y="0"/>
                  </a:lnTo>
                  <a:lnTo>
                    <a:pt x="11777217" y="12094703"/>
                  </a:lnTo>
                  <a:lnTo>
                    <a:pt x="0" y="12094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70000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18207" cy="12052108"/>
            </a:xfrm>
            <a:custGeom>
              <a:avLst/>
              <a:gdLst/>
              <a:ahLst/>
              <a:cxnLst/>
              <a:rect r="r" b="b" t="t" l="l"/>
              <a:pathLst>
                <a:path h="12052108" w="12118207">
                  <a:moveTo>
                    <a:pt x="0" y="0"/>
                  </a:moveTo>
                  <a:lnTo>
                    <a:pt x="12118207" y="0"/>
                  </a:lnTo>
                  <a:lnTo>
                    <a:pt x="12118207" y="12052108"/>
                  </a:lnTo>
                  <a:lnTo>
                    <a:pt x="0" y="12052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79085" y="370766"/>
            <a:ext cx="9155456" cy="915103"/>
            <a:chOff x="0" y="0"/>
            <a:chExt cx="12207274" cy="1220138"/>
          </a:xfrm>
        </p:grpSpPr>
        <p:sp>
          <p:nvSpPr>
            <p:cNvPr name="Freeform 10" id="10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b="true" sz="4800" spc="-144" strike="noStrike" u="none">
                  <a:solidFill>
                    <a:srgbClr val="280556"/>
                  </a:solidFill>
                  <a:latin typeface="Sifonn"/>
                  <a:ea typeface="Sifonn"/>
                  <a:cs typeface="Sifonn"/>
                  <a:sym typeface="Sifonn"/>
                </a:rPr>
                <a:t>O PROBLEMA E A PROPOSTA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8952" y="1557577"/>
            <a:ext cx="9546060" cy="7621038"/>
            <a:chOff x="0" y="0"/>
            <a:chExt cx="12728080" cy="1016138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2728067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2728067">
                  <a:moveTo>
                    <a:pt x="0" y="0"/>
                  </a:moveTo>
                  <a:lnTo>
                    <a:pt x="12728067" y="0"/>
                  </a:lnTo>
                  <a:lnTo>
                    <a:pt x="12728067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8" t="0" r="-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09336" y="1557577"/>
            <a:ext cx="7055796" cy="7621038"/>
            <a:chOff x="0" y="0"/>
            <a:chExt cx="9407728" cy="10161384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407779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9407779">
                  <a:moveTo>
                    <a:pt x="0" y="0"/>
                  </a:moveTo>
                  <a:lnTo>
                    <a:pt x="9407779" y="0"/>
                  </a:lnTo>
                  <a:lnTo>
                    <a:pt x="9407779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0" r="0" b="-4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37949" y="8521390"/>
            <a:ext cx="6398571" cy="328612"/>
            <a:chOff x="0" y="0"/>
            <a:chExt cx="8531428" cy="4381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8531479" cy="438150"/>
            </a:xfrm>
            <a:custGeom>
              <a:avLst/>
              <a:gdLst/>
              <a:ahLst/>
              <a:cxnLst/>
              <a:rect r="r" b="b" t="t" l="l"/>
              <a:pathLst>
                <a:path h="438150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240" t="0" r="-24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37949" y="4429365"/>
            <a:ext cx="6398571" cy="885825"/>
            <a:chOff x="0" y="0"/>
            <a:chExt cx="8531428" cy="11811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8531479" cy="1181100"/>
            </a:xfrm>
            <a:custGeom>
              <a:avLst/>
              <a:gdLst/>
              <a:ahLst/>
              <a:cxnLst/>
              <a:rect r="r" b="b" t="t" l="l"/>
              <a:pathLst>
                <a:path h="1181100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1181100"/>
                  </a:lnTo>
                  <a:lnTo>
                    <a:pt x="0" y="11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563" r="0" b="-56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77589" y="8472727"/>
            <a:ext cx="228600" cy="228600"/>
            <a:chOff x="0" y="0"/>
            <a:chExt cx="304800" cy="304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125" r="0" b="-312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49064" y="8448096"/>
            <a:ext cx="7300912" cy="259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4C1D95"/>
                </a:solidFill>
                <a:latin typeface="Inter Bold"/>
                <a:ea typeface="Inter Bold"/>
                <a:cs typeface="Inter Bold"/>
                <a:sym typeface="Inter Bold"/>
              </a:rPr>
              <a:t>Objetivo:</a:t>
            </a:r>
            <a:r>
              <a:rPr lang="en-US" sz="1350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rPr>
              <a:t> Subsidiar tomadas de decisão urbana e entender dinâmicas sazonais no trânsito.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45118" y="8640453"/>
            <a:ext cx="172402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Dados Abertos Recife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36258" y="8640453"/>
            <a:ext cx="210026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Quantitativo por Velocidade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77564" y="1886190"/>
            <a:ext cx="571500" cy="571500"/>
            <a:chOff x="0" y="0"/>
            <a:chExt cx="762000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250" r="0" b="-125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37949" y="1886190"/>
            <a:ext cx="571500" cy="571500"/>
            <a:chOff x="0" y="0"/>
            <a:chExt cx="762000" cy="762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837949" y="8678553"/>
            <a:ext cx="157162" cy="157162"/>
            <a:chOff x="0" y="0"/>
            <a:chExt cx="209550" cy="20955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209550" cy="209550"/>
            </a:xfrm>
            <a:custGeom>
              <a:avLst/>
              <a:gdLst/>
              <a:ahLst/>
              <a:cxnLst/>
              <a:rect r="r" b="b" t="t" l="l"/>
              <a:pathLst>
                <a:path h="2095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4545" t="0" r="-4545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4727" y="2043352"/>
            <a:ext cx="257175" cy="257175"/>
            <a:chOff x="0" y="0"/>
            <a:chExt cx="342900" cy="3429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777" r="0" b="-2777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720514" y="1883799"/>
            <a:ext cx="478559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Perguntas Orientadoras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20514" y="2221936"/>
            <a:ext cx="45577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D28D9"/>
                </a:solidFill>
                <a:latin typeface="Inter Medium"/>
                <a:ea typeface="Inter Medium"/>
                <a:cs typeface="Inter Medium"/>
                <a:sym typeface="Inter Medium"/>
              </a:rPr>
              <a:t>O que a análise e a modelagem buscam responder?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20452" y="2886315"/>
            <a:ext cx="257175" cy="257175"/>
            <a:chOff x="0" y="0"/>
            <a:chExt cx="342900" cy="3429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777" r="0" b="-2777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677652" y="2852977"/>
            <a:ext cx="797443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2E1065"/>
                </a:solidFill>
                <a:latin typeface="Arimo"/>
                <a:ea typeface="Arimo"/>
                <a:cs typeface="Arimo"/>
                <a:sym typeface="Arimo"/>
              </a:rPr>
              <a:t>Como os veículos se distribuem por faixa de velocidade nas vias monitoradas?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91889" y="3886440"/>
            <a:ext cx="228600" cy="257175"/>
            <a:chOff x="0" y="0"/>
            <a:chExt cx="304800" cy="3429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777" r="0" b="-2777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704975" y="3738802"/>
            <a:ext cx="800301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2E1065"/>
                </a:solidFill>
                <a:latin typeface="Arimo"/>
                <a:ea typeface="Arimo"/>
                <a:cs typeface="Arimo"/>
                <a:sym typeface="Arimo"/>
              </a:rPr>
              <a:t>Existe diferença estatística de comportamento entre períodos de férias e não férias?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995111" y="2043352"/>
            <a:ext cx="257175" cy="257175"/>
            <a:chOff x="0" y="0"/>
            <a:chExt cx="342900" cy="3429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580899" y="1883799"/>
            <a:ext cx="334541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Escopo do Dataset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580899" y="2221936"/>
            <a:ext cx="31861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Parâmetros e dimensões dos dados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023686" y="2914890"/>
            <a:ext cx="200025" cy="228600"/>
            <a:chOff x="0" y="0"/>
            <a:chExt cx="266700" cy="3048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419" t="0" r="-419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023686" y="3800715"/>
            <a:ext cx="200025" cy="228600"/>
            <a:chOff x="0" y="0"/>
            <a:chExt cx="266700" cy="3048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419" t="0" r="-419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1023686" y="4577002"/>
            <a:ext cx="602709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DIMENSÕES ANALISADAS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66586" y="2805352"/>
            <a:ext cx="348615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PERÍODO ANALISADO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66586" y="3014902"/>
            <a:ext cx="34861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Janeiro → Junho de 2026 (Semestre 1)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366586" y="3691177"/>
            <a:ext cx="218598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GRANULARIDADE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366586" y="3900727"/>
            <a:ext cx="21859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Intervalos de 15 minutos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023686" y="4872277"/>
            <a:ext cx="1328738" cy="285750"/>
            <a:chOff x="0" y="0"/>
            <a:chExt cx="1771650" cy="381000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1771650" cy="381000"/>
            </a:xfrm>
            <a:custGeom>
              <a:avLst/>
              <a:gdLst/>
              <a:ahLst/>
              <a:cxnLst/>
              <a:rect r="r" b="b" t="t" l="l"/>
              <a:pathLst>
                <a:path h="381000" w="1771650">
                  <a:moveTo>
                    <a:pt x="0" y="0"/>
                  </a:moveTo>
                  <a:lnTo>
                    <a:pt x="1771650" y="0"/>
                  </a:lnTo>
                  <a:lnTo>
                    <a:pt x="1771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1939" r="0" b="-1943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423861" y="4872277"/>
            <a:ext cx="728662" cy="285750"/>
            <a:chOff x="0" y="0"/>
            <a:chExt cx="971550" cy="38100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971550" cy="381000"/>
            </a:xfrm>
            <a:custGeom>
              <a:avLst/>
              <a:gdLst/>
              <a:ahLst/>
              <a:cxnLst/>
              <a:rect r="r" b="b" t="t" l="l"/>
              <a:pathLst>
                <a:path h="381000" w="971550">
                  <a:moveTo>
                    <a:pt x="0" y="0"/>
                  </a:moveTo>
                  <a:lnTo>
                    <a:pt x="971550" y="0"/>
                  </a:lnTo>
                  <a:lnTo>
                    <a:pt x="9715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1490" r="0" b="-1489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223961" y="4872277"/>
            <a:ext cx="928688" cy="285750"/>
            <a:chOff x="0" y="0"/>
            <a:chExt cx="1238250" cy="381000"/>
          </a:xfrm>
        </p:grpSpPr>
        <p:sp>
          <p:nvSpPr>
            <p:cNvPr name="Freeform 59" id="59" descr="image.png"/>
            <p:cNvSpPr/>
            <p:nvPr/>
          </p:nvSpPr>
          <p:spPr>
            <a:xfrm flipH="false" flipV="false" rot="0">
              <a:off x="0" y="0"/>
              <a:ext cx="1238250" cy="381000"/>
            </a:xfrm>
            <a:custGeom>
              <a:avLst/>
              <a:gdLst/>
              <a:ahLst/>
              <a:cxnLst/>
              <a:rect r="r" b="b" t="t" l="l"/>
              <a:pathLst>
                <a:path h="381000" w="1238250">
                  <a:moveTo>
                    <a:pt x="0" y="0"/>
                  </a:moveTo>
                  <a:lnTo>
                    <a:pt x="1238250" y="0"/>
                  </a:lnTo>
                  <a:lnTo>
                    <a:pt x="1238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1703" r="0" b="-1706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224086" y="4872277"/>
            <a:ext cx="1228725" cy="285750"/>
            <a:chOff x="0" y="0"/>
            <a:chExt cx="1638300" cy="381000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1638300" cy="381000"/>
            </a:xfrm>
            <a:custGeom>
              <a:avLst/>
              <a:gdLst/>
              <a:ahLst/>
              <a:cxnLst/>
              <a:rect r="r" b="b" t="t" l="l"/>
              <a:pathLst>
                <a:path h="381000" w="1638300">
                  <a:moveTo>
                    <a:pt x="0" y="0"/>
                  </a:moveTo>
                  <a:lnTo>
                    <a:pt x="1638300" y="0"/>
                  </a:lnTo>
                  <a:lnTo>
                    <a:pt x="16383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1896" r="0" b="-189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19740" y="-3749735"/>
            <a:ext cx="24482632" cy="16377788"/>
            <a:chOff x="0" y="0"/>
            <a:chExt cx="32643509" cy="2183705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767754" y="15172685"/>
              <a:ext cx="6664366" cy="66643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4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9819005" y="2540592"/>
              <a:ext cx="5359432" cy="535943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7929501" y="7393034"/>
              <a:ext cx="2488939" cy="24889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6" y="0"/>
                  </a:lnTo>
                  <a:lnTo>
                    <a:pt x="11777216" y="12094702"/>
                  </a:lnTo>
                  <a:lnTo>
                    <a:pt x="0" y="12094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826320" y="16442029"/>
              <a:ext cx="2273618" cy="2273618"/>
            </a:xfrm>
            <a:custGeom>
              <a:avLst/>
              <a:gdLst/>
              <a:ahLst/>
              <a:cxnLst/>
              <a:rect r="r" b="b" t="t" l="l"/>
              <a:pathLst>
                <a:path h="2273618" w="2273618">
                  <a:moveTo>
                    <a:pt x="0" y="0"/>
                  </a:moveTo>
                  <a:lnTo>
                    <a:pt x="2273617" y="0"/>
                  </a:lnTo>
                  <a:lnTo>
                    <a:pt x="2273617" y="2273618"/>
                  </a:lnTo>
                  <a:lnTo>
                    <a:pt x="0" y="227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2933066" y="15093005"/>
              <a:ext cx="9710442" cy="5486400"/>
            </a:xfrm>
            <a:custGeom>
              <a:avLst/>
              <a:gdLst/>
              <a:ahLst/>
              <a:cxnLst/>
              <a:rect r="r" b="b" t="t" l="l"/>
              <a:pathLst>
                <a:path h="5486400" w="9710442">
                  <a:moveTo>
                    <a:pt x="0" y="0"/>
                  </a:moveTo>
                  <a:lnTo>
                    <a:pt x="9710443" y="0"/>
                  </a:lnTo>
                  <a:lnTo>
                    <a:pt x="9710443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7" id="17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4800" spc="-144">
                  <a:solidFill>
                    <a:srgbClr val="FFFFFF"/>
                  </a:solidFill>
                  <a:latin typeface="Sifonn"/>
                  <a:ea typeface="Sifonn"/>
                  <a:cs typeface="Sifonn"/>
                  <a:sym typeface="Sifonn"/>
                </a:rPr>
                <a:t>CONHECENDO OS DADOS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1551537"/>
            <a:ext cx="8301038" cy="7621038"/>
            <a:chOff x="0" y="0"/>
            <a:chExt cx="11068050" cy="10161384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5" r="0" b="-5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01162" y="1551537"/>
            <a:ext cx="8301038" cy="7621038"/>
            <a:chOff x="0" y="0"/>
            <a:chExt cx="11068050" cy="10161384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5" r="0" b="-5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29775" y="8415338"/>
            <a:ext cx="7643812" cy="428625"/>
            <a:chOff x="0" y="0"/>
            <a:chExt cx="10191750" cy="5715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0191750" cy="571500"/>
            </a:xfrm>
            <a:custGeom>
              <a:avLst/>
              <a:gdLst/>
              <a:ahLst/>
              <a:cxnLst/>
              <a:rect r="r" b="b" t="t" l="l"/>
              <a:pathLst>
                <a:path h="5715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86" t="0" r="-186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4412" y="4370632"/>
            <a:ext cx="3736181" cy="1034282"/>
            <a:chOff x="0" y="0"/>
            <a:chExt cx="4981575" cy="1379042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4981575" cy="1379093"/>
            </a:xfrm>
            <a:custGeom>
              <a:avLst/>
              <a:gdLst/>
              <a:ahLst/>
              <a:cxnLst/>
              <a:rect r="r" b="b" t="t" l="l"/>
              <a:pathLst>
                <a:path h="1379093" w="4981575">
                  <a:moveTo>
                    <a:pt x="0" y="0"/>
                  </a:moveTo>
                  <a:lnTo>
                    <a:pt x="4981575" y="0"/>
                  </a:lnTo>
                  <a:lnTo>
                    <a:pt x="4981575" y="1379093"/>
                  </a:lnTo>
                  <a:lnTo>
                    <a:pt x="0" y="1379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820" r="0" b="-81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922044" y="4370632"/>
            <a:ext cx="3736181" cy="1034282"/>
            <a:chOff x="0" y="0"/>
            <a:chExt cx="4981575" cy="1379042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4981575" cy="1379093"/>
            </a:xfrm>
            <a:custGeom>
              <a:avLst/>
              <a:gdLst/>
              <a:ahLst/>
              <a:cxnLst/>
              <a:rect r="r" b="b" t="t" l="l"/>
              <a:pathLst>
                <a:path h="1379093" w="4981575">
                  <a:moveTo>
                    <a:pt x="0" y="0"/>
                  </a:moveTo>
                  <a:lnTo>
                    <a:pt x="4981575" y="0"/>
                  </a:lnTo>
                  <a:lnTo>
                    <a:pt x="4981575" y="1379093"/>
                  </a:lnTo>
                  <a:lnTo>
                    <a:pt x="0" y="1379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820" r="0" b="-81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14412" y="5576364"/>
            <a:ext cx="3736181" cy="1034282"/>
            <a:chOff x="0" y="0"/>
            <a:chExt cx="4981575" cy="1379042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4981575" cy="1379093"/>
            </a:xfrm>
            <a:custGeom>
              <a:avLst/>
              <a:gdLst/>
              <a:ahLst/>
              <a:cxnLst/>
              <a:rect r="r" b="b" t="t" l="l"/>
              <a:pathLst>
                <a:path h="1379093" w="4981575">
                  <a:moveTo>
                    <a:pt x="0" y="0"/>
                  </a:moveTo>
                  <a:lnTo>
                    <a:pt x="4981575" y="0"/>
                  </a:lnTo>
                  <a:lnTo>
                    <a:pt x="4981575" y="1379093"/>
                  </a:lnTo>
                  <a:lnTo>
                    <a:pt x="0" y="1379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33" r="0" b="-12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922044" y="5576364"/>
            <a:ext cx="3736181" cy="1034282"/>
            <a:chOff x="0" y="0"/>
            <a:chExt cx="4981575" cy="1379042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4981575" cy="1379093"/>
            </a:xfrm>
            <a:custGeom>
              <a:avLst/>
              <a:gdLst/>
              <a:ahLst/>
              <a:cxnLst/>
              <a:rect r="r" b="b" t="t" l="l"/>
              <a:pathLst>
                <a:path h="1379093" w="4981575">
                  <a:moveTo>
                    <a:pt x="0" y="0"/>
                  </a:moveTo>
                  <a:lnTo>
                    <a:pt x="4981575" y="0"/>
                  </a:lnTo>
                  <a:lnTo>
                    <a:pt x="4981575" y="1379093"/>
                  </a:lnTo>
                  <a:lnTo>
                    <a:pt x="0" y="1379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33" r="0" b="-12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4412" y="8329612"/>
            <a:ext cx="7643812" cy="514350"/>
            <a:chOff x="0" y="0"/>
            <a:chExt cx="10191750" cy="6858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10191750" cy="685800"/>
            </a:xfrm>
            <a:custGeom>
              <a:avLst/>
              <a:gdLst/>
              <a:ahLst/>
              <a:cxnLst/>
              <a:rect r="r" b="b" t="t" l="l"/>
              <a:pathLst>
                <a:path h="6858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86" t="0" r="-186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4412" y="1880149"/>
            <a:ext cx="571500" cy="571500"/>
            <a:chOff x="0" y="0"/>
            <a:chExt cx="762000" cy="7620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250" r="0" b="-125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29775" y="1880149"/>
            <a:ext cx="571500" cy="571500"/>
            <a:chOff x="0" y="0"/>
            <a:chExt cx="762000" cy="762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250" r="0" b="-125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57288" y="2037312"/>
            <a:ext cx="285750" cy="257175"/>
            <a:chOff x="0" y="0"/>
            <a:chExt cx="381000" cy="3429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777" r="0" b="-2777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757363" y="1877758"/>
            <a:ext cx="2790349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Dimensão do Volume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57362" y="2215896"/>
            <a:ext cx="26574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Métricas brutas consolidadas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7300" y="4594469"/>
            <a:ext cx="3250406" cy="36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700">
                <a:solidFill>
                  <a:srgbClr val="7C3AED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7300" y="5009626"/>
            <a:ext cx="325040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MESES MONITORADOS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164931" y="4603994"/>
            <a:ext cx="3250406" cy="31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2362">
                <a:solidFill>
                  <a:srgbClr val="0284C7"/>
                </a:solidFill>
                <a:latin typeface="Arimo"/>
                <a:ea typeface="Arimo"/>
                <a:cs typeface="Arimo"/>
                <a:sym typeface="Arimo"/>
              </a:rPr>
              <a:t>2.157.698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64931" y="4962525"/>
            <a:ext cx="325040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REGISTROS ORIGINAIS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57300" y="5800201"/>
            <a:ext cx="3250406" cy="36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700">
                <a:solidFill>
                  <a:srgbClr val="16A34A"/>
                </a:solidFill>
                <a:latin typeface="Arimo"/>
                <a:ea typeface="Arimo"/>
                <a:cs typeface="Arimo"/>
                <a:sym typeface="Arimo"/>
              </a:rPr>
              <a:t>46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57300" y="6215358"/>
            <a:ext cx="325040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EQUIPAMENTOS CTTU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164931" y="5800201"/>
            <a:ext cx="3250406" cy="36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8"/>
              </a:lnSpc>
            </a:pPr>
            <a:r>
              <a:rPr lang="en-US" sz="2700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164931" y="6215358"/>
            <a:ext cx="325040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FAIXAS DE VELOCIDADE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751219" y="2037312"/>
            <a:ext cx="328612" cy="257175"/>
            <a:chOff x="0" y="0"/>
            <a:chExt cx="438150" cy="34290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438150" cy="342900"/>
            </a:xfrm>
            <a:custGeom>
              <a:avLst/>
              <a:gdLst/>
              <a:ahLst/>
              <a:cxnLst/>
              <a:rect r="r" b="b" t="t" l="l"/>
              <a:pathLst>
                <a:path h="3429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577" r="0" b="-581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0372725" y="1877758"/>
            <a:ext cx="339042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Operações em Pandas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372725" y="2215896"/>
            <a:ext cx="32289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Inspeção, validação e agrupamentos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815512" y="4476226"/>
            <a:ext cx="228600" cy="228600"/>
            <a:chOff x="0" y="0"/>
            <a:chExt cx="304800" cy="304800"/>
          </a:xfrm>
        </p:grpSpPr>
        <p:sp>
          <p:nvSpPr>
            <p:cNvPr name="Freeform 56" id="56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125" r="0" b="-3125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0186988" y="4476226"/>
            <a:ext cx="37433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E1B4B"/>
                </a:solidFill>
                <a:latin typeface="Inter Medium"/>
                <a:ea typeface="Inter Medium"/>
                <a:cs typeface="Inter Medium"/>
                <a:sym typeface="Inter Medium"/>
              </a:rPr>
              <a:t>Leitura e concatenação otimizada de CSVs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815512" y="5104876"/>
            <a:ext cx="257175" cy="228600"/>
            <a:chOff x="0" y="0"/>
            <a:chExt cx="342900" cy="304800"/>
          </a:xfrm>
        </p:grpSpPr>
        <p:sp>
          <p:nvSpPr>
            <p:cNvPr name="Freeform 59" id="59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125" r="0" b="-3125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0215562" y="5104876"/>
            <a:ext cx="38433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E1B4B"/>
                </a:solidFill>
                <a:latin typeface="Inter Medium"/>
                <a:ea typeface="Inter Medium"/>
                <a:cs typeface="Inter Medium"/>
                <a:sym typeface="Inter Medium"/>
              </a:rPr>
              <a:t>Inspeção de estrutura, tipos e valores nulos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815512" y="5733526"/>
            <a:ext cx="257175" cy="228600"/>
            <a:chOff x="0" y="0"/>
            <a:chExt cx="342900" cy="304800"/>
          </a:xfrm>
        </p:grpSpPr>
        <p:sp>
          <p:nvSpPr>
            <p:cNvPr name="Freeform 62" id="62" descr="image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125" r="0" b="-3125"/>
              </a:stretch>
            </a:blip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0215562" y="5733526"/>
            <a:ext cx="36718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E1B4B"/>
                </a:solidFill>
                <a:latin typeface="Inter Medium"/>
                <a:ea typeface="Inter Medium"/>
                <a:cs typeface="Inter Medium"/>
                <a:sym typeface="Inter Medium"/>
              </a:rPr>
              <a:t>Groupby e agregações multidimensionais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815512" y="6362176"/>
            <a:ext cx="228600" cy="228600"/>
            <a:chOff x="0" y="0"/>
            <a:chExt cx="304800" cy="304800"/>
          </a:xfrm>
        </p:grpSpPr>
        <p:sp>
          <p:nvSpPr>
            <p:cNvPr name="Freeform 65" id="65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3125" r="0" b="-3125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0186988" y="6362176"/>
            <a:ext cx="42291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E1B4B"/>
                </a:solidFill>
                <a:latin typeface="Inter Medium"/>
                <a:ea typeface="Inter Medium"/>
                <a:cs typeface="Inter Medium"/>
                <a:sym typeface="Inter Medium"/>
              </a:rPr>
              <a:t>Análise de distribuição e detecção de anomalias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52954" y="-200188"/>
            <a:ext cx="21305750" cy="10687376"/>
            <a:chOff x="0" y="0"/>
            <a:chExt cx="28407666" cy="14249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157832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490372" y="-4086321"/>
            <a:ext cx="27194828" cy="18908834"/>
            <a:chOff x="0" y="0"/>
            <a:chExt cx="36259771" cy="25211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482554" y="13117076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7" y="0"/>
                  </a:lnTo>
                  <a:lnTo>
                    <a:pt x="11777217" y="12094703"/>
                  </a:lnTo>
                  <a:lnTo>
                    <a:pt x="0" y="12094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18207" cy="12052108"/>
            </a:xfrm>
            <a:custGeom>
              <a:avLst/>
              <a:gdLst/>
              <a:ahLst/>
              <a:cxnLst/>
              <a:rect r="r" b="b" t="t" l="l"/>
              <a:pathLst>
                <a:path h="12052108" w="12118207">
                  <a:moveTo>
                    <a:pt x="0" y="0"/>
                  </a:moveTo>
                  <a:lnTo>
                    <a:pt x="12118207" y="0"/>
                  </a:lnTo>
                  <a:lnTo>
                    <a:pt x="12118207" y="12052108"/>
                  </a:lnTo>
                  <a:lnTo>
                    <a:pt x="0" y="12052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8675718"/>
            <a:ext cx="1704975" cy="1704975"/>
          </a:xfrm>
          <a:custGeom>
            <a:avLst/>
            <a:gdLst/>
            <a:ahLst/>
            <a:cxnLst/>
            <a:rect r="r" b="b" t="t" l="l"/>
            <a:pathLst>
              <a:path h="1704975" w="1704975">
                <a:moveTo>
                  <a:pt x="0" y="0"/>
                </a:moveTo>
                <a:lnTo>
                  <a:pt x="1704975" y="0"/>
                </a:lnTo>
                <a:lnTo>
                  <a:pt x="1704975" y="1704975"/>
                </a:ln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0" id="10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4800" spc="-144">
                  <a:solidFill>
                    <a:srgbClr val="280556"/>
                  </a:solidFill>
                  <a:latin typeface="Sifonn"/>
                  <a:ea typeface="Sifonn"/>
                  <a:cs typeface="Sifonn"/>
                  <a:sym typeface="Sifonn"/>
                </a:rPr>
                <a:t>PREPARAÇÃO DOS DADOS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1551537"/>
            <a:ext cx="9546060" cy="7621038"/>
            <a:chOff x="0" y="0"/>
            <a:chExt cx="12728080" cy="1016138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2728067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2728067">
                  <a:moveTo>
                    <a:pt x="0" y="0"/>
                  </a:moveTo>
                  <a:lnTo>
                    <a:pt x="12728067" y="0"/>
                  </a:lnTo>
                  <a:lnTo>
                    <a:pt x="12728067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8" t="0" r="-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46185" y="1551537"/>
            <a:ext cx="7055796" cy="7621038"/>
            <a:chOff x="0" y="0"/>
            <a:chExt cx="9407728" cy="10161384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407779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9407779">
                  <a:moveTo>
                    <a:pt x="0" y="0"/>
                  </a:moveTo>
                  <a:lnTo>
                    <a:pt x="9407779" y="0"/>
                  </a:lnTo>
                  <a:lnTo>
                    <a:pt x="9407779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9" r="0" b="-3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74797" y="8215312"/>
            <a:ext cx="6398571" cy="714375"/>
            <a:chOff x="0" y="0"/>
            <a:chExt cx="8531428" cy="9525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8531479" cy="952500"/>
            </a:xfrm>
            <a:custGeom>
              <a:avLst/>
              <a:gdLst/>
              <a:ahLst/>
              <a:cxnLst/>
              <a:rect r="r" b="b" t="t" l="l"/>
              <a:pathLst>
                <a:path h="952500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240" t="0" r="-24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4412" y="4300538"/>
            <a:ext cx="8888835" cy="685800"/>
            <a:chOff x="0" y="0"/>
            <a:chExt cx="1185178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1851767" cy="914400"/>
            </a:xfrm>
            <a:custGeom>
              <a:avLst/>
              <a:gdLst/>
              <a:ahLst/>
              <a:cxnLst/>
              <a:rect r="r" b="b" t="t" l="l"/>
              <a:pathLst>
                <a:path h="914400" w="11851767">
                  <a:moveTo>
                    <a:pt x="0" y="0"/>
                  </a:moveTo>
                  <a:lnTo>
                    <a:pt x="11851767" y="0"/>
                  </a:lnTo>
                  <a:lnTo>
                    <a:pt x="11851767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9" t="0" r="-229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14412" y="5072062"/>
            <a:ext cx="8888835" cy="685800"/>
            <a:chOff x="0" y="0"/>
            <a:chExt cx="11851780" cy="914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1851767" cy="914400"/>
            </a:xfrm>
            <a:custGeom>
              <a:avLst/>
              <a:gdLst/>
              <a:ahLst/>
              <a:cxnLst/>
              <a:rect r="r" b="b" t="t" l="l"/>
              <a:pathLst>
                <a:path h="914400" w="11851767">
                  <a:moveTo>
                    <a:pt x="0" y="0"/>
                  </a:moveTo>
                  <a:lnTo>
                    <a:pt x="11851767" y="0"/>
                  </a:lnTo>
                  <a:lnTo>
                    <a:pt x="11851767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9" t="0" r="-229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14412" y="5843588"/>
            <a:ext cx="8888835" cy="685800"/>
            <a:chOff x="0" y="0"/>
            <a:chExt cx="11851780" cy="914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1851767" cy="914400"/>
            </a:xfrm>
            <a:custGeom>
              <a:avLst/>
              <a:gdLst/>
              <a:ahLst/>
              <a:cxnLst/>
              <a:rect r="r" b="b" t="t" l="l"/>
              <a:pathLst>
                <a:path h="914400" w="11851767">
                  <a:moveTo>
                    <a:pt x="0" y="0"/>
                  </a:moveTo>
                  <a:lnTo>
                    <a:pt x="11851767" y="0"/>
                  </a:lnTo>
                  <a:lnTo>
                    <a:pt x="11851767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9" t="0" r="-22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14412" y="6615112"/>
            <a:ext cx="8888835" cy="685800"/>
            <a:chOff x="0" y="0"/>
            <a:chExt cx="11851780" cy="9144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1851767" cy="914400"/>
            </a:xfrm>
            <a:custGeom>
              <a:avLst/>
              <a:gdLst/>
              <a:ahLst/>
              <a:cxnLst/>
              <a:rect r="r" b="b" t="t" l="l"/>
              <a:pathLst>
                <a:path h="914400" w="11851767">
                  <a:moveTo>
                    <a:pt x="0" y="0"/>
                  </a:moveTo>
                  <a:lnTo>
                    <a:pt x="11851767" y="0"/>
                  </a:lnTo>
                  <a:lnTo>
                    <a:pt x="11851767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29" t="0" r="-229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4412" y="7386638"/>
            <a:ext cx="8888835" cy="685800"/>
            <a:chOff x="0" y="0"/>
            <a:chExt cx="11851780" cy="914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1851767" cy="914400"/>
            </a:xfrm>
            <a:custGeom>
              <a:avLst/>
              <a:gdLst/>
              <a:ahLst/>
              <a:cxnLst/>
              <a:rect r="r" b="b" t="t" l="l"/>
              <a:pathLst>
                <a:path h="914400" w="11851767">
                  <a:moveTo>
                    <a:pt x="0" y="0"/>
                  </a:moveTo>
                  <a:lnTo>
                    <a:pt x="11851767" y="0"/>
                  </a:lnTo>
                  <a:lnTo>
                    <a:pt x="11851767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229" t="0" r="-229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14412" y="8158162"/>
            <a:ext cx="8888835" cy="685800"/>
            <a:chOff x="0" y="0"/>
            <a:chExt cx="11851780" cy="9144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11851767" cy="914400"/>
            </a:xfrm>
            <a:custGeom>
              <a:avLst/>
              <a:gdLst/>
              <a:ahLst/>
              <a:cxnLst/>
              <a:rect r="r" b="b" t="t" l="l"/>
              <a:pathLst>
                <a:path h="914400" w="11851767">
                  <a:moveTo>
                    <a:pt x="0" y="0"/>
                  </a:moveTo>
                  <a:lnTo>
                    <a:pt x="11851767" y="0"/>
                  </a:lnTo>
                  <a:lnTo>
                    <a:pt x="11851767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229" t="0" r="-229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874797" y="3971925"/>
            <a:ext cx="6398571" cy="771525"/>
            <a:chOff x="0" y="0"/>
            <a:chExt cx="8531428" cy="10287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8531479" cy="1028700"/>
            </a:xfrm>
            <a:custGeom>
              <a:avLst/>
              <a:gdLst/>
              <a:ahLst/>
              <a:cxnLst/>
              <a:rect r="r" b="b" t="t" l="l"/>
              <a:pathLst>
                <a:path h="1028700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240" t="0" r="-24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874797" y="4886325"/>
            <a:ext cx="6398571" cy="1022899"/>
            <a:chOff x="0" y="0"/>
            <a:chExt cx="8531428" cy="1363866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8531479" cy="1363853"/>
            </a:xfrm>
            <a:custGeom>
              <a:avLst/>
              <a:gdLst/>
              <a:ahLst/>
              <a:cxnLst/>
              <a:rect r="r" b="b" t="t" l="l"/>
              <a:pathLst>
                <a:path h="1363853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1363853"/>
                  </a:lnTo>
                  <a:lnTo>
                    <a:pt x="0" y="1363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42" r="0" b="-42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74797" y="6052099"/>
            <a:ext cx="6398571" cy="757238"/>
            <a:chOff x="0" y="0"/>
            <a:chExt cx="8531428" cy="100965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8531479" cy="1009650"/>
            </a:xfrm>
            <a:custGeom>
              <a:avLst/>
              <a:gdLst/>
              <a:ahLst/>
              <a:cxnLst/>
              <a:rect r="r" b="b" t="t" l="l"/>
              <a:pathLst>
                <a:path h="1009650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1009650"/>
                  </a:lnTo>
                  <a:lnTo>
                    <a:pt x="0" y="100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699" r="0" b="-699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8725" y="4457700"/>
            <a:ext cx="371475" cy="371475"/>
            <a:chOff x="0" y="0"/>
            <a:chExt cx="495300" cy="4953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8725" y="5229225"/>
            <a:ext cx="371475" cy="371475"/>
            <a:chOff x="0" y="0"/>
            <a:chExt cx="495300" cy="4953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8725" y="6000750"/>
            <a:ext cx="371475" cy="371475"/>
            <a:chOff x="0" y="0"/>
            <a:chExt cx="495300" cy="4953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28725" y="6772275"/>
            <a:ext cx="371475" cy="371475"/>
            <a:chOff x="0" y="0"/>
            <a:chExt cx="495300" cy="4953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28725" y="7543800"/>
            <a:ext cx="371475" cy="371475"/>
            <a:chOff x="0" y="0"/>
            <a:chExt cx="495300" cy="4953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14412" y="1880149"/>
            <a:ext cx="571500" cy="571500"/>
            <a:chOff x="0" y="0"/>
            <a:chExt cx="762000" cy="7620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1250" r="0" b="-125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874797" y="1880149"/>
            <a:ext cx="571500" cy="571500"/>
            <a:chOff x="0" y="0"/>
            <a:chExt cx="762000" cy="7620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57288" y="2037312"/>
            <a:ext cx="285750" cy="257175"/>
            <a:chOff x="0" y="0"/>
            <a:chExt cx="381000" cy="3429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2777" r="0" b="-2777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757362" y="1877758"/>
            <a:ext cx="349543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Fluxo de Tratamento (ETL)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57362" y="2215896"/>
            <a:ext cx="33289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 fonte bruta ao dataset estruturado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71650" y="4529138"/>
            <a:ext cx="21288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CSVs Originais da CTTU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71650" y="5300662"/>
            <a:ext cx="31289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Consolidação e Limpeza dos Dados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771650" y="6072188"/>
            <a:ext cx="36004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Conversão de Tipos (String → Datetime)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771650" y="6843712"/>
            <a:ext cx="35290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Engenharia de Feature: Período (Férias)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771650" y="7615238"/>
            <a:ext cx="34718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Transformação Wide → Long (Unpivot)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28725" y="8315325"/>
            <a:ext cx="371475" cy="371475"/>
            <a:chOff x="0" y="0"/>
            <a:chExt cx="495300" cy="495300"/>
          </a:xfrm>
        </p:grpSpPr>
        <p:sp>
          <p:nvSpPr>
            <p:cNvPr name="Freeform 60" id="60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771650" y="8386762"/>
            <a:ext cx="31575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Dataset Final Pronto para Ingestão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017672" y="2037312"/>
            <a:ext cx="285750" cy="257175"/>
            <a:chOff x="0" y="0"/>
            <a:chExt cx="381000" cy="342900"/>
          </a:xfrm>
        </p:grpSpPr>
        <p:sp>
          <p:nvSpPr>
            <p:cNvPr name="Freeform 63" id="63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-262" r="0" b="-266"/>
              </a:stretch>
            </a:blip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1617747" y="1877758"/>
            <a:ext cx="355544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Transformações Realizadas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17747" y="2215896"/>
            <a:ext cx="33861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Regras de negócio aplicadas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060535" y="4119563"/>
            <a:ext cx="602709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DATAS &amp; HORÁRIOS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060535" y="4357688"/>
            <a:ext cx="60270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Texto </a:t>
            </a:r>
            <a:r>
              <a:rPr lang="en-US" sz="1462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Datetime estruturado (ISO 8601)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060535" y="5033963"/>
            <a:ext cx="602709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CLASSIFICAÇÃO DE PERÍODO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060535" y="5253038"/>
            <a:ext cx="6027096" cy="49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135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Férias: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Jan, Fev, Jun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35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Não Férias: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Mar, Abr, Mai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060535" y="6199737"/>
            <a:ext cx="602709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DESPIVOTAMENTO (MELT)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060535" y="6437862"/>
            <a:ext cx="6027096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11 colunas de velocidade </a:t>
            </a:r>
            <a:r>
              <a:rPr lang="en-US" sz="13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faixa_velocidade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+ </a:t>
            </a:r>
            <a:r>
              <a:rPr lang="en-US" sz="135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quantidade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350169" y="8429625"/>
            <a:ext cx="128588" cy="142875"/>
            <a:chOff x="0" y="0"/>
            <a:chExt cx="171450" cy="190500"/>
          </a:xfrm>
        </p:grpSpPr>
        <p:sp>
          <p:nvSpPr>
            <p:cNvPr name="Freeform 73" id="73" descr="image.png"/>
            <p:cNvSpPr/>
            <p:nvPr/>
          </p:nvSpPr>
          <p:spPr>
            <a:xfrm flipH="false" flipV="false" rot="0">
              <a:off x="0" y="0"/>
              <a:ext cx="171450" cy="190500"/>
            </a:xfrm>
            <a:custGeom>
              <a:avLst/>
              <a:gdLst/>
              <a:ahLst/>
              <a:cxnLst/>
              <a:rect r="r" b="b" t="t" l="l"/>
              <a:pathLst>
                <a:path h="190500" w="171450">
                  <a:moveTo>
                    <a:pt x="0" y="0"/>
                  </a:moveTo>
                  <a:lnTo>
                    <a:pt x="171450" y="0"/>
                  </a:lnTo>
                  <a:lnTo>
                    <a:pt x="17145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-5555" t="0" r="-5555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19740" y="-3749735"/>
            <a:ext cx="24482632" cy="16377788"/>
            <a:chOff x="0" y="0"/>
            <a:chExt cx="32643509" cy="2183705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767754" y="15172685"/>
              <a:ext cx="6664366" cy="66643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4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9819005" y="2540592"/>
              <a:ext cx="5359432" cy="535943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7929501" y="7393034"/>
              <a:ext cx="2488939" cy="24889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6" y="0"/>
                  </a:lnTo>
                  <a:lnTo>
                    <a:pt x="11777216" y="12094702"/>
                  </a:lnTo>
                  <a:lnTo>
                    <a:pt x="0" y="12094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826320" y="16442029"/>
              <a:ext cx="2273618" cy="2273618"/>
            </a:xfrm>
            <a:custGeom>
              <a:avLst/>
              <a:gdLst/>
              <a:ahLst/>
              <a:cxnLst/>
              <a:rect r="r" b="b" t="t" l="l"/>
              <a:pathLst>
                <a:path h="2273618" w="2273618">
                  <a:moveTo>
                    <a:pt x="0" y="0"/>
                  </a:moveTo>
                  <a:lnTo>
                    <a:pt x="2273617" y="0"/>
                  </a:lnTo>
                  <a:lnTo>
                    <a:pt x="2273617" y="2273618"/>
                  </a:lnTo>
                  <a:lnTo>
                    <a:pt x="0" y="227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2933066" y="15093005"/>
              <a:ext cx="9710442" cy="5486400"/>
            </a:xfrm>
            <a:custGeom>
              <a:avLst/>
              <a:gdLst/>
              <a:ahLst/>
              <a:cxnLst/>
              <a:rect r="r" b="b" t="t" l="l"/>
              <a:pathLst>
                <a:path h="5486400" w="9710442">
                  <a:moveTo>
                    <a:pt x="0" y="0"/>
                  </a:moveTo>
                  <a:lnTo>
                    <a:pt x="9710443" y="0"/>
                  </a:lnTo>
                  <a:lnTo>
                    <a:pt x="9710443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7" id="17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sz="4800" spc="-144">
                  <a:solidFill>
                    <a:srgbClr val="FFFFFF"/>
                  </a:solidFill>
                  <a:latin typeface="Sifonn"/>
                  <a:ea typeface="Sifonn"/>
                  <a:cs typeface="Sifonn"/>
                  <a:sym typeface="Sifonn"/>
                </a:rPr>
                <a:t>DOCKER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1551537"/>
            <a:ext cx="8301038" cy="7621038"/>
            <a:chOff x="0" y="0"/>
            <a:chExt cx="11068050" cy="10161384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5" r="0" b="-5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01162" y="1551537"/>
            <a:ext cx="8301038" cy="7621038"/>
            <a:chOff x="0" y="0"/>
            <a:chExt cx="11068050" cy="10161384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5" r="0" b="-5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14412" y="4326207"/>
            <a:ext cx="7643812" cy="2643188"/>
            <a:chOff x="0" y="0"/>
            <a:chExt cx="10191750" cy="35242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0191750" cy="3524250"/>
            </a:xfrm>
            <a:custGeom>
              <a:avLst/>
              <a:gdLst/>
              <a:ahLst/>
              <a:cxnLst/>
              <a:rect r="r" b="b" t="t" l="l"/>
              <a:pathLst>
                <a:path h="352425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3524250"/>
                  </a:lnTo>
                  <a:lnTo>
                    <a:pt x="0" y="3524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82" r="0" b="-83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57300" y="4569095"/>
            <a:ext cx="7158038" cy="800100"/>
            <a:chOff x="0" y="0"/>
            <a:chExt cx="9544050" cy="10668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9544050" cy="1066800"/>
            </a:xfrm>
            <a:custGeom>
              <a:avLst/>
              <a:gdLst/>
              <a:ahLst/>
              <a:cxnLst/>
              <a:rect r="r" b="b" t="t" l="l"/>
              <a:pathLst>
                <a:path h="1066800" w="9544050">
                  <a:moveTo>
                    <a:pt x="0" y="0"/>
                  </a:moveTo>
                  <a:lnTo>
                    <a:pt x="9544050" y="0"/>
                  </a:lnTo>
                  <a:lnTo>
                    <a:pt x="954405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89" r="0" b="-49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57300" y="5926407"/>
            <a:ext cx="7158038" cy="800100"/>
            <a:chOff x="0" y="0"/>
            <a:chExt cx="9544050" cy="10668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9544050" cy="1066800"/>
            </a:xfrm>
            <a:custGeom>
              <a:avLst/>
              <a:gdLst/>
              <a:ahLst/>
              <a:cxnLst/>
              <a:rect r="r" b="b" t="t" l="l"/>
              <a:pathLst>
                <a:path h="1066800" w="9544050">
                  <a:moveTo>
                    <a:pt x="0" y="0"/>
                  </a:moveTo>
                  <a:lnTo>
                    <a:pt x="9544050" y="0"/>
                  </a:lnTo>
                  <a:lnTo>
                    <a:pt x="954405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489" r="0" b="-49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29775" y="4547664"/>
            <a:ext cx="3750469" cy="771525"/>
            <a:chOff x="0" y="0"/>
            <a:chExt cx="5000625" cy="10287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5000625" cy="1028700"/>
            </a:xfrm>
            <a:custGeom>
              <a:avLst/>
              <a:gdLst/>
              <a:ahLst/>
              <a:cxnLst/>
              <a:rect r="r" b="b" t="t" l="l"/>
              <a:pathLst>
                <a:path h="1028700" w="5000625">
                  <a:moveTo>
                    <a:pt x="0" y="0"/>
                  </a:moveTo>
                  <a:lnTo>
                    <a:pt x="5000625" y="0"/>
                  </a:lnTo>
                  <a:lnTo>
                    <a:pt x="5000625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637" r="0" b="-63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523119" y="4547664"/>
            <a:ext cx="3750469" cy="771525"/>
            <a:chOff x="0" y="0"/>
            <a:chExt cx="5000625" cy="10287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5000625" cy="1028700"/>
            </a:xfrm>
            <a:custGeom>
              <a:avLst/>
              <a:gdLst/>
              <a:ahLst/>
              <a:cxnLst/>
              <a:rect r="r" b="b" t="t" l="l"/>
              <a:pathLst>
                <a:path h="1028700" w="5000625">
                  <a:moveTo>
                    <a:pt x="0" y="0"/>
                  </a:moveTo>
                  <a:lnTo>
                    <a:pt x="5000625" y="0"/>
                  </a:lnTo>
                  <a:lnTo>
                    <a:pt x="5000625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637" r="0" b="-63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29775" y="5462064"/>
            <a:ext cx="3750469" cy="771525"/>
            <a:chOff x="0" y="0"/>
            <a:chExt cx="5000625" cy="10287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5000625" cy="1028700"/>
            </a:xfrm>
            <a:custGeom>
              <a:avLst/>
              <a:gdLst/>
              <a:ahLst/>
              <a:cxnLst/>
              <a:rect r="r" b="b" t="t" l="l"/>
              <a:pathLst>
                <a:path h="1028700" w="5000625">
                  <a:moveTo>
                    <a:pt x="0" y="0"/>
                  </a:moveTo>
                  <a:lnTo>
                    <a:pt x="5000625" y="0"/>
                  </a:lnTo>
                  <a:lnTo>
                    <a:pt x="5000625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637" r="0" b="-63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523119" y="5462064"/>
            <a:ext cx="3750469" cy="771525"/>
            <a:chOff x="0" y="0"/>
            <a:chExt cx="5000625" cy="10287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5000625" cy="1028700"/>
            </a:xfrm>
            <a:custGeom>
              <a:avLst/>
              <a:gdLst/>
              <a:ahLst/>
              <a:cxnLst/>
              <a:rect r="r" b="b" t="t" l="l"/>
              <a:pathLst>
                <a:path h="1028700" w="5000625">
                  <a:moveTo>
                    <a:pt x="0" y="0"/>
                  </a:moveTo>
                  <a:lnTo>
                    <a:pt x="5000625" y="0"/>
                  </a:lnTo>
                  <a:lnTo>
                    <a:pt x="5000625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637" r="0" b="-63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14412" y="1880149"/>
            <a:ext cx="571500" cy="571500"/>
            <a:chOff x="0" y="0"/>
            <a:chExt cx="762000" cy="762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250" r="0" b="-125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33500" y="5540645"/>
            <a:ext cx="70818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Rede Docker Bridge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29775" y="1880149"/>
            <a:ext cx="571500" cy="571500"/>
            <a:chOff x="0" y="0"/>
            <a:chExt cx="762000" cy="7620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250" r="0" b="-125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35856" y="2037312"/>
            <a:ext cx="328612" cy="257175"/>
            <a:chOff x="0" y="0"/>
            <a:chExt cx="438150" cy="3429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438150" cy="342900"/>
            </a:xfrm>
            <a:custGeom>
              <a:avLst/>
              <a:gdLst/>
              <a:ahLst/>
              <a:cxnLst/>
              <a:rect r="r" b="b" t="t" l="l"/>
              <a:pathLst>
                <a:path h="3429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577" r="0" b="-58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486650" y="4826270"/>
            <a:ext cx="728662" cy="285750"/>
            <a:chOff x="0" y="0"/>
            <a:chExt cx="971550" cy="3810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971550" cy="381000"/>
            </a:xfrm>
            <a:custGeom>
              <a:avLst/>
              <a:gdLst/>
              <a:ahLst/>
              <a:cxnLst/>
              <a:rect r="r" b="b" t="t" l="l"/>
              <a:pathLst>
                <a:path h="381000" w="971550">
                  <a:moveTo>
                    <a:pt x="0" y="0"/>
                  </a:moveTo>
                  <a:lnTo>
                    <a:pt x="971550" y="0"/>
                  </a:lnTo>
                  <a:lnTo>
                    <a:pt x="9715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500" r="0" b="-250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943350" y="5569220"/>
            <a:ext cx="114300" cy="171450"/>
            <a:chOff x="0" y="0"/>
            <a:chExt cx="152400" cy="2286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152400" cy="228600"/>
            </a:xfrm>
            <a:custGeom>
              <a:avLst/>
              <a:gdLst/>
              <a:ahLst/>
              <a:cxnLst/>
              <a:rect r="r" b="b" t="t" l="l"/>
              <a:pathLst>
                <a:path h="228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4166" r="0" b="-416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486650" y="6183582"/>
            <a:ext cx="728662" cy="285750"/>
            <a:chOff x="0" y="0"/>
            <a:chExt cx="971550" cy="3810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971550" cy="381000"/>
            </a:xfrm>
            <a:custGeom>
              <a:avLst/>
              <a:gdLst/>
              <a:ahLst/>
              <a:cxnLst/>
              <a:rect r="r" b="b" t="t" l="l"/>
              <a:pathLst>
                <a:path h="381000" w="971550">
                  <a:moveTo>
                    <a:pt x="0" y="0"/>
                  </a:moveTo>
                  <a:lnTo>
                    <a:pt x="971550" y="0"/>
                  </a:lnTo>
                  <a:lnTo>
                    <a:pt x="9715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500" r="0" b="-250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4412" y="8672512"/>
            <a:ext cx="157162" cy="157162"/>
            <a:chOff x="0" y="0"/>
            <a:chExt cx="209550" cy="20955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209550" cy="209550"/>
            </a:xfrm>
            <a:custGeom>
              <a:avLst/>
              <a:gdLst/>
              <a:ahLst/>
              <a:cxnLst/>
              <a:rect r="r" b="b" t="t" l="l"/>
              <a:pathLst>
                <a:path h="2095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772650" y="2037312"/>
            <a:ext cx="285750" cy="257175"/>
            <a:chOff x="0" y="0"/>
            <a:chExt cx="381000" cy="342900"/>
          </a:xfrm>
        </p:grpSpPr>
        <p:sp>
          <p:nvSpPr>
            <p:cNvPr name="Freeform 53" id="53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2777" r="0" b="-2777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0020300" y="4711970"/>
            <a:ext cx="329326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369A1"/>
                </a:solidFill>
                <a:latin typeface="Inter Bold"/>
                <a:ea typeface="Inter Bold"/>
                <a:cs typeface="Inter Bold"/>
                <a:sym typeface="Inter Bold"/>
              </a:rPr>
              <a:t>Containers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854112" y="4711970"/>
            <a:ext cx="334089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369A1"/>
                </a:solidFill>
                <a:latin typeface="Inter Bold"/>
                <a:ea typeface="Inter Bold"/>
                <a:cs typeface="Inter Bold"/>
                <a:sym typeface="Inter Bold"/>
              </a:rPr>
              <a:t>Compose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020300" y="5626370"/>
            <a:ext cx="329326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369A1"/>
                </a:solidFill>
                <a:latin typeface="Inter Bold"/>
                <a:ea typeface="Inter Bold"/>
                <a:cs typeface="Inter Bold"/>
                <a:sym typeface="Inter Bold"/>
              </a:rPr>
              <a:t>Port Binding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854112" y="5626370"/>
            <a:ext cx="3331369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369A1"/>
                </a:solidFill>
                <a:latin typeface="Inter Bold"/>
                <a:ea typeface="Inter Bold"/>
                <a:cs typeface="Inter Bold"/>
                <a:sym typeface="Inter Bold"/>
              </a:rPr>
              <a:t>Volumes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514475" y="4840557"/>
            <a:ext cx="228600" cy="257175"/>
            <a:chOff x="0" y="0"/>
            <a:chExt cx="304800" cy="342900"/>
          </a:xfrm>
        </p:grpSpPr>
        <p:sp>
          <p:nvSpPr>
            <p:cNvPr name="Freeform 59" id="59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2777" r="0" b="-2777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14475" y="6197870"/>
            <a:ext cx="285750" cy="257175"/>
            <a:chOff x="0" y="0"/>
            <a:chExt cx="381000" cy="342900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2777" r="0" b="-2777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786938" y="4733401"/>
            <a:ext cx="214312" cy="185738"/>
            <a:chOff x="0" y="0"/>
            <a:chExt cx="285750" cy="247650"/>
          </a:xfrm>
        </p:grpSpPr>
        <p:sp>
          <p:nvSpPr>
            <p:cNvPr name="Freeform 63" id="63" descr="image.png"/>
            <p:cNvSpPr/>
            <p:nvPr/>
          </p:nvSpPr>
          <p:spPr>
            <a:xfrm flipH="false" flipV="false" rot="0">
              <a:off x="0" y="0"/>
              <a:ext cx="285750" cy="247650"/>
            </a:xfrm>
            <a:custGeom>
              <a:avLst/>
              <a:gdLst/>
              <a:ahLst/>
              <a:cxnLst/>
              <a:rect r="r" b="b" t="t" l="l"/>
              <a:pathLst>
                <a:path h="2476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3846" r="0" b="-3846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680281" y="4733401"/>
            <a:ext cx="142875" cy="185738"/>
            <a:chOff x="0" y="0"/>
            <a:chExt cx="190500" cy="247650"/>
          </a:xfrm>
        </p:grpSpPr>
        <p:sp>
          <p:nvSpPr>
            <p:cNvPr name="Freeform 65" id="65" descr="image.png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1073" t="0" r="-1066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786938" y="5647801"/>
            <a:ext cx="214312" cy="185738"/>
            <a:chOff x="0" y="0"/>
            <a:chExt cx="285750" cy="247650"/>
          </a:xfrm>
        </p:grpSpPr>
        <p:sp>
          <p:nvSpPr>
            <p:cNvPr name="Freeform 67" id="67" descr="image.png"/>
            <p:cNvSpPr/>
            <p:nvPr/>
          </p:nvSpPr>
          <p:spPr>
            <a:xfrm flipH="false" flipV="false" rot="0">
              <a:off x="0" y="0"/>
              <a:ext cx="285750" cy="247650"/>
            </a:xfrm>
            <a:custGeom>
              <a:avLst/>
              <a:gdLst/>
              <a:ahLst/>
              <a:cxnLst/>
              <a:rect r="r" b="b" t="t" l="l"/>
              <a:pathLst>
                <a:path h="2476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3846" r="0" b="-3846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680281" y="5647801"/>
            <a:ext cx="157162" cy="185738"/>
            <a:chOff x="0" y="0"/>
            <a:chExt cx="209550" cy="247650"/>
          </a:xfrm>
        </p:grpSpPr>
        <p:sp>
          <p:nvSpPr>
            <p:cNvPr name="Freeform 69" id="69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648" t="0" r="-648" b="0"/>
              </a:stretch>
            </a:blip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9708356" y="8248257"/>
            <a:ext cx="7486650" cy="810411"/>
          </a:xfrm>
          <a:custGeom>
            <a:avLst/>
            <a:gdLst/>
            <a:ahLst/>
            <a:cxnLst/>
            <a:rect r="r" b="b" t="t" l="l"/>
            <a:pathLst>
              <a:path h="810411" w="7486650">
                <a:moveTo>
                  <a:pt x="0" y="0"/>
                </a:moveTo>
                <a:lnTo>
                  <a:pt x="7486650" y="0"/>
                </a:lnTo>
                <a:lnTo>
                  <a:pt x="7486650" y="810411"/>
                </a:lnTo>
                <a:lnTo>
                  <a:pt x="0" y="8104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1181100" y="8651081"/>
            <a:ext cx="7518053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Volumes persistentes mapeados                                                                                    Healthchecks ativos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757362" y="1877758"/>
            <a:ext cx="348043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Topologia de Serviços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757362" y="2215896"/>
            <a:ext cx="33147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Comunicação isolada via rede interna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372725" y="1877758"/>
            <a:ext cx="387048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Aprendizados em Docker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372725" y="2215896"/>
            <a:ext cx="36861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Padronização de ambiente para produção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786938" y="4952476"/>
            <a:ext cx="343614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Isolamento total de dependências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680281" y="4952476"/>
            <a:ext cx="343614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Orquestração multi-serviços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86938" y="5866876"/>
            <a:ext cx="343614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Mapeamento de portas 9200 e 5601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680281" y="5866876"/>
            <a:ext cx="343614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Persistência de dados do 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885950" y="4740545"/>
            <a:ext cx="245745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Elasticsearch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885950" y="4983432"/>
            <a:ext cx="245745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Engine de busca e agregações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943100" y="6097857"/>
            <a:ext cx="2500312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Kibana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943100" y="6340745"/>
            <a:ext cx="25003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Dashboard e exploração visual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52954" y="-200188"/>
            <a:ext cx="21305750" cy="10687376"/>
            <a:chOff x="0" y="0"/>
            <a:chExt cx="28407666" cy="14249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157832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490372" y="-4086321"/>
            <a:ext cx="27194828" cy="18908834"/>
            <a:chOff x="0" y="0"/>
            <a:chExt cx="36259771" cy="25211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482554" y="13117076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7" y="0"/>
                  </a:lnTo>
                  <a:lnTo>
                    <a:pt x="11777217" y="12094703"/>
                  </a:lnTo>
                  <a:lnTo>
                    <a:pt x="0" y="12094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18207" cy="12052108"/>
            </a:xfrm>
            <a:custGeom>
              <a:avLst/>
              <a:gdLst/>
              <a:ahLst/>
              <a:cxnLst/>
              <a:rect r="r" b="b" t="t" l="l"/>
              <a:pathLst>
                <a:path h="12052108" w="12118207">
                  <a:moveTo>
                    <a:pt x="0" y="0"/>
                  </a:moveTo>
                  <a:lnTo>
                    <a:pt x="12118207" y="0"/>
                  </a:lnTo>
                  <a:lnTo>
                    <a:pt x="12118207" y="12052108"/>
                  </a:lnTo>
                  <a:lnTo>
                    <a:pt x="0" y="12052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8675718"/>
            <a:ext cx="1704975" cy="1704975"/>
          </a:xfrm>
          <a:custGeom>
            <a:avLst/>
            <a:gdLst/>
            <a:ahLst/>
            <a:cxnLst/>
            <a:rect r="r" b="b" t="t" l="l"/>
            <a:pathLst>
              <a:path h="1704975" w="1704975">
                <a:moveTo>
                  <a:pt x="0" y="0"/>
                </a:moveTo>
                <a:lnTo>
                  <a:pt x="1704975" y="0"/>
                </a:lnTo>
                <a:lnTo>
                  <a:pt x="1704975" y="1704975"/>
                </a:ln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0" id="10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4800" spc="-144">
                  <a:solidFill>
                    <a:srgbClr val="280556"/>
                  </a:solidFill>
                  <a:latin typeface="Sifonn"/>
                  <a:ea typeface="Sifonn"/>
                  <a:cs typeface="Sifonn"/>
                  <a:sym typeface="Sifonn"/>
                </a:rPr>
                <a:t>ELASTICSEARCH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1551537"/>
            <a:ext cx="8301038" cy="7621038"/>
            <a:chOff x="0" y="0"/>
            <a:chExt cx="11068050" cy="1016138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55" r="0" b="-5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01162" y="1551537"/>
            <a:ext cx="8301038" cy="7621038"/>
            <a:chOff x="0" y="0"/>
            <a:chExt cx="11068050" cy="10161384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5" r="0" b="-5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4412" y="4283345"/>
            <a:ext cx="7643812" cy="2728912"/>
            <a:chOff x="0" y="0"/>
            <a:chExt cx="10191750" cy="36385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0191750" cy="3638550"/>
            </a:xfrm>
            <a:custGeom>
              <a:avLst/>
              <a:gdLst/>
              <a:ahLst/>
              <a:cxnLst/>
              <a:rect r="r" b="b" t="t" l="l"/>
              <a:pathLst>
                <a:path h="363855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3638550"/>
                  </a:lnTo>
                  <a:lnTo>
                    <a:pt x="0" y="3638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74" r="0" b="-7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29775" y="4511945"/>
            <a:ext cx="7643812" cy="1557338"/>
            <a:chOff x="0" y="0"/>
            <a:chExt cx="10191750" cy="20764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0191750" cy="2076450"/>
            </a:xfrm>
            <a:custGeom>
              <a:avLst/>
              <a:gdLst/>
              <a:ahLst/>
              <a:cxnLst/>
              <a:rect r="r" b="b" t="t" l="l"/>
              <a:pathLst>
                <a:path h="207645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076450"/>
                  </a:lnTo>
                  <a:lnTo>
                    <a:pt x="0" y="207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70" r="0" b="-27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14412" y="8634413"/>
            <a:ext cx="764381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*Uso de keyword para agregações exatas e date para filtros temporais.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14412" y="1880149"/>
            <a:ext cx="571500" cy="571500"/>
            <a:chOff x="0" y="0"/>
            <a:chExt cx="762000" cy="7620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250" r="0" b="-125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14438" y="4483370"/>
            <a:ext cx="72437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"equipamento"</a:t>
            </a:r>
            <a:r>
              <a:rPr lang="en-US" sz="13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"keyword"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4438" y="4783407"/>
            <a:ext cx="72437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"faixa"</a:t>
            </a:r>
            <a:r>
              <a:rPr lang="en-US" sz="13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"keyword"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4438" y="5083445"/>
            <a:ext cx="72437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"periodo"</a:t>
            </a:r>
            <a:r>
              <a:rPr lang="en-US" sz="13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"keyword"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4438" y="5383482"/>
            <a:ext cx="72437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"faixa_velocidade"</a:t>
            </a:r>
            <a:r>
              <a:rPr lang="en-US" sz="13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3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"keyword"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4438" y="5683520"/>
            <a:ext cx="72437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"quantidade"</a:t>
            </a:r>
            <a:r>
              <a:rPr lang="en-US" sz="13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35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"integer"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4438" y="5983557"/>
            <a:ext cx="72437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"hora"</a:t>
            </a:r>
            <a:r>
              <a:rPr lang="en-US" sz="13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35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"integer"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4438" y="6283595"/>
            <a:ext cx="72437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"data"</a:t>
            </a:r>
            <a:r>
              <a:rPr lang="en-US" sz="13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350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"date"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4438" y="6583632"/>
            <a:ext cx="72437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"data_hora_inicio"</a:t>
            </a:r>
            <a:r>
              <a:rPr lang="en-US" sz="13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1350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"date"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29775" y="1880149"/>
            <a:ext cx="571500" cy="571500"/>
            <a:chOff x="0" y="0"/>
            <a:chExt cx="762000" cy="7620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250" r="0" b="-125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858375" y="4740545"/>
            <a:ext cx="71866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E9D5FF"/>
                </a:solidFill>
                <a:latin typeface="Inter"/>
                <a:ea typeface="Inter"/>
                <a:cs typeface="Inter"/>
                <a:sym typeface="Inter"/>
              </a:rPr>
              <a:t>VOLUME TOTAL INDEXADO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58375" y="5002482"/>
            <a:ext cx="7186612" cy="5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23.734.678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58375" y="5626370"/>
            <a:ext cx="71866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C4B5FD"/>
                </a:solidFill>
                <a:latin typeface="Inter"/>
                <a:ea typeface="Inter"/>
                <a:cs typeface="Inter"/>
                <a:sym typeface="Inter"/>
              </a:rPr>
              <a:t>Documentos processados e consultáveis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01238" y="7929562"/>
            <a:ext cx="73723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Criação de índice otimizado e mapping explícito.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01238" y="8272462"/>
            <a:ext cx="73723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Inserção massiva via </a:t>
            </a:r>
            <a:r>
              <a:rPr lang="en-US" sz="1462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Bulk API</a:t>
            </a: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 batches.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01238" y="8615362"/>
            <a:ext cx="73723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Execução de agregações por termos e filtros de data.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71575" y="2037312"/>
            <a:ext cx="257175" cy="257175"/>
            <a:chOff x="0" y="0"/>
            <a:chExt cx="342900" cy="3429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777" r="0" b="-2777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757362" y="1877758"/>
            <a:ext cx="315039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Definição do Mapping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57362" y="2215896"/>
            <a:ext cx="30003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Tipagem estrita para performance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815512" y="2037312"/>
            <a:ext cx="200025" cy="257175"/>
            <a:chOff x="0" y="0"/>
            <a:chExt cx="266700" cy="3429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66700" cy="342900"/>
            </a:xfrm>
            <a:custGeom>
              <a:avLst/>
              <a:gdLst/>
              <a:ahLst/>
              <a:cxnLst/>
              <a:rect r="r" b="b" t="t" l="l"/>
              <a:pathLst>
                <a:path h="3429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777" r="0" b="-2777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372725" y="1877758"/>
            <a:ext cx="380047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O Dado Longo &amp; Aprendizados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72725" y="2215896"/>
            <a:ext cx="37147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Bulk API e queries analíticas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629775" y="7950994"/>
            <a:ext cx="157162" cy="200025"/>
            <a:chOff x="0" y="0"/>
            <a:chExt cx="209550" cy="2667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629775" y="8293894"/>
            <a:ext cx="157162" cy="200025"/>
            <a:chOff x="0" y="0"/>
            <a:chExt cx="209550" cy="2667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629775" y="8636794"/>
            <a:ext cx="157162" cy="200025"/>
            <a:chOff x="0" y="0"/>
            <a:chExt cx="209550" cy="26670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19740" y="-3749735"/>
            <a:ext cx="24482632" cy="16377788"/>
            <a:chOff x="0" y="0"/>
            <a:chExt cx="32643509" cy="2183705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767754" y="15172685"/>
              <a:ext cx="6664366" cy="66643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4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9819005" y="2540592"/>
              <a:ext cx="5359432" cy="535943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7929501" y="7393034"/>
              <a:ext cx="2488939" cy="24889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6" y="0"/>
                  </a:lnTo>
                  <a:lnTo>
                    <a:pt x="11777216" y="12094702"/>
                  </a:lnTo>
                  <a:lnTo>
                    <a:pt x="0" y="12094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826320" y="16442029"/>
              <a:ext cx="2273618" cy="2273618"/>
            </a:xfrm>
            <a:custGeom>
              <a:avLst/>
              <a:gdLst/>
              <a:ahLst/>
              <a:cxnLst/>
              <a:rect r="r" b="b" t="t" l="l"/>
              <a:pathLst>
                <a:path h="2273618" w="2273618">
                  <a:moveTo>
                    <a:pt x="0" y="0"/>
                  </a:moveTo>
                  <a:lnTo>
                    <a:pt x="2273617" y="0"/>
                  </a:lnTo>
                  <a:lnTo>
                    <a:pt x="2273617" y="2273618"/>
                  </a:lnTo>
                  <a:lnTo>
                    <a:pt x="0" y="227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2933066" y="15093005"/>
              <a:ext cx="9710442" cy="5486400"/>
            </a:xfrm>
            <a:custGeom>
              <a:avLst/>
              <a:gdLst/>
              <a:ahLst/>
              <a:cxnLst/>
              <a:rect r="r" b="b" t="t" l="l"/>
              <a:pathLst>
                <a:path h="5486400" w="9710442">
                  <a:moveTo>
                    <a:pt x="0" y="0"/>
                  </a:moveTo>
                  <a:lnTo>
                    <a:pt x="9710443" y="0"/>
                  </a:lnTo>
                  <a:lnTo>
                    <a:pt x="9710443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7" id="17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4800" spc="-144">
                  <a:solidFill>
                    <a:srgbClr val="FFFFFF"/>
                  </a:solidFill>
                  <a:latin typeface="Sifonn"/>
                  <a:ea typeface="Sifonn"/>
                  <a:cs typeface="Sifonn"/>
                  <a:sym typeface="Sifonn"/>
                </a:rPr>
                <a:t>INGESTÃO E VALIDAÇÃO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1551537"/>
            <a:ext cx="8301038" cy="7621038"/>
            <a:chOff x="0" y="0"/>
            <a:chExt cx="11068050" cy="10161384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5" r="0" b="-5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01162" y="1551537"/>
            <a:ext cx="8301038" cy="7621038"/>
            <a:chOff x="0" y="0"/>
            <a:chExt cx="11068050" cy="10161384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5" r="0" b="-5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14412" y="4750594"/>
            <a:ext cx="7643812" cy="1822999"/>
            <a:chOff x="0" y="0"/>
            <a:chExt cx="10191750" cy="2430666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0191750" cy="2430653"/>
            </a:xfrm>
            <a:custGeom>
              <a:avLst/>
              <a:gdLst/>
              <a:ahLst/>
              <a:cxnLst/>
              <a:rect r="r" b="b" t="t" l="l"/>
              <a:pathLst>
                <a:path h="2430653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430653"/>
                  </a:lnTo>
                  <a:lnTo>
                    <a:pt x="0" y="2430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7" t="0" r="-27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29775" y="4557713"/>
            <a:ext cx="7643812" cy="1822999"/>
            <a:chOff x="0" y="0"/>
            <a:chExt cx="10191750" cy="2430666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10191750" cy="2430653"/>
            </a:xfrm>
            <a:custGeom>
              <a:avLst/>
              <a:gdLst/>
              <a:ahLst/>
              <a:cxnLst/>
              <a:rect r="r" b="b" t="t" l="l"/>
              <a:pathLst>
                <a:path h="2430653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430653"/>
                  </a:lnTo>
                  <a:lnTo>
                    <a:pt x="0" y="2430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62" r="0" b="-363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29775" y="8243888"/>
            <a:ext cx="7643812" cy="600075"/>
            <a:chOff x="0" y="0"/>
            <a:chExt cx="10191750" cy="8001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0191750" cy="800100"/>
            </a:xfrm>
            <a:custGeom>
              <a:avLst/>
              <a:gdLst/>
              <a:ahLst/>
              <a:cxnLst/>
              <a:rect r="r" b="b" t="t" l="l"/>
              <a:pathLst>
                <a:path h="8001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86" t="0" r="-186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28725" y="5293519"/>
            <a:ext cx="7215188" cy="471488"/>
            <a:chOff x="0" y="0"/>
            <a:chExt cx="9620250" cy="62865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9620250" cy="628650"/>
            </a:xfrm>
            <a:custGeom>
              <a:avLst/>
              <a:gdLst/>
              <a:ahLst/>
              <a:cxnLst/>
              <a:rect r="r" b="b" t="t" l="l"/>
              <a:pathLst>
                <a:path h="628650" w="9620250">
                  <a:moveTo>
                    <a:pt x="0" y="0"/>
                  </a:moveTo>
                  <a:lnTo>
                    <a:pt x="9620250" y="0"/>
                  </a:lnTo>
                  <a:lnTo>
                    <a:pt x="9620250" y="628650"/>
                  </a:lnTo>
                  <a:lnTo>
                    <a:pt x="0" y="62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396" t="0" r="-396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44088" y="5100638"/>
            <a:ext cx="7215188" cy="471488"/>
            <a:chOff x="0" y="0"/>
            <a:chExt cx="9620250" cy="628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9620250" cy="628650"/>
            </a:xfrm>
            <a:custGeom>
              <a:avLst/>
              <a:gdLst/>
              <a:ahLst/>
              <a:cxnLst/>
              <a:rect r="r" b="b" t="t" l="l"/>
              <a:pathLst>
                <a:path h="628650" w="9620250">
                  <a:moveTo>
                    <a:pt x="0" y="0"/>
                  </a:moveTo>
                  <a:lnTo>
                    <a:pt x="9620250" y="0"/>
                  </a:lnTo>
                  <a:lnTo>
                    <a:pt x="9620250" y="628650"/>
                  </a:lnTo>
                  <a:lnTo>
                    <a:pt x="0" y="62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111" r="0" b="-1109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28725" y="8646319"/>
            <a:ext cx="75295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Bloqueio da ingestão durante a inserção em lote.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14412" y="1923012"/>
            <a:ext cx="571500" cy="571500"/>
            <a:chOff x="0" y="0"/>
            <a:chExt cx="762000" cy="7620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250" r="0" b="-125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28725" y="4964906"/>
            <a:ext cx="72151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FORMATO INCOMPATÍVEL: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8725" y="5860256"/>
            <a:ext cx="7215188" cy="49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 separador com espaço causava rejeição no parser padrão de data do Elasticsearch para o campo data_hora_inicio.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14412" y="8658225"/>
            <a:ext cx="171450" cy="171450"/>
            <a:chOff x="0" y="0"/>
            <a:chExt cx="228600" cy="2286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29775" y="1923012"/>
            <a:ext cx="571500" cy="571500"/>
            <a:chOff x="0" y="0"/>
            <a:chExt cx="762000" cy="7620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250" r="0" b="-125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844088" y="4772025"/>
            <a:ext cx="72151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5803D"/>
                </a:solidFill>
                <a:latin typeface="Inter Bold"/>
                <a:ea typeface="Inter Bold"/>
                <a:cs typeface="Inter Bold"/>
                <a:sym typeface="Inter Bold"/>
              </a:rPr>
              <a:t>FORMATO CORRIGIDO: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44088" y="5667375"/>
            <a:ext cx="7215188" cy="49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Conversão com formato ISO compatível permitiu indexação direta sem perda de precisão temporal.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71575" y="2080174"/>
            <a:ext cx="257175" cy="257175"/>
            <a:chOff x="0" y="0"/>
            <a:chExt cx="342900" cy="3429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777" r="0" b="-2777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757362" y="1920621"/>
            <a:ext cx="342042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O Problema na Ingestão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757362" y="2258758"/>
            <a:ext cx="32575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Falha de parser de datas na Bulk API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19212" y="5445919"/>
            <a:ext cx="142875" cy="185738"/>
            <a:chOff x="0" y="0"/>
            <a:chExt cx="190500" cy="24765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86938" y="2080174"/>
            <a:ext cx="257175" cy="257175"/>
            <a:chOff x="0" y="0"/>
            <a:chExt cx="342900" cy="3429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777" r="0" b="-2777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372725" y="1920621"/>
            <a:ext cx="322540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Solução Aplicada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372725" y="2258758"/>
            <a:ext cx="307181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Padronização ISO 8601 &amp; Validação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927431" y="5250656"/>
            <a:ext cx="157162" cy="185738"/>
            <a:chOff x="0" y="0"/>
            <a:chExt cx="209550" cy="247650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846" r="0" b="-3846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52954" y="-200188"/>
            <a:ext cx="21305750" cy="10687376"/>
            <a:chOff x="0" y="0"/>
            <a:chExt cx="28407666" cy="14249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157832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490372" y="-4086321"/>
            <a:ext cx="27194828" cy="18908834"/>
            <a:chOff x="0" y="0"/>
            <a:chExt cx="36259771" cy="25211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482554" y="13117076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7" y="0"/>
                  </a:lnTo>
                  <a:lnTo>
                    <a:pt x="11777217" y="12094703"/>
                  </a:lnTo>
                  <a:lnTo>
                    <a:pt x="0" y="12094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18207" cy="12052108"/>
            </a:xfrm>
            <a:custGeom>
              <a:avLst/>
              <a:gdLst/>
              <a:ahLst/>
              <a:cxnLst/>
              <a:rect r="r" b="b" t="t" l="l"/>
              <a:pathLst>
                <a:path h="12052108" w="12118207">
                  <a:moveTo>
                    <a:pt x="0" y="0"/>
                  </a:moveTo>
                  <a:lnTo>
                    <a:pt x="12118207" y="0"/>
                  </a:lnTo>
                  <a:lnTo>
                    <a:pt x="12118207" y="12052108"/>
                  </a:lnTo>
                  <a:lnTo>
                    <a:pt x="0" y="12052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8675718"/>
            <a:ext cx="1947325" cy="1704975"/>
          </a:xfrm>
          <a:custGeom>
            <a:avLst/>
            <a:gdLst/>
            <a:ahLst/>
            <a:cxnLst/>
            <a:rect r="r" b="b" t="t" l="l"/>
            <a:pathLst>
              <a:path h="1704975" w="1947325">
                <a:moveTo>
                  <a:pt x="0" y="0"/>
                </a:moveTo>
                <a:lnTo>
                  <a:pt x="1947325" y="0"/>
                </a:lnTo>
                <a:lnTo>
                  <a:pt x="1947325" y="1704975"/>
                </a:ln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107" r="0" b="-7107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0" id="10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4800" spc="-144">
                  <a:solidFill>
                    <a:srgbClr val="280556"/>
                  </a:solidFill>
                  <a:latin typeface="Sifonn"/>
                  <a:ea typeface="Sifonn"/>
                  <a:cs typeface="Sifonn"/>
                  <a:sym typeface="Sifonn"/>
                </a:rPr>
                <a:t>KIBANA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3282" y="1551537"/>
            <a:ext cx="10902965" cy="7621038"/>
            <a:chOff x="0" y="0"/>
            <a:chExt cx="14537286" cy="1016138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4537272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4537272">
                  <a:moveTo>
                    <a:pt x="333583" y="0"/>
                  </a:moveTo>
                  <a:lnTo>
                    <a:pt x="14203690" y="0"/>
                  </a:lnTo>
                  <a:cubicBezTo>
                    <a:pt x="14387922" y="0"/>
                    <a:pt x="14537272" y="149350"/>
                    <a:pt x="14537272" y="333583"/>
                  </a:cubicBezTo>
                  <a:lnTo>
                    <a:pt x="14537272" y="9827813"/>
                  </a:lnTo>
                  <a:cubicBezTo>
                    <a:pt x="14537272" y="10012046"/>
                    <a:pt x="14387922" y="10161397"/>
                    <a:pt x="14203690" y="10161397"/>
                  </a:cubicBezTo>
                  <a:lnTo>
                    <a:pt x="333583" y="10161397"/>
                  </a:lnTo>
                  <a:cubicBezTo>
                    <a:pt x="149350" y="10161397"/>
                    <a:pt x="0" y="10012046"/>
                    <a:pt x="0" y="9827813"/>
                  </a:cubicBezTo>
                  <a:lnTo>
                    <a:pt x="0" y="333583"/>
                  </a:lnTo>
                  <a:cubicBezTo>
                    <a:pt x="0" y="149350"/>
                    <a:pt x="149350" y="0"/>
                    <a:pt x="333583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7097" r="0" b="-709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52946" y="2361676"/>
            <a:ext cx="5754950" cy="6215981"/>
            <a:chOff x="0" y="0"/>
            <a:chExt cx="9407728" cy="10161384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407779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9407779">
                  <a:moveTo>
                    <a:pt x="0" y="0"/>
                  </a:moveTo>
                  <a:lnTo>
                    <a:pt x="9407779" y="0"/>
                  </a:lnTo>
                  <a:lnTo>
                    <a:pt x="9407779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9" r="0" b="-3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220974" y="7948375"/>
            <a:ext cx="5218895" cy="361255"/>
            <a:chOff x="0" y="0"/>
            <a:chExt cx="8531428" cy="5905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8531479" cy="590550"/>
            </a:xfrm>
            <a:custGeom>
              <a:avLst/>
              <a:gdLst/>
              <a:ahLst/>
              <a:cxnLst/>
              <a:rect r="r" b="b" t="t" l="l"/>
              <a:pathLst>
                <a:path h="590550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240" t="0" r="-24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20974" y="4776287"/>
            <a:ext cx="5218895" cy="675896"/>
            <a:chOff x="0" y="0"/>
            <a:chExt cx="8531428" cy="11049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8531479" cy="1104900"/>
            </a:xfrm>
            <a:custGeom>
              <a:avLst/>
              <a:gdLst/>
              <a:ahLst/>
              <a:cxnLst/>
              <a:rect r="r" b="b" t="t" l="l"/>
              <a:pathLst>
                <a:path h="1104900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618" r="0" b="-61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220974" y="5568716"/>
            <a:ext cx="5218895" cy="862350"/>
            <a:chOff x="0" y="0"/>
            <a:chExt cx="8531428" cy="1409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8531479" cy="1409700"/>
            </a:xfrm>
            <a:custGeom>
              <a:avLst/>
              <a:gdLst/>
              <a:ahLst/>
              <a:cxnLst/>
              <a:rect r="r" b="b" t="t" l="l"/>
              <a:pathLst>
                <a:path h="1409700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1409700"/>
                  </a:lnTo>
                  <a:lnTo>
                    <a:pt x="0" y="1409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432" r="0" b="-43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2784" y="2361676"/>
            <a:ext cx="10543961" cy="6000750"/>
            <a:chOff x="0" y="0"/>
            <a:chExt cx="14058614" cy="800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58601" cy="8001000"/>
            </a:xfrm>
            <a:custGeom>
              <a:avLst/>
              <a:gdLst/>
              <a:ahLst/>
              <a:cxnLst/>
              <a:rect r="r" b="b" t="t" l="l"/>
              <a:pathLst>
                <a:path h="8001000" w="14058601">
                  <a:moveTo>
                    <a:pt x="111194" y="0"/>
                  </a:moveTo>
                  <a:lnTo>
                    <a:pt x="13947406" y="0"/>
                  </a:lnTo>
                  <a:cubicBezTo>
                    <a:pt x="14008818" y="0"/>
                    <a:pt x="14058601" y="49783"/>
                    <a:pt x="14058601" y="111194"/>
                  </a:cubicBezTo>
                  <a:lnTo>
                    <a:pt x="14058601" y="7889805"/>
                  </a:lnTo>
                  <a:cubicBezTo>
                    <a:pt x="14058601" y="7951216"/>
                    <a:pt x="14008818" y="8001000"/>
                    <a:pt x="13947406" y="8001000"/>
                  </a:cubicBezTo>
                  <a:lnTo>
                    <a:pt x="111194" y="8001000"/>
                  </a:lnTo>
                  <a:cubicBezTo>
                    <a:pt x="49783" y="8001000"/>
                    <a:pt x="0" y="7951216"/>
                    <a:pt x="0" y="7889805"/>
                  </a:cubicBezTo>
                  <a:lnTo>
                    <a:pt x="0" y="111194"/>
                  </a:lnTo>
                  <a:cubicBezTo>
                    <a:pt x="0" y="49783"/>
                    <a:pt x="49783" y="0"/>
                    <a:pt x="111194" y="0"/>
                  </a:cubicBezTo>
                  <a:close/>
                </a:path>
              </a:pathLst>
            </a:custGeom>
            <a:blipFill>
              <a:blip r:embed="rId15"/>
              <a:stretch>
                <a:fillRect l="-588" t="0" r="-588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220974" y="2629704"/>
            <a:ext cx="466135" cy="466135"/>
            <a:chOff x="0" y="0"/>
            <a:chExt cx="762000" cy="762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9161" y="2757891"/>
            <a:ext cx="209761" cy="209761"/>
            <a:chOff x="0" y="0"/>
            <a:chExt cx="342900" cy="3429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826950" y="2616473"/>
            <a:ext cx="2789818" cy="28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Insights Visuais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26950" y="2894025"/>
            <a:ext cx="2656970" cy="19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1192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Distribuição por faixas de velocidade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72468" y="4918256"/>
            <a:ext cx="4915907" cy="17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1"/>
              </a:lnSpc>
            </a:pPr>
            <a:r>
              <a:rPr lang="en-US" sz="1009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PICO DE CONCENTRAÇÃO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72468" y="5104710"/>
            <a:ext cx="4915907" cy="19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1192">
                <a:solidFill>
                  <a:srgbClr val="1E1B4B"/>
                </a:solidFill>
                <a:latin typeface="Inter"/>
                <a:ea typeface="Inter"/>
                <a:cs typeface="Inter"/>
                <a:sym typeface="Inter"/>
              </a:rPr>
              <a:t>A maior parte dos veículos trafega entre 31–40 km/h e 41–50 km/h.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72468" y="5710685"/>
            <a:ext cx="4915907" cy="17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1"/>
              </a:lnSpc>
            </a:pPr>
            <a:r>
              <a:rPr lang="en-US" sz="1009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COMPORTAMENTO PERCENTUAL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72468" y="5897139"/>
            <a:ext cx="4915907" cy="382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1"/>
              </a:lnSpc>
            </a:pPr>
            <a:r>
              <a:rPr lang="en-US" sz="1192">
                <a:solidFill>
                  <a:srgbClr val="1E1B4B"/>
                </a:solidFill>
                <a:latin typeface="Inter"/>
                <a:ea typeface="Inter"/>
                <a:cs typeface="Inter"/>
                <a:sym typeface="Inter"/>
              </a:rPr>
              <a:t>Gráficos de barras empilhadas 100% revelam variações relativas entre os períodos monitorados.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19740" y="-3749735"/>
            <a:ext cx="24482632" cy="16377788"/>
            <a:chOff x="0" y="0"/>
            <a:chExt cx="32643509" cy="2183705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767754" y="15172685"/>
              <a:ext cx="6664366" cy="66643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4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9819005" y="2540592"/>
              <a:ext cx="5359432" cy="535943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7929501" y="7393034"/>
              <a:ext cx="2488939" cy="24889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6" y="0"/>
                  </a:lnTo>
                  <a:lnTo>
                    <a:pt x="11777216" y="12094702"/>
                  </a:lnTo>
                  <a:lnTo>
                    <a:pt x="0" y="12094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826320" y="16442029"/>
              <a:ext cx="2273618" cy="2273618"/>
            </a:xfrm>
            <a:custGeom>
              <a:avLst/>
              <a:gdLst/>
              <a:ahLst/>
              <a:cxnLst/>
              <a:rect r="r" b="b" t="t" l="l"/>
              <a:pathLst>
                <a:path h="2273618" w="2273618">
                  <a:moveTo>
                    <a:pt x="0" y="0"/>
                  </a:moveTo>
                  <a:lnTo>
                    <a:pt x="2273617" y="0"/>
                  </a:lnTo>
                  <a:lnTo>
                    <a:pt x="2273617" y="2273618"/>
                  </a:lnTo>
                  <a:lnTo>
                    <a:pt x="0" y="227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2933066" y="15093005"/>
              <a:ext cx="9710442" cy="5486400"/>
            </a:xfrm>
            <a:custGeom>
              <a:avLst/>
              <a:gdLst/>
              <a:ahLst/>
              <a:cxnLst/>
              <a:rect r="r" b="b" t="t" l="l"/>
              <a:pathLst>
                <a:path h="5486400" w="9710442">
                  <a:moveTo>
                    <a:pt x="0" y="0"/>
                  </a:moveTo>
                  <a:lnTo>
                    <a:pt x="9710443" y="0"/>
                  </a:lnTo>
                  <a:lnTo>
                    <a:pt x="9710443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7" id="17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4800" spc="-144">
                  <a:solidFill>
                    <a:srgbClr val="FFFFFF"/>
                  </a:solidFill>
                  <a:latin typeface="Sifonn"/>
                  <a:ea typeface="Sifonn"/>
                  <a:cs typeface="Sifonn"/>
                  <a:sym typeface="Sifonn"/>
                </a:rPr>
                <a:t>A ANÁLISE PRINCIPAL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" y="1551537"/>
            <a:ext cx="9546060" cy="7621038"/>
            <a:chOff x="0" y="0"/>
            <a:chExt cx="12728080" cy="10161384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2728067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2728067">
                  <a:moveTo>
                    <a:pt x="0" y="0"/>
                  </a:moveTo>
                  <a:lnTo>
                    <a:pt x="12728067" y="0"/>
                  </a:lnTo>
                  <a:lnTo>
                    <a:pt x="12728067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8" t="0" r="-8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546185" y="1551537"/>
            <a:ext cx="7055796" cy="7621038"/>
            <a:chOff x="0" y="0"/>
            <a:chExt cx="9407728" cy="10161384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9407779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9407779">
                  <a:moveTo>
                    <a:pt x="0" y="0"/>
                  </a:moveTo>
                  <a:lnTo>
                    <a:pt x="9407779" y="0"/>
                  </a:lnTo>
                  <a:lnTo>
                    <a:pt x="9407779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9" r="0" b="-3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874797" y="8072218"/>
            <a:ext cx="6398571" cy="771525"/>
            <a:chOff x="0" y="0"/>
            <a:chExt cx="8531428" cy="10287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8531479" cy="1028700"/>
            </a:xfrm>
            <a:custGeom>
              <a:avLst/>
              <a:gdLst/>
              <a:ahLst/>
              <a:cxnLst/>
              <a:rect r="r" b="b" t="t" l="l"/>
              <a:pathLst>
                <a:path h="1028700" w="8531479">
                  <a:moveTo>
                    <a:pt x="0" y="0"/>
                  </a:moveTo>
                  <a:lnTo>
                    <a:pt x="8531479" y="0"/>
                  </a:lnTo>
                  <a:lnTo>
                    <a:pt x="8531479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81" r="0" b="-682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4412" y="4697682"/>
            <a:ext cx="8888835" cy="557212"/>
            <a:chOff x="0" y="0"/>
            <a:chExt cx="11851780" cy="7429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11851767" cy="742950"/>
            </a:xfrm>
            <a:custGeom>
              <a:avLst/>
              <a:gdLst/>
              <a:ahLst/>
              <a:cxnLst/>
              <a:rect r="r" b="b" t="t" l="l"/>
              <a:pathLst>
                <a:path h="742950" w="11851767">
                  <a:moveTo>
                    <a:pt x="0" y="0"/>
                  </a:moveTo>
                  <a:lnTo>
                    <a:pt x="11851767" y="0"/>
                  </a:lnTo>
                  <a:lnTo>
                    <a:pt x="11851767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047" r="0" b="-104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14412" y="5369195"/>
            <a:ext cx="8888835" cy="557212"/>
            <a:chOff x="0" y="0"/>
            <a:chExt cx="11851780" cy="74295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11851767" cy="742950"/>
            </a:xfrm>
            <a:custGeom>
              <a:avLst/>
              <a:gdLst/>
              <a:ahLst/>
              <a:cxnLst/>
              <a:rect r="r" b="b" t="t" l="l"/>
              <a:pathLst>
                <a:path h="742950" w="11851767">
                  <a:moveTo>
                    <a:pt x="0" y="0"/>
                  </a:moveTo>
                  <a:lnTo>
                    <a:pt x="11851767" y="0"/>
                  </a:lnTo>
                  <a:lnTo>
                    <a:pt x="11851767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047" r="0" b="-104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14412" y="6040707"/>
            <a:ext cx="8888835" cy="557212"/>
            <a:chOff x="0" y="0"/>
            <a:chExt cx="11851780" cy="74295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11851767" cy="742950"/>
            </a:xfrm>
            <a:custGeom>
              <a:avLst/>
              <a:gdLst/>
              <a:ahLst/>
              <a:cxnLst/>
              <a:rect r="r" b="b" t="t" l="l"/>
              <a:pathLst>
                <a:path h="742950" w="11851767">
                  <a:moveTo>
                    <a:pt x="0" y="0"/>
                  </a:moveTo>
                  <a:lnTo>
                    <a:pt x="11851767" y="0"/>
                  </a:lnTo>
                  <a:lnTo>
                    <a:pt x="11851767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047" r="0" b="-104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4412" y="1880149"/>
            <a:ext cx="571500" cy="571500"/>
            <a:chOff x="0" y="0"/>
            <a:chExt cx="762000" cy="7620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250" r="0" b="-125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874797" y="1880149"/>
            <a:ext cx="571500" cy="571500"/>
            <a:chOff x="0" y="0"/>
            <a:chExt cx="762000" cy="7620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71575" y="2037312"/>
            <a:ext cx="257175" cy="257175"/>
            <a:chOff x="0" y="0"/>
            <a:chExt cx="342900" cy="3429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777" r="0" b="-2777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6131347" y="4861989"/>
            <a:ext cx="35575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Não Férias: </a:t>
            </a:r>
            <a:r>
              <a:rPr lang="en-US" sz="1462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36,47%</a:t>
            </a: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62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Férias: </a:t>
            </a:r>
            <a:r>
              <a:rPr lang="en-US" sz="1462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37,63%</a:t>
            </a:r>
            <a:r>
              <a:rPr lang="en-US" sz="1462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217072" y="5533501"/>
            <a:ext cx="34718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Não Férias: </a:t>
            </a:r>
            <a:r>
              <a:rPr lang="en-US" sz="1462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13,19%</a:t>
            </a: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62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Férias: </a:t>
            </a:r>
            <a:r>
              <a:rPr lang="en-US" sz="1462" b="true">
                <a:solidFill>
                  <a:srgbClr val="DC2626"/>
                </a:solidFill>
                <a:latin typeface="Inter Bold"/>
                <a:ea typeface="Inter Bold"/>
                <a:cs typeface="Inter Bold"/>
                <a:sym typeface="Inter Bold"/>
              </a:rPr>
              <a:t>12,23%</a:t>
            </a:r>
            <a:r>
              <a:rPr lang="en-US" sz="1462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217072" y="6205014"/>
            <a:ext cx="347186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Não Férias: </a:t>
            </a:r>
            <a:r>
              <a:rPr lang="en-US" sz="1462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11,05%</a:t>
            </a: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62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Férias: </a:t>
            </a:r>
            <a:r>
              <a:rPr lang="en-US" sz="1462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11,65%</a:t>
            </a:r>
            <a:r>
              <a:rPr lang="en-US" sz="1462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046247" y="2037312"/>
            <a:ext cx="228600" cy="257175"/>
            <a:chOff x="0" y="0"/>
            <a:chExt cx="304800" cy="3429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329" t="0" r="-329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474622" y="4890564"/>
            <a:ext cx="214312" cy="185738"/>
            <a:chOff x="0" y="0"/>
            <a:chExt cx="285750" cy="24765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285750" cy="247650"/>
            </a:xfrm>
            <a:custGeom>
              <a:avLst/>
              <a:gdLst/>
              <a:ahLst/>
              <a:cxnLst/>
              <a:rect r="r" b="b" t="t" l="l"/>
              <a:pathLst>
                <a:path h="2476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482" r="0" b="-48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474622" y="5562076"/>
            <a:ext cx="214312" cy="185738"/>
            <a:chOff x="0" y="0"/>
            <a:chExt cx="285750" cy="24765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285750" cy="247650"/>
            </a:xfrm>
            <a:custGeom>
              <a:avLst/>
              <a:gdLst/>
              <a:ahLst/>
              <a:cxnLst/>
              <a:rect r="r" b="b" t="t" l="l"/>
              <a:pathLst>
                <a:path h="2476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482" r="0" b="-482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474622" y="6233589"/>
            <a:ext cx="214312" cy="185738"/>
            <a:chOff x="0" y="0"/>
            <a:chExt cx="285750" cy="24765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285750" cy="247650"/>
            </a:xfrm>
            <a:custGeom>
              <a:avLst/>
              <a:gdLst/>
              <a:ahLst/>
              <a:cxnLst/>
              <a:rect r="r" b="b" t="t" l="l"/>
              <a:pathLst>
                <a:path h="2476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482" r="0" b="-482"/>
              </a:stretch>
            </a:blip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1015148" y="4361596"/>
            <a:ext cx="6117869" cy="1582857"/>
          </a:xfrm>
          <a:custGeom>
            <a:avLst/>
            <a:gdLst/>
            <a:ahLst/>
            <a:cxnLst/>
            <a:rect r="r" b="b" t="t" l="l"/>
            <a:pathLst>
              <a:path h="1582857" w="6117869">
                <a:moveTo>
                  <a:pt x="0" y="0"/>
                </a:moveTo>
                <a:lnTo>
                  <a:pt x="6117869" y="0"/>
                </a:lnTo>
                <a:lnTo>
                  <a:pt x="6117869" y="1582858"/>
                </a:lnTo>
                <a:lnTo>
                  <a:pt x="0" y="158285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014412" y="8634413"/>
            <a:ext cx="888883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i="true">
                <a:solidFill>
                  <a:srgbClr val="94A3B8"/>
                </a:solidFill>
                <a:latin typeface="Inter Italics"/>
                <a:ea typeface="Inter Italics"/>
                <a:cs typeface="Inter Italics"/>
                <a:sym typeface="Inter Italics"/>
              </a:rPr>
              <a:t> *Resultado descritivo; não implica causalidade direta.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57362" y="1877758"/>
            <a:ext cx="402050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Principais Diferenças por Faixa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57362" y="2215896"/>
            <a:ext cx="38290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Participação relativa no tráfego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28725" y="4854845"/>
            <a:ext cx="110013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D28D9"/>
                </a:solidFill>
                <a:latin typeface="Inter Bold"/>
                <a:ea typeface="Inter Bold"/>
                <a:cs typeface="Inter Bold"/>
                <a:sym typeface="Inter Bold"/>
              </a:rPr>
              <a:t>41–50 km/h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28725" y="5526357"/>
            <a:ext cx="1114425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21–30 km/h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28725" y="6197870"/>
            <a:ext cx="1114425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6D28D9"/>
                </a:solidFill>
                <a:latin typeface="Inter Bold"/>
                <a:ea typeface="Inter Bold"/>
                <a:cs typeface="Inter Bold"/>
                <a:sym typeface="Inter Bold"/>
              </a:rPr>
              <a:t>51–60 km/h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17747" y="1877758"/>
            <a:ext cx="337542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Conclusão dos Dados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17747" y="2215896"/>
            <a:ext cx="32146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Comportamento de fluxo observado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52954" y="-200188"/>
            <a:ext cx="21305750" cy="10687376"/>
            <a:chOff x="0" y="0"/>
            <a:chExt cx="28407666" cy="14249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157832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490372" y="-4086321"/>
            <a:ext cx="27194828" cy="18908834"/>
            <a:chOff x="0" y="0"/>
            <a:chExt cx="36259771" cy="25211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482554" y="13117076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7" y="0"/>
                  </a:lnTo>
                  <a:lnTo>
                    <a:pt x="11777217" y="12094703"/>
                  </a:lnTo>
                  <a:lnTo>
                    <a:pt x="0" y="12094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18207" cy="12052108"/>
            </a:xfrm>
            <a:custGeom>
              <a:avLst/>
              <a:gdLst/>
              <a:ahLst/>
              <a:cxnLst/>
              <a:rect r="r" b="b" t="t" l="l"/>
              <a:pathLst>
                <a:path h="12052108" w="12118207">
                  <a:moveTo>
                    <a:pt x="0" y="0"/>
                  </a:moveTo>
                  <a:lnTo>
                    <a:pt x="12118207" y="0"/>
                  </a:lnTo>
                  <a:lnTo>
                    <a:pt x="12118207" y="12052108"/>
                  </a:lnTo>
                  <a:lnTo>
                    <a:pt x="0" y="12052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8675718"/>
            <a:ext cx="1704975" cy="1704975"/>
          </a:xfrm>
          <a:custGeom>
            <a:avLst/>
            <a:gdLst/>
            <a:ahLst/>
            <a:cxnLst/>
            <a:rect r="r" b="b" t="t" l="l"/>
            <a:pathLst>
              <a:path h="1704975" w="1704975">
                <a:moveTo>
                  <a:pt x="0" y="0"/>
                </a:moveTo>
                <a:lnTo>
                  <a:pt x="1704975" y="0"/>
                </a:lnTo>
                <a:lnTo>
                  <a:pt x="1704975" y="1704975"/>
                </a:ln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0" id="10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4800" spc="-144">
                  <a:solidFill>
                    <a:srgbClr val="280556"/>
                  </a:solidFill>
                  <a:latin typeface="Sifonn"/>
                  <a:ea typeface="Sifonn"/>
                  <a:cs typeface="Sifonn"/>
                  <a:sym typeface="Sifonn"/>
                </a:rPr>
                <a:t>FLASK API + CRUD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1551537"/>
            <a:ext cx="8301038" cy="7621038"/>
            <a:chOff x="0" y="0"/>
            <a:chExt cx="11068050" cy="1016138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55" r="0" b="-5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01162" y="1551537"/>
            <a:ext cx="8301038" cy="7621038"/>
            <a:chOff x="0" y="0"/>
            <a:chExt cx="11068050" cy="10161384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1068050" cy="10161397"/>
            </a:xfrm>
            <a:custGeom>
              <a:avLst/>
              <a:gdLst/>
              <a:ahLst/>
              <a:cxnLst/>
              <a:rect r="r" b="b" t="t" l="l"/>
              <a:pathLst>
                <a:path h="10161397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0161397"/>
                  </a:lnTo>
                  <a:lnTo>
                    <a:pt x="0" y="1016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5" r="0" b="-5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4412" y="8515350"/>
            <a:ext cx="7643812" cy="328612"/>
            <a:chOff x="0" y="0"/>
            <a:chExt cx="10191750" cy="4381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0191750" cy="438150"/>
            </a:xfrm>
            <a:custGeom>
              <a:avLst/>
              <a:gdLst/>
              <a:ahLst/>
              <a:cxnLst/>
              <a:rect r="r" b="b" t="t" l="l"/>
              <a:pathLst>
                <a:path h="43815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86" t="0" r="-18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29775" y="4333351"/>
            <a:ext cx="7643812" cy="2171700"/>
            <a:chOff x="0" y="0"/>
            <a:chExt cx="10191750" cy="28956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0191750" cy="2895600"/>
            </a:xfrm>
            <a:custGeom>
              <a:avLst/>
              <a:gdLst/>
              <a:ahLst/>
              <a:cxnLst/>
              <a:rect r="r" b="b" t="t" l="l"/>
              <a:pathLst>
                <a:path h="28956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895600"/>
                  </a:lnTo>
                  <a:lnTo>
                    <a:pt x="0" y="289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41" r="0" b="-14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29775" y="8186738"/>
            <a:ext cx="7643812" cy="657225"/>
            <a:chOff x="0" y="0"/>
            <a:chExt cx="10191750" cy="8763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191750" cy="876300"/>
            </a:xfrm>
            <a:custGeom>
              <a:avLst/>
              <a:gdLst/>
              <a:ahLst/>
              <a:cxnLst/>
              <a:rect r="r" b="b" t="t" l="l"/>
              <a:pathLst>
                <a:path h="8763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86" t="0" r="-186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14412" y="3366049"/>
            <a:ext cx="3779044" cy="485775"/>
            <a:chOff x="0" y="0"/>
            <a:chExt cx="5038725" cy="6477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038725" cy="647700"/>
            </a:xfrm>
            <a:custGeom>
              <a:avLst/>
              <a:gdLst/>
              <a:ahLst/>
              <a:cxnLst/>
              <a:rect r="r" b="b" t="t" l="l"/>
              <a:pathLst>
                <a:path h="647700" w="5038725">
                  <a:moveTo>
                    <a:pt x="0" y="0"/>
                  </a:moveTo>
                  <a:lnTo>
                    <a:pt x="5038725" y="0"/>
                  </a:lnTo>
                  <a:lnTo>
                    <a:pt x="5038725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180" r="0" b="-118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879181" y="3366049"/>
            <a:ext cx="3779044" cy="485775"/>
            <a:chOff x="0" y="0"/>
            <a:chExt cx="5038725" cy="6477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038725" cy="647700"/>
            </a:xfrm>
            <a:custGeom>
              <a:avLst/>
              <a:gdLst/>
              <a:ahLst/>
              <a:cxnLst/>
              <a:rect r="r" b="b" t="t" l="l"/>
              <a:pathLst>
                <a:path h="647700" w="5038725">
                  <a:moveTo>
                    <a:pt x="0" y="0"/>
                  </a:moveTo>
                  <a:lnTo>
                    <a:pt x="5038725" y="0"/>
                  </a:lnTo>
                  <a:lnTo>
                    <a:pt x="5038725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180" r="0" b="-118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4412" y="3937549"/>
            <a:ext cx="3779044" cy="485775"/>
            <a:chOff x="0" y="0"/>
            <a:chExt cx="5038725" cy="6477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038725" cy="647700"/>
            </a:xfrm>
            <a:custGeom>
              <a:avLst/>
              <a:gdLst/>
              <a:ahLst/>
              <a:cxnLst/>
              <a:rect r="r" b="b" t="t" l="l"/>
              <a:pathLst>
                <a:path h="647700" w="5038725">
                  <a:moveTo>
                    <a:pt x="0" y="0"/>
                  </a:moveTo>
                  <a:lnTo>
                    <a:pt x="5038725" y="0"/>
                  </a:lnTo>
                  <a:lnTo>
                    <a:pt x="5038725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180" r="0" b="-118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879181" y="3937549"/>
            <a:ext cx="3779044" cy="485775"/>
            <a:chOff x="0" y="0"/>
            <a:chExt cx="5038725" cy="6477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5038725" cy="647700"/>
            </a:xfrm>
            <a:custGeom>
              <a:avLst/>
              <a:gdLst/>
              <a:ahLst/>
              <a:cxnLst/>
              <a:rect r="r" b="b" t="t" l="l"/>
              <a:pathLst>
                <a:path h="647700" w="5038725">
                  <a:moveTo>
                    <a:pt x="0" y="0"/>
                  </a:moveTo>
                  <a:lnTo>
                    <a:pt x="5038725" y="0"/>
                  </a:lnTo>
                  <a:lnTo>
                    <a:pt x="5038725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180" r="0" b="-118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14412" y="2651674"/>
            <a:ext cx="7643812" cy="542925"/>
            <a:chOff x="0" y="0"/>
            <a:chExt cx="10191750" cy="7239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10191750" cy="723900"/>
            </a:xfrm>
            <a:custGeom>
              <a:avLst/>
              <a:gdLst/>
              <a:ahLst/>
              <a:cxnLst/>
              <a:rect r="r" b="b" t="t" l="l"/>
              <a:pathLst>
                <a:path h="7239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124" r="0" b="-112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29775" y="1880149"/>
            <a:ext cx="571500" cy="571500"/>
            <a:chOff x="0" y="0"/>
            <a:chExt cx="762000" cy="7620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1250" r="0" b="-125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829800" y="4504801"/>
            <a:ext cx="724376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-US" sz="1237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/dados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29800" y="4776264"/>
            <a:ext cx="724376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-US" sz="1237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/dados/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29800" y="5047726"/>
            <a:ext cx="724376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-US" sz="1237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/dados/periodo/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29800" y="5319189"/>
            <a:ext cx="724376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-US" sz="1237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/dados/velocidade/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29800" y="5590651"/>
            <a:ext cx="724376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-US" sz="1237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/dados/equipamento/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29800" y="5862114"/>
            <a:ext cx="724376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-US" sz="1237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/dados/data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29800" y="6133576"/>
            <a:ext cx="724376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POST</a:t>
            </a:r>
            <a:r>
              <a:rPr lang="en-US" sz="1237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/dados/filtrar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14412" y="1880149"/>
            <a:ext cx="571500" cy="571500"/>
            <a:chOff x="0" y="0"/>
            <a:chExt cx="762000" cy="7620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1250" r="0" b="-125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381125" y="2808837"/>
            <a:ext cx="9477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171825" y="2830258"/>
            <a:ext cx="157162" cy="185738"/>
            <a:chOff x="0" y="0"/>
            <a:chExt cx="209550" cy="24765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846" r="0" b="-3846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4295775" y="2808837"/>
            <a:ext cx="9048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Flask API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043612" y="2830258"/>
            <a:ext cx="157162" cy="185738"/>
            <a:chOff x="0" y="0"/>
            <a:chExt cx="209550" cy="24765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846" r="0" b="-3846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148512" y="2808837"/>
            <a:ext cx="12954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Elasticsearch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786938" y="2037312"/>
            <a:ext cx="257175" cy="257175"/>
            <a:chOff x="0" y="0"/>
            <a:chExt cx="342900" cy="3429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2777" r="0" b="-2777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372725" y="1877758"/>
            <a:ext cx="291036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Rotas &amp; Consultas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372725" y="2215896"/>
            <a:ext cx="27717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Endpoints REST documentados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57288" y="2037312"/>
            <a:ext cx="285750" cy="257175"/>
            <a:chOff x="0" y="0"/>
            <a:chExt cx="381000" cy="342900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2777" r="0" b="-2777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757362" y="1877758"/>
            <a:ext cx="277534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E1B4B"/>
                </a:solidFill>
                <a:latin typeface="Arimo Bold"/>
                <a:ea typeface="Arimo Bold"/>
                <a:cs typeface="Arimo Bold"/>
                <a:sym typeface="Arimo Bold"/>
              </a:rPr>
              <a:t>Fluxo de Requisições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757362" y="2215896"/>
            <a:ext cx="26431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Arquitetura em 3 camadas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28725" y="2837412"/>
            <a:ext cx="228600" cy="185738"/>
            <a:chOff x="0" y="0"/>
            <a:chExt cx="304800" cy="247650"/>
          </a:xfrm>
        </p:grpSpPr>
        <p:sp>
          <p:nvSpPr>
            <p:cNvPr name="Freeform 59" id="59" descr="image.png"/>
            <p:cNvSpPr/>
            <p:nvPr/>
          </p:nvSpPr>
          <p:spPr>
            <a:xfrm flipH="false" flipV="false" rot="0">
              <a:off x="0" y="0"/>
              <a:ext cx="304800" cy="247650"/>
            </a:xfrm>
            <a:custGeom>
              <a:avLst/>
              <a:gdLst/>
              <a:ahLst/>
              <a:cxnLst/>
              <a:rect r="r" b="b" t="t" l="l"/>
              <a:pathLst>
                <a:path h="2476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3846" r="0" b="-3846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171950" y="2837412"/>
            <a:ext cx="185738" cy="185738"/>
            <a:chOff x="0" y="0"/>
            <a:chExt cx="247650" cy="247650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3846" r="0" b="-3846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043738" y="2837412"/>
            <a:ext cx="157162" cy="185738"/>
            <a:chOff x="0" y="0"/>
            <a:chExt cx="209550" cy="247650"/>
          </a:xfrm>
        </p:grpSpPr>
        <p:sp>
          <p:nvSpPr>
            <p:cNvPr name="Freeform 63" id="63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3846" r="0" b="-3846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71575" y="3466062"/>
            <a:ext cx="928688" cy="285750"/>
            <a:chOff x="0" y="0"/>
            <a:chExt cx="1238250" cy="381000"/>
          </a:xfrm>
        </p:grpSpPr>
        <p:sp>
          <p:nvSpPr>
            <p:cNvPr name="Freeform 65" id="65" descr="image.png"/>
            <p:cNvSpPr/>
            <p:nvPr/>
          </p:nvSpPr>
          <p:spPr>
            <a:xfrm flipH="false" flipV="false" rot="0">
              <a:off x="0" y="0"/>
              <a:ext cx="1238250" cy="381000"/>
            </a:xfrm>
            <a:custGeom>
              <a:avLst/>
              <a:gdLst/>
              <a:ahLst/>
              <a:cxnLst/>
              <a:rect r="r" b="b" t="t" l="l"/>
              <a:pathLst>
                <a:path h="381000" w="1238250">
                  <a:moveTo>
                    <a:pt x="0" y="0"/>
                  </a:moveTo>
                  <a:lnTo>
                    <a:pt x="1238250" y="0"/>
                  </a:lnTo>
                  <a:lnTo>
                    <a:pt x="1238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2500" r="0" b="-2500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2214562" y="3501771"/>
            <a:ext cx="6715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CREATE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5036344" y="3466062"/>
            <a:ext cx="928688" cy="285750"/>
            <a:chOff x="0" y="0"/>
            <a:chExt cx="1238250" cy="381000"/>
          </a:xfrm>
        </p:grpSpPr>
        <p:sp>
          <p:nvSpPr>
            <p:cNvPr name="Freeform 68" id="68" descr="image.png"/>
            <p:cNvSpPr/>
            <p:nvPr/>
          </p:nvSpPr>
          <p:spPr>
            <a:xfrm flipH="false" flipV="false" rot="0">
              <a:off x="0" y="0"/>
              <a:ext cx="1238250" cy="381000"/>
            </a:xfrm>
            <a:custGeom>
              <a:avLst/>
              <a:gdLst/>
              <a:ahLst/>
              <a:cxnLst/>
              <a:rect r="r" b="b" t="t" l="l"/>
              <a:pathLst>
                <a:path h="381000" w="1238250">
                  <a:moveTo>
                    <a:pt x="0" y="0"/>
                  </a:moveTo>
                  <a:lnTo>
                    <a:pt x="1238250" y="0"/>
                  </a:lnTo>
                  <a:lnTo>
                    <a:pt x="1238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-1703" r="0" b="-1706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6079331" y="3501771"/>
            <a:ext cx="4714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READ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171575" y="4037562"/>
            <a:ext cx="928688" cy="285750"/>
            <a:chOff x="0" y="0"/>
            <a:chExt cx="1238250" cy="381000"/>
          </a:xfrm>
        </p:grpSpPr>
        <p:sp>
          <p:nvSpPr>
            <p:cNvPr name="Freeform 71" id="71" descr="image.png"/>
            <p:cNvSpPr/>
            <p:nvPr/>
          </p:nvSpPr>
          <p:spPr>
            <a:xfrm flipH="false" flipV="false" rot="0">
              <a:off x="0" y="0"/>
              <a:ext cx="1238250" cy="381000"/>
            </a:xfrm>
            <a:custGeom>
              <a:avLst/>
              <a:gdLst/>
              <a:ahLst/>
              <a:cxnLst/>
              <a:rect r="r" b="b" t="t" l="l"/>
              <a:pathLst>
                <a:path h="381000" w="1238250">
                  <a:moveTo>
                    <a:pt x="0" y="0"/>
                  </a:moveTo>
                  <a:lnTo>
                    <a:pt x="1238250" y="0"/>
                  </a:lnTo>
                  <a:lnTo>
                    <a:pt x="1238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-2500" r="0" b="-2500"/>
              </a:stretch>
            </a:blip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2214562" y="4073271"/>
            <a:ext cx="7000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UPDATE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5036344" y="4037562"/>
            <a:ext cx="928688" cy="285750"/>
            <a:chOff x="0" y="0"/>
            <a:chExt cx="1238250" cy="381000"/>
          </a:xfrm>
        </p:grpSpPr>
        <p:sp>
          <p:nvSpPr>
            <p:cNvPr name="Freeform 74" id="74" descr="image.png"/>
            <p:cNvSpPr/>
            <p:nvPr/>
          </p:nvSpPr>
          <p:spPr>
            <a:xfrm flipH="false" flipV="false" rot="0">
              <a:off x="0" y="0"/>
              <a:ext cx="1238250" cy="381000"/>
            </a:xfrm>
            <a:custGeom>
              <a:avLst/>
              <a:gdLst/>
              <a:ahLst/>
              <a:cxnLst/>
              <a:rect r="r" b="b" t="t" l="l"/>
              <a:pathLst>
                <a:path h="381000" w="1238250">
                  <a:moveTo>
                    <a:pt x="0" y="0"/>
                  </a:moveTo>
                  <a:lnTo>
                    <a:pt x="1238250" y="0"/>
                  </a:lnTo>
                  <a:lnTo>
                    <a:pt x="1238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-1703" r="0" b="-1706"/>
              </a:stretch>
            </a:blip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6079331" y="4073271"/>
            <a:ext cx="6429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DELETE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19740" y="-3749735"/>
            <a:ext cx="24482632" cy="16377788"/>
            <a:chOff x="0" y="0"/>
            <a:chExt cx="32643509" cy="2183705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767754" y="15172685"/>
              <a:ext cx="6664366" cy="66643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4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9819005" y="2540592"/>
              <a:ext cx="5359432" cy="535943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7929501" y="7393034"/>
              <a:ext cx="2488939" cy="24889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6" y="0"/>
                  </a:lnTo>
                  <a:lnTo>
                    <a:pt x="11777216" y="12094702"/>
                  </a:lnTo>
                  <a:lnTo>
                    <a:pt x="0" y="12094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826320" y="16442029"/>
              <a:ext cx="2273618" cy="2273618"/>
            </a:xfrm>
            <a:custGeom>
              <a:avLst/>
              <a:gdLst/>
              <a:ahLst/>
              <a:cxnLst/>
              <a:rect r="r" b="b" t="t" l="l"/>
              <a:pathLst>
                <a:path h="2273618" w="2273618">
                  <a:moveTo>
                    <a:pt x="0" y="0"/>
                  </a:moveTo>
                  <a:lnTo>
                    <a:pt x="2273617" y="0"/>
                  </a:lnTo>
                  <a:lnTo>
                    <a:pt x="2273617" y="2273618"/>
                  </a:lnTo>
                  <a:lnTo>
                    <a:pt x="0" y="227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2933066" y="15093005"/>
              <a:ext cx="9710442" cy="5486400"/>
            </a:xfrm>
            <a:custGeom>
              <a:avLst/>
              <a:gdLst/>
              <a:ahLst/>
              <a:cxnLst/>
              <a:rect r="r" b="b" t="t" l="l"/>
              <a:pathLst>
                <a:path h="5486400" w="9710442">
                  <a:moveTo>
                    <a:pt x="0" y="0"/>
                  </a:moveTo>
                  <a:lnTo>
                    <a:pt x="9710443" y="0"/>
                  </a:lnTo>
                  <a:lnTo>
                    <a:pt x="9710443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7" id="17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4800" spc="-144">
                  <a:solidFill>
                    <a:srgbClr val="FFFFFF"/>
                  </a:solidFill>
                  <a:latin typeface="Sifonn"/>
                  <a:ea typeface="Sifonn"/>
                  <a:cs typeface="Sifonn"/>
                  <a:sym typeface="Sifonn"/>
                </a:rPr>
                <a:t>FRONT-END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63188" y="1285626"/>
            <a:ext cx="14561623" cy="8287271"/>
            <a:chOff x="0" y="0"/>
            <a:chExt cx="14058614" cy="800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058601" cy="8001000"/>
            </a:xfrm>
            <a:custGeom>
              <a:avLst/>
              <a:gdLst/>
              <a:ahLst/>
              <a:cxnLst/>
              <a:rect r="r" b="b" t="t" l="l"/>
              <a:pathLst>
                <a:path h="8001000" w="14058601">
                  <a:moveTo>
                    <a:pt x="80515" y="0"/>
                  </a:moveTo>
                  <a:lnTo>
                    <a:pt x="13978086" y="0"/>
                  </a:lnTo>
                  <a:cubicBezTo>
                    <a:pt x="13999440" y="0"/>
                    <a:pt x="14019919" y="8483"/>
                    <a:pt x="14035019" y="23582"/>
                  </a:cubicBezTo>
                  <a:cubicBezTo>
                    <a:pt x="14050118" y="38682"/>
                    <a:pt x="14058601" y="59161"/>
                    <a:pt x="14058601" y="80515"/>
                  </a:cubicBezTo>
                  <a:lnTo>
                    <a:pt x="14058601" y="7920485"/>
                  </a:lnTo>
                  <a:cubicBezTo>
                    <a:pt x="14058601" y="7941838"/>
                    <a:pt x="14050118" y="7962318"/>
                    <a:pt x="14035019" y="7977418"/>
                  </a:cubicBezTo>
                  <a:cubicBezTo>
                    <a:pt x="14019919" y="7992518"/>
                    <a:pt x="13999440" y="8001000"/>
                    <a:pt x="13978086" y="8001000"/>
                  </a:cubicBezTo>
                  <a:lnTo>
                    <a:pt x="80515" y="8001000"/>
                  </a:lnTo>
                  <a:cubicBezTo>
                    <a:pt x="59161" y="8001000"/>
                    <a:pt x="38682" y="7992518"/>
                    <a:pt x="23582" y="7977418"/>
                  </a:cubicBezTo>
                  <a:cubicBezTo>
                    <a:pt x="8483" y="7962318"/>
                    <a:pt x="0" y="7941838"/>
                    <a:pt x="0" y="7920485"/>
                  </a:cubicBezTo>
                  <a:lnTo>
                    <a:pt x="0" y="80515"/>
                  </a:lnTo>
                  <a:cubicBezTo>
                    <a:pt x="0" y="59161"/>
                    <a:pt x="8483" y="38682"/>
                    <a:pt x="23582" y="23582"/>
                  </a:cubicBezTo>
                  <a:cubicBezTo>
                    <a:pt x="38682" y="8483"/>
                    <a:pt x="59161" y="0"/>
                    <a:pt x="80515" y="0"/>
                  </a:cubicBezTo>
                  <a:close/>
                </a:path>
              </a:pathLst>
            </a:custGeom>
            <a:blipFill>
              <a:blip r:embed="rId8"/>
              <a:stretch>
                <a:fillRect l="-588" t="0" r="-588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52954" y="-200188"/>
            <a:ext cx="21305750" cy="10687376"/>
            <a:chOff x="0" y="0"/>
            <a:chExt cx="28407666" cy="14249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157832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490372" y="-4086321"/>
            <a:ext cx="27194828" cy="18908834"/>
            <a:chOff x="0" y="0"/>
            <a:chExt cx="36259771" cy="25211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482554" y="13117076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7" y="0"/>
                  </a:lnTo>
                  <a:lnTo>
                    <a:pt x="11777217" y="12094703"/>
                  </a:lnTo>
                  <a:lnTo>
                    <a:pt x="0" y="12094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18207" cy="12052108"/>
            </a:xfrm>
            <a:custGeom>
              <a:avLst/>
              <a:gdLst/>
              <a:ahLst/>
              <a:cxnLst/>
              <a:rect r="r" b="b" t="t" l="l"/>
              <a:pathLst>
                <a:path h="12052108" w="12118207">
                  <a:moveTo>
                    <a:pt x="0" y="0"/>
                  </a:moveTo>
                  <a:lnTo>
                    <a:pt x="12118207" y="0"/>
                  </a:lnTo>
                  <a:lnTo>
                    <a:pt x="12118207" y="12052108"/>
                  </a:lnTo>
                  <a:lnTo>
                    <a:pt x="0" y="12052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8675718"/>
            <a:ext cx="1704975" cy="1704975"/>
          </a:xfrm>
          <a:custGeom>
            <a:avLst/>
            <a:gdLst/>
            <a:ahLst/>
            <a:cxnLst/>
            <a:rect r="r" b="b" t="t" l="l"/>
            <a:pathLst>
              <a:path h="1704975" w="1704975">
                <a:moveTo>
                  <a:pt x="0" y="0"/>
                </a:moveTo>
                <a:lnTo>
                  <a:pt x="1704975" y="0"/>
                </a:lnTo>
                <a:lnTo>
                  <a:pt x="1704975" y="1704975"/>
                </a:ln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79085" y="370522"/>
            <a:ext cx="9155456" cy="915103"/>
            <a:chOff x="0" y="0"/>
            <a:chExt cx="12207274" cy="1220138"/>
          </a:xfrm>
        </p:grpSpPr>
        <p:sp>
          <p:nvSpPr>
            <p:cNvPr name="Freeform 10" id="10"/>
            <p:cNvSpPr/>
            <p:nvPr/>
          </p:nvSpPr>
          <p:spPr>
            <a:xfrm flipH="false" flipV="false" rot="-2116349">
              <a:off x="184950" y="157389"/>
              <a:ext cx="832931" cy="905359"/>
            </a:xfrm>
            <a:custGeom>
              <a:avLst/>
              <a:gdLst/>
              <a:ahLst/>
              <a:cxnLst/>
              <a:rect r="r" b="b" t="t" l="l"/>
              <a:pathLst>
                <a:path h="905359" w="832931">
                  <a:moveTo>
                    <a:pt x="0" y="0"/>
                  </a:moveTo>
                  <a:lnTo>
                    <a:pt x="832931" y="0"/>
                  </a:lnTo>
                  <a:lnTo>
                    <a:pt x="832931" y="905359"/>
                  </a:lnTo>
                  <a:lnTo>
                    <a:pt x="0" y="90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732824" y="559103"/>
              <a:ext cx="11474450" cy="661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4800" spc="-144">
                  <a:solidFill>
                    <a:srgbClr val="280556"/>
                  </a:solidFill>
                  <a:latin typeface="Sifonn"/>
                  <a:ea typeface="Sifonn"/>
                  <a:cs typeface="Sifonn"/>
                  <a:sym typeface="Sifonn"/>
                </a:rPr>
                <a:t>CONSOLIDAÇÃO FINAL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5640657"/>
            <a:ext cx="16916400" cy="971550"/>
            <a:chOff x="0" y="0"/>
            <a:chExt cx="22555200" cy="1295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5552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735" r="0" b="-73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5800" y="4111895"/>
            <a:ext cx="2700338" cy="1328738"/>
            <a:chOff x="0" y="0"/>
            <a:chExt cx="3600450" cy="17716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6004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37" r="0" b="-53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529012" y="4111895"/>
            <a:ext cx="2700338" cy="1328738"/>
            <a:chOff x="0" y="0"/>
            <a:chExt cx="3600450" cy="17716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6004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37" r="0" b="-53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72225" y="4111895"/>
            <a:ext cx="2700338" cy="1328738"/>
            <a:chOff x="0" y="0"/>
            <a:chExt cx="3600450" cy="17716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6004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537" r="0" b="-53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15438" y="4111895"/>
            <a:ext cx="2700338" cy="1328738"/>
            <a:chOff x="0" y="0"/>
            <a:chExt cx="3600450" cy="17716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6004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537" r="0" b="-53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58650" y="4111895"/>
            <a:ext cx="2700338" cy="1328738"/>
            <a:chOff x="0" y="0"/>
            <a:chExt cx="3600450" cy="17716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6004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537" r="0" b="-53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901862" y="4111895"/>
            <a:ext cx="2700338" cy="1328738"/>
            <a:chOff x="0" y="0"/>
            <a:chExt cx="3600450" cy="17716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6004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537" r="0" b="-53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807369" y="4297632"/>
            <a:ext cx="457200" cy="457200"/>
            <a:chOff x="0" y="0"/>
            <a:chExt cx="609600" cy="6096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721644" y="4869132"/>
            <a:ext cx="62865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1. CSVs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4488" y="5073920"/>
            <a:ext cx="84296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Dados CTTU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650581" y="4297632"/>
            <a:ext cx="457200" cy="457200"/>
            <a:chOff x="0" y="0"/>
            <a:chExt cx="609600" cy="6096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4457700" y="4869132"/>
            <a:ext cx="84296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2. Pandas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521994" y="5073920"/>
            <a:ext cx="7143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ETL &amp; Melt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493794" y="4297632"/>
            <a:ext cx="457200" cy="457200"/>
            <a:chOff x="0" y="0"/>
            <a:chExt cx="609600" cy="6096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315200" y="4869132"/>
            <a:ext cx="814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3. Docker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00925" y="5073920"/>
            <a:ext cx="64293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Ambiente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337006" y="4297632"/>
            <a:ext cx="457200" cy="457200"/>
            <a:chOff x="0" y="0"/>
            <a:chExt cx="609600" cy="6096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186988" y="4869132"/>
            <a:ext cx="7572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4. Elastic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58412" y="5073920"/>
            <a:ext cx="81438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23,7M Docs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180219" y="4297632"/>
            <a:ext cx="457200" cy="457200"/>
            <a:chOff x="0" y="0"/>
            <a:chExt cx="609600" cy="6096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3087350" y="4869132"/>
            <a:ext cx="6429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5. Flask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080206" y="5073920"/>
            <a:ext cx="65722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API CRUD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6023431" y="4297632"/>
            <a:ext cx="457200" cy="457200"/>
            <a:chOff x="0" y="0"/>
            <a:chExt cx="609600" cy="6096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5773400" y="4869132"/>
            <a:ext cx="95726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6. Frontend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816262" y="5073920"/>
            <a:ext cx="87153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Usuário Final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033587" y="5912120"/>
            <a:ext cx="424799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7C3AED"/>
                </a:solidFill>
                <a:latin typeface="Inter Bold"/>
                <a:ea typeface="Inter Bold"/>
                <a:cs typeface="Inter Bold"/>
                <a:sym typeface="Inter Bold"/>
              </a:rPr>
              <a:t> Python / Pandas: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Exploração, transformação, agregação e preparação do formato longo.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38860" y="5912120"/>
            <a:ext cx="446730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284C7"/>
                </a:solidFill>
                <a:latin typeface="Inter Bold"/>
                <a:ea typeface="Inter Bold"/>
                <a:cs typeface="Inter Bold"/>
                <a:sym typeface="Inter Bold"/>
              </a:rPr>
              <a:t> Docker / ES: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Containers, volumes, mappings otimizados e ingestão via Bulk API.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977736" y="5912120"/>
            <a:ext cx="435277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6A34A"/>
                </a:solidFill>
                <a:latin typeface="Inter Bold"/>
                <a:ea typeface="Inter Bold"/>
                <a:cs typeface="Inter Bold"/>
                <a:sym typeface="Inter Bold"/>
              </a:rPr>
              <a:t> Kibana / Flask: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Análise estatística descritiva, dashboards e rotas RESTful para UI.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935956" y="4426220"/>
            <a:ext cx="200025" cy="200025"/>
            <a:chOff x="0" y="0"/>
            <a:chExt cx="266700" cy="26670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793456" y="4426220"/>
            <a:ext cx="171450" cy="200025"/>
            <a:chOff x="0" y="0"/>
            <a:chExt cx="228600" cy="266700"/>
          </a:xfrm>
        </p:grpSpPr>
        <p:sp>
          <p:nvSpPr>
            <p:cNvPr name="Freeform 56" id="56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555" t="0" r="-555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593806" y="4426220"/>
            <a:ext cx="257175" cy="200025"/>
            <a:chOff x="0" y="0"/>
            <a:chExt cx="342900" cy="266700"/>
          </a:xfrm>
        </p:grpSpPr>
        <p:sp>
          <p:nvSpPr>
            <p:cNvPr name="Freeform 58" id="58" descr="image.png"/>
            <p:cNvSpPr/>
            <p:nvPr/>
          </p:nvSpPr>
          <p:spPr>
            <a:xfrm flipH="false" flipV="false" rot="0">
              <a:off x="0" y="0"/>
              <a:ext cx="342900" cy="266700"/>
            </a:xfrm>
            <a:custGeom>
              <a:avLst/>
              <a:gdLst/>
              <a:ahLst/>
              <a:cxnLst/>
              <a:rect r="r" b="b" t="t" l="l"/>
              <a:pathLst>
                <a:path h="2667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752" r="0" b="-752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465594" y="4426220"/>
            <a:ext cx="200025" cy="200025"/>
            <a:chOff x="0" y="0"/>
            <a:chExt cx="266700" cy="266700"/>
          </a:xfrm>
        </p:grpSpPr>
        <p:sp>
          <p:nvSpPr>
            <p:cNvPr name="Freeform 60" id="60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308806" y="4426220"/>
            <a:ext cx="200025" cy="200025"/>
            <a:chOff x="0" y="0"/>
            <a:chExt cx="266700" cy="266700"/>
          </a:xfrm>
        </p:grpSpPr>
        <p:sp>
          <p:nvSpPr>
            <p:cNvPr name="Freeform 62" id="62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6137731" y="4426220"/>
            <a:ext cx="228600" cy="200025"/>
            <a:chOff x="0" y="0"/>
            <a:chExt cx="304800" cy="266700"/>
          </a:xfrm>
        </p:grpSpPr>
        <p:sp>
          <p:nvSpPr>
            <p:cNvPr name="Freeform 64" id="64" descr="image.png"/>
            <p:cNvSpPr/>
            <p:nvPr/>
          </p:nvSpPr>
          <p:spPr>
            <a:xfrm flipH="false" flipV="false" rot="0">
              <a:off x="0" y="0"/>
              <a:ext cx="304800" cy="266700"/>
            </a:xfrm>
            <a:custGeom>
              <a:avLst/>
              <a:gdLst/>
              <a:ahLst/>
              <a:cxnLst/>
              <a:rect r="r" b="b" t="t" l="l"/>
              <a:pathLst>
                <a:path h="2667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419" r="0" b="-419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7262" y="5940695"/>
            <a:ext cx="157162" cy="171450"/>
            <a:chOff x="0" y="0"/>
            <a:chExt cx="209550" cy="228600"/>
          </a:xfrm>
        </p:grpSpPr>
        <p:sp>
          <p:nvSpPr>
            <p:cNvPr name="Freeform 66" id="66" descr="image.png"/>
            <p:cNvSpPr/>
            <p:nvPr/>
          </p:nvSpPr>
          <p:spPr>
            <a:xfrm flipH="false" flipV="false" rot="0">
              <a:off x="0" y="0"/>
              <a:ext cx="209550" cy="228600"/>
            </a:xfrm>
            <a:custGeom>
              <a:avLst/>
              <a:gdLst/>
              <a:ahLst/>
              <a:cxnLst/>
              <a:rect r="r" b="b" t="t" l="l"/>
              <a:pathLst>
                <a:path h="2286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4166" r="0" b="-4166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481610" y="5940695"/>
            <a:ext cx="214312" cy="171450"/>
            <a:chOff x="0" y="0"/>
            <a:chExt cx="285750" cy="228600"/>
          </a:xfrm>
        </p:grpSpPr>
        <p:sp>
          <p:nvSpPr>
            <p:cNvPr name="Freeform 68" id="68" descr="image.png"/>
            <p:cNvSpPr/>
            <p:nvPr/>
          </p:nvSpPr>
          <p:spPr>
            <a:xfrm flipH="false" flipV="false" rot="0">
              <a:off x="0" y="0"/>
              <a:ext cx="285750" cy="228600"/>
            </a:xfrm>
            <a:custGeom>
              <a:avLst/>
              <a:gdLst/>
              <a:ahLst/>
              <a:cxnLst/>
              <a:rect r="r" b="b" t="t" l="l"/>
              <a:pathLst>
                <a:path h="2286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783" r="0" b="-777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006186" y="5940695"/>
            <a:ext cx="171450" cy="171450"/>
            <a:chOff x="0" y="0"/>
            <a:chExt cx="228600" cy="228600"/>
          </a:xfrm>
        </p:grpSpPr>
        <p:sp>
          <p:nvSpPr>
            <p:cNvPr name="Freeform 70" id="70" descr="image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119740" y="-3749735"/>
            <a:ext cx="24482632" cy="16377788"/>
            <a:chOff x="0" y="0"/>
            <a:chExt cx="32643509" cy="2183705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767754" y="15172685"/>
              <a:ext cx="6664366" cy="66643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4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9819005" y="2540592"/>
              <a:ext cx="5359432" cy="535943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7929501" y="7393034"/>
              <a:ext cx="2488939" cy="24889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" cap="sq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6" y="0"/>
                  </a:lnTo>
                  <a:lnTo>
                    <a:pt x="11777216" y="12094702"/>
                  </a:lnTo>
                  <a:lnTo>
                    <a:pt x="0" y="12094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826320" y="16442029"/>
              <a:ext cx="2273618" cy="2273618"/>
            </a:xfrm>
            <a:custGeom>
              <a:avLst/>
              <a:gdLst/>
              <a:ahLst/>
              <a:cxnLst/>
              <a:rect r="r" b="b" t="t" l="l"/>
              <a:pathLst>
                <a:path h="2273618" w="2273618">
                  <a:moveTo>
                    <a:pt x="0" y="0"/>
                  </a:moveTo>
                  <a:lnTo>
                    <a:pt x="2273617" y="0"/>
                  </a:lnTo>
                  <a:lnTo>
                    <a:pt x="2273617" y="2273618"/>
                  </a:lnTo>
                  <a:lnTo>
                    <a:pt x="0" y="227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2933066" y="15093005"/>
              <a:ext cx="9710442" cy="5486400"/>
            </a:xfrm>
            <a:custGeom>
              <a:avLst/>
              <a:gdLst/>
              <a:ahLst/>
              <a:cxnLst/>
              <a:rect r="r" b="b" t="t" l="l"/>
              <a:pathLst>
                <a:path h="5486400" w="9710442">
                  <a:moveTo>
                    <a:pt x="0" y="0"/>
                  </a:moveTo>
                  <a:lnTo>
                    <a:pt x="9710443" y="0"/>
                  </a:lnTo>
                  <a:lnTo>
                    <a:pt x="9710443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-1891099">
            <a:off x="6749561" y="588829"/>
            <a:ext cx="4541149" cy="8109195"/>
          </a:xfrm>
          <a:custGeom>
            <a:avLst/>
            <a:gdLst/>
            <a:ahLst/>
            <a:cxnLst/>
            <a:rect r="r" b="b" t="t" l="l"/>
            <a:pathLst>
              <a:path h="8109195" w="4541149">
                <a:moveTo>
                  <a:pt x="0" y="0"/>
                </a:moveTo>
                <a:lnTo>
                  <a:pt x="4541149" y="0"/>
                </a:lnTo>
                <a:lnTo>
                  <a:pt x="4541149" y="8109195"/>
                </a:lnTo>
                <a:lnTo>
                  <a:pt x="0" y="81091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7" id="17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991" r="0" b="18572"/>
          <a:stretch>
            <a:fillRect/>
          </a:stretch>
        </p:blipFill>
        <p:spPr>
          <a:xfrm flipH="false" flipV="false" rot="0">
            <a:off x="6556620" y="2661863"/>
            <a:ext cx="4927030" cy="3963127"/>
          </a:xfrm>
          <a:prstGeom prst="rect">
            <a:avLst/>
          </a:prstGeom>
          <a:ln cap="rnd">
            <a:noFill/>
            <a:prstDash val="solid"/>
          </a:ln>
        </p:spPr>
      </p:pic>
      <p:sp>
        <p:nvSpPr>
          <p:cNvPr name="TextBox 18" id="18"/>
          <p:cNvSpPr txBox="true"/>
          <p:nvPr/>
        </p:nvSpPr>
        <p:spPr>
          <a:xfrm rot="0">
            <a:off x="6679927" y="1200150"/>
            <a:ext cx="4928146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00"/>
              </a:lnSpc>
              <a:spcBef>
                <a:spcPct val="0"/>
              </a:spcBef>
            </a:pPr>
            <a:r>
              <a:rPr lang="en-US" sz="8000" spc="-240">
                <a:solidFill>
                  <a:srgbClr val="FFFFFF"/>
                </a:solidFill>
                <a:latin typeface="Sifonn"/>
                <a:ea typeface="Sifonn"/>
                <a:cs typeface="Sifonn"/>
                <a:sym typeface="Sifonn"/>
              </a:rPr>
              <a:t>DÚVIDAS?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52954" y="-200188"/>
            <a:ext cx="21305750" cy="10687376"/>
            <a:chOff x="0" y="0"/>
            <a:chExt cx="28407666" cy="14249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157832" y="0"/>
              <a:ext cx="14249834" cy="14249834"/>
            </a:xfrm>
            <a:custGeom>
              <a:avLst/>
              <a:gdLst/>
              <a:ahLst/>
              <a:cxnLst/>
              <a:rect r="r" b="b" t="t" l="l"/>
              <a:pathLst>
                <a:path h="14249834" w="14249834">
                  <a:moveTo>
                    <a:pt x="0" y="0"/>
                  </a:moveTo>
                  <a:lnTo>
                    <a:pt x="14249834" y="0"/>
                  </a:lnTo>
                  <a:lnTo>
                    <a:pt x="14249834" y="14249834"/>
                  </a:lnTo>
                  <a:lnTo>
                    <a:pt x="0" y="14249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490372" y="-4086321"/>
            <a:ext cx="27194828" cy="18908834"/>
            <a:chOff x="0" y="0"/>
            <a:chExt cx="36259771" cy="25211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482554" y="13117076"/>
              <a:ext cx="11777216" cy="12094702"/>
            </a:xfrm>
            <a:custGeom>
              <a:avLst/>
              <a:gdLst/>
              <a:ahLst/>
              <a:cxnLst/>
              <a:rect r="r" b="b" t="t" l="l"/>
              <a:pathLst>
                <a:path h="12094702" w="11777216">
                  <a:moveTo>
                    <a:pt x="0" y="0"/>
                  </a:moveTo>
                  <a:lnTo>
                    <a:pt x="11777217" y="0"/>
                  </a:lnTo>
                  <a:lnTo>
                    <a:pt x="11777217" y="12094703"/>
                  </a:lnTo>
                  <a:lnTo>
                    <a:pt x="0" y="12094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0000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18207" cy="12052108"/>
            </a:xfrm>
            <a:custGeom>
              <a:avLst/>
              <a:gdLst/>
              <a:ahLst/>
              <a:cxnLst/>
              <a:rect r="r" b="b" t="t" l="l"/>
              <a:pathLst>
                <a:path h="12052108" w="12118207">
                  <a:moveTo>
                    <a:pt x="0" y="0"/>
                  </a:moveTo>
                  <a:lnTo>
                    <a:pt x="12118207" y="0"/>
                  </a:lnTo>
                  <a:lnTo>
                    <a:pt x="12118207" y="12052108"/>
                  </a:lnTo>
                  <a:lnTo>
                    <a:pt x="0" y="12052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8675718"/>
            <a:ext cx="1704975" cy="1704975"/>
          </a:xfrm>
          <a:custGeom>
            <a:avLst/>
            <a:gdLst/>
            <a:ahLst/>
            <a:cxnLst/>
            <a:rect r="r" b="b" t="t" l="l"/>
            <a:pathLst>
              <a:path h="1704975" w="1704975">
                <a:moveTo>
                  <a:pt x="0" y="0"/>
                </a:moveTo>
                <a:lnTo>
                  <a:pt x="1704975" y="0"/>
                </a:lnTo>
                <a:lnTo>
                  <a:pt x="1704975" y="1704975"/>
                </a:lnTo>
                <a:lnTo>
                  <a:pt x="0" y="1704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73512">
            <a:off x="6296924" y="350028"/>
            <a:ext cx="5620236" cy="10036136"/>
          </a:xfrm>
          <a:custGeom>
            <a:avLst/>
            <a:gdLst/>
            <a:ahLst/>
            <a:cxnLst/>
            <a:rect r="r" b="b" t="t" l="l"/>
            <a:pathLst>
              <a:path h="10036136" w="5620236">
                <a:moveTo>
                  <a:pt x="0" y="0"/>
                </a:moveTo>
                <a:lnTo>
                  <a:pt x="5620236" y="0"/>
                </a:lnTo>
                <a:lnTo>
                  <a:pt x="5620236" y="10036136"/>
                </a:lnTo>
                <a:lnTo>
                  <a:pt x="0" y="10036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6153468" y="2992929"/>
            <a:ext cx="5907148" cy="4301142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455290" y="1200150"/>
            <a:ext cx="13377419" cy="200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spc="-240">
                <a:solidFill>
                  <a:srgbClr val="280556"/>
                </a:solidFill>
                <a:latin typeface="Sifonn"/>
                <a:ea typeface="Sifonn"/>
                <a:cs typeface="Sifonn"/>
                <a:sym typeface="Sifonn"/>
              </a:rPr>
              <a:t>PELA ATENÇÃO, OBRIGADA!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44716" y="8378915"/>
            <a:ext cx="8710408" cy="29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0"/>
              </a:lnSpc>
              <a:spcBef>
                <a:spcPct val="0"/>
              </a:spcBef>
            </a:pPr>
            <a:r>
              <a:rPr lang="en-US" sz="1814" u="sng">
                <a:solidFill>
                  <a:srgbClr val="280556"/>
                </a:solidFill>
                <a:latin typeface="Canva Sans"/>
                <a:ea typeface="Canva Sans"/>
                <a:cs typeface="Canva Sans"/>
                <a:sym typeface="Canva Sans"/>
                <a:hlinkClick r:id="rId13" tooltip="https://github.com/sararalopes/quantitativo-velocidade-media-cttu.git"/>
              </a:rPr>
              <a:t>https://github.com/sararalopes/quantitativo-velocidade-media-cttu.git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DAHTgamPErI</dc:identifier>
  <dcterms:modified xsi:type="dcterms:W3CDTF">2011-08-01T06:04:30Z</dcterms:modified>
  <cp:revision>1</cp:revision>
  <dc:title>Apresentação CTTU Xerlock - Primeira Fase</dc:title>
</cp:coreProperties>
</file>